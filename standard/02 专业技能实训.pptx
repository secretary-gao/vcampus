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311" r:id="rId5"/>
    <p:sldId id="258" r:id="rId6"/>
    <p:sldId id="259" r:id="rId7"/>
    <p:sldId id="427" r:id="rId8"/>
    <p:sldId id="431" r:id="rId9"/>
    <p:sldId id="429" r:id="rId10"/>
    <p:sldId id="260" r:id="rId11"/>
    <p:sldId id="265" r:id="rId12"/>
    <p:sldId id="266" r:id="rId13"/>
    <p:sldId id="267" r:id="rId14"/>
    <p:sldId id="343" r:id="rId15"/>
    <p:sldId id="344" r:id="rId16"/>
    <p:sldId id="345" r:id="rId17"/>
    <p:sldId id="335" r:id="rId18"/>
    <p:sldId id="336" r:id="rId19"/>
    <p:sldId id="426" r:id="rId20"/>
    <p:sldId id="346" r:id="rId21"/>
    <p:sldId id="347" r:id="rId22"/>
    <p:sldId id="349" r:id="rId23"/>
    <p:sldId id="348" r:id="rId24"/>
    <p:sldId id="279" r:id="rId25"/>
    <p:sldId id="433" r:id="rId26"/>
    <p:sldId id="434" r:id="rId27"/>
    <p:sldId id="280" r:id="rId28"/>
    <p:sldId id="353" r:id="rId29"/>
    <p:sldId id="354" r:id="rId30"/>
    <p:sldId id="355" r:id="rId31"/>
    <p:sldId id="365" r:id="rId32"/>
    <p:sldId id="366" r:id="rId33"/>
    <p:sldId id="309" r:id="rId34"/>
    <p:sldId id="323" r:id="rId35"/>
    <p:sldId id="325" r:id="rId36"/>
    <p:sldId id="326" r:id="rId37"/>
    <p:sldId id="327" r:id="rId38"/>
    <p:sldId id="328" r:id="rId39"/>
    <p:sldId id="329" r:id="rId40"/>
    <p:sldId id="330" r:id="rId41"/>
    <p:sldId id="310" r:id="rId42"/>
    <p:sldId id="331" r:id="rId43"/>
    <p:sldId id="281" r:id="rId44"/>
    <p:sldId id="277" r:id="rId45"/>
    <p:sldId id="278" r:id="rId46"/>
    <p:sldId id="290" r:id="rId47"/>
    <p:sldId id="292" r:id="rId48"/>
    <p:sldId id="293" r:id="rId49"/>
    <p:sldId id="301" r:id="rId50"/>
    <p:sldId id="432" r:id="rId51"/>
  </p:sldIdLst>
  <p:sldSz cx="9144000" cy="6858000" type="screen4x3"/>
  <p:notesSz cx="6858000" cy="9144000"/>
  <p:custDataLst>
    <p:tags r:id="rId55"/>
  </p:custDataLst>
  <p:defaultTextStyle>
    <a:defPPr>
      <a:defRPr lang="zh-CN"/>
    </a:defPPr>
    <a:lvl1pPr marL="0" lvl="0"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2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75789"/>
  </p:normalViewPr>
  <p:slideViewPr>
    <p:cSldViewPr showGuides="1">
      <p:cViewPr varScale="1">
        <p:scale>
          <a:sx n="86" d="100"/>
          <a:sy n="86" d="100"/>
        </p:scale>
        <p:origin x="-2334" y="-78"/>
      </p:cViewPr>
      <p:guideLst>
        <p:guide orient="horz" pos="212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1.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a:defRPr sz="1200" b="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2228" name="Rectangle 4"/>
          <p:cNvSpPr>
            <a:spLocks noGrp="1" noRot="1"/>
          </p:cNvSpPr>
          <p:nvPr>
            <p:ph type="sldImg"/>
          </p:nvPr>
        </p:nvSpPr>
        <p:spPr>
          <a:xfrm>
            <a:off x="1143000" y="685800"/>
            <a:ext cx="4572000" cy="3429000"/>
          </a:xfrm>
          <a:prstGeom prst="rect">
            <a:avLst/>
          </a:prstGeom>
          <a:noFill/>
          <a:ln w="9525">
            <a:noFill/>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
            <a:pPr lvl="0" algn="r" eaLnBrk="1" hangingPunct="1"/>
            <a:fld id="{9A0DB2DC-4C9A-4742-B13C-FB6460FD3503}" type="slidenum">
              <a:rPr lang="zh-CN" altLang="zh-CN" sz="1200" b="0" dirty="0"/>
            </a:fld>
            <a:endParaRPr lang="zh-CN" altLang="zh-CN" sz="1200" b="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baike.so.com/doc/1301104.html" TargetMode="External"/><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幻灯片图像占位符 1"/>
          <p:cNvSpPr>
            <a:spLocks noGrp="1" noRot="1" noChangeAspect="1" noTextEdit="1"/>
          </p:cNvSpPr>
          <p:nvPr>
            <p:ph type="sldImg"/>
          </p:nvPr>
        </p:nvSpPr>
        <p:spPr/>
      </p:sp>
      <p:sp>
        <p:nvSpPr>
          <p:cNvPr id="53251" name="备注占位符 2"/>
          <p:cNvSpPr>
            <a:spLocks noGrp="1"/>
          </p:cNvSpPr>
          <p:nvPr>
            <p:ph type="body"/>
          </p:nvPr>
        </p:nvSpPr>
        <p:spPr/>
        <p:txBody>
          <a:bodyPr wrap="square" lIns="91440" tIns="45720" rIns="91440" bIns="45720" anchor="ctr" anchorCtr="0"/>
          <a:p>
            <a:pPr lvl="0"/>
            <a:endParaRPr lang="zh-CN" altLang="en-US" dirty="0"/>
          </a:p>
        </p:txBody>
      </p:sp>
      <p:sp>
        <p:nvSpPr>
          <p:cNvPr id="5325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p:nvPr>
        </p:nvSpPr>
        <p:spPr/>
        <p:txBody>
          <a:bodyPr wrap="square" lIns="91440" tIns="45720" rIns="91440" bIns="45720" anchor="ctr" anchorCtr="0"/>
          <a:p>
            <a:pPr lvl="0"/>
            <a:endParaRPr lang="zh-CN" altLang="en-US" dirty="0"/>
          </a:p>
        </p:txBody>
      </p:sp>
      <p:sp>
        <p:nvSpPr>
          <p:cNvPr id="5427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幻灯片图像占位符 1"/>
          <p:cNvSpPr>
            <a:spLocks noGrp="1" noRot="1" noChangeAspect="1" noTextEdit="1"/>
          </p:cNvSpPr>
          <p:nvPr>
            <p:ph type="sldImg"/>
          </p:nvPr>
        </p:nvSpPr>
        <p:spPr/>
      </p:sp>
      <p:sp>
        <p:nvSpPr>
          <p:cNvPr id="55299" name="备注占位符 2"/>
          <p:cNvSpPr>
            <a:spLocks noGrp="1"/>
          </p:cNvSpPr>
          <p:nvPr>
            <p:ph type="body"/>
          </p:nvPr>
        </p:nvSpPr>
        <p:spPr/>
        <p:txBody>
          <a:bodyPr wrap="square" lIns="91440" tIns="45720" rIns="91440" bIns="45720" anchor="ctr" anchorCtr="0"/>
          <a:p>
            <a:pPr lvl="0"/>
            <a:endParaRPr lang="zh-CN" altLang="en-US" dirty="0"/>
          </a:p>
        </p:txBody>
      </p:sp>
      <p:sp>
        <p:nvSpPr>
          <p:cNvPr id="5530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幻灯片图像占位符 1"/>
          <p:cNvSpPr>
            <a:spLocks noGrp="1" noRot="1" noChangeAspect="1" noTextEdit="1"/>
          </p:cNvSpPr>
          <p:nvPr>
            <p:ph type="sldImg"/>
          </p:nvPr>
        </p:nvSpPr>
        <p:spPr/>
      </p:sp>
      <p:sp>
        <p:nvSpPr>
          <p:cNvPr id="56323" name="备注占位符 2"/>
          <p:cNvSpPr>
            <a:spLocks noGrp="1"/>
          </p:cNvSpPr>
          <p:nvPr>
            <p:ph type="body"/>
          </p:nvPr>
        </p:nvSpPr>
        <p:spPr/>
        <p:txBody>
          <a:bodyPr wrap="square" lIns="91440" tIns="45720" rIns="91440" bIns="45720" anchor="ctr" anchorCtr="0"/>
          <a:p>
            <a:pPr lvl="0"/>
            <a:r>
              <a:rPr lang="en-US" altLang="zh-CN" dirty="0"/>
              <a:t>JavaBean </a:t>
            </a:r>
            <a:r>
              <a:rPr lang="zh-CN" altLang="en-US" dirty="0"/>
              <a:t>是一种</a:t>
            </a:r>
            <a:r>
              <a:rPr lang="en-US" altLang="zh-CN" dirty="0"/>
              <a:t>JAVA</a:t>
            </a:r>
            <a:r>
              <a:rPr lang="zh-CN" altLang="en-US" dirty="0"/>
              <a:t>语言写成的可重用组件。为写成</a:t>
            </a:r>
            <a:r>
              <a:rPr lang="en-US" altLang="zh-CN" dirty="0"/>
              <a:t>JavaBean</a:t>
            </a:r>
            <a:r>
              <a:rPr lang="zh-CN" altLang="en-US" dirty="0"/>
              <a:t>，类必须是具体的和公共的，并且具有无参数的构造器。用户可以使用</a:t>
            </a:r>
            <a:r>
              <a:rPr lang="en-US" altLang="zh-CN" dirty="0"/>
              <a:t>JavaBean</a:t>
            </a:r>
            <a:r>
              <a:rPr lang="zh-CN" altLang="en-US" dirty="0"/>
              <a:t>将功能、处理、值、数据库访问和其他任何可以用</a:t>
            </a:r>
            <a:r>
              <a:rPr lang="en-US" altLang="zh-CN" dirty="0"/>
              <a:t>java</a:t>
            </a:r>
            <a:r>
              <a:rPr lang="zh-CN" altLang="en-US" dirty="0"/>
              <a:t>代码创造的对象进行打包，并且其他的开发者可以通过内部的</a:t>
            </a:r>
            <a:r>
              <a:rPr lang="en-US" altLang="zh-CN" dirty="0"/>
              <a:t>JSP</a:t>
            </a:r>
            <a:r>
              <a:rPr lang="zh-CN" altLang="en-US" dirty="0"/>
              <a:t>页面、</a:t>
            </a:r>
            <a:r>
              <a:rPr lang="en-US" altLang="zh-CN" dirty="0"/>
              <a:t>Servlet</a:t>
            </a:r>
            <a:r>
              <a:rPr lang="zh-CN" altLang="en-US" dirty="0"/>
              <a:t>、其他</a:t>
            </a:r>
            <a:r>
              <a:rPr lang="en-US" altLang="zh-CN" dirty="0"/>
              <a:t>JavaBean</a:t>
            </a:r>
            <a:r>
              <a:rPr lang="zh-CN" altLang="en-US" dirty="0"/>
              <a:t>、</a:t>
            </a:r>
            <a:r>
              <a:rPr lang="en-US" altLang="zh-CN" dirty="0"/>
              <a:t>applet</a:t>
            </a:r>
            <a:r>
              <a:rPr lang="zh-CN" altLang="en-US" dirty="0">
                <a:hlinkClick r:id="rId3"/>
              </a:rPr>
              <a:t>程序</a:t>
            </a:r>
            <a:r>
              <a:rPr lang="zh-CN" altLang="en-US" dirty="0"/>
              <a:t>或者应用来使用这些对象。用户可以认为</a:t>
            </a:r>
            <a:r>
              <a:rPr lang="en-US" altLang="zh-CN" dirty="0"/>
              <a:t>JavaBean</a:t>
            </a:r>
            <a:r>
              <a:rPr lang="zh-CN" altLang="en-US" dirty="0"/>
              <a:t>提供了一种随时随地的复制和粘贴的功能，而不用关心任何改变。</a:t>
            </a:r>
            <a:endParaRPr lang="zh-CN" altLang="en-US" dirty="0"/>
          </a:p>
          <a:p>
            <a:pPr lvl="0"/>
            <a:r>
              <a:rPr lang="en-US" altLang="zh-CN" dirty="0"/>
              <a:t>JavaBean</a:t>
            </a:r>
            <a:r>
              <a:rPr lang="zh-CN" altLang="en-US" dirty="0"/>
              <a:t>可分为两种：一种是有用户界面（</a:t>
            </a:r>
            <a:r>
              <a:rPr lang="en-US" altLang="zh-CN" dirty="0"/>
              <a:t>UI</a:t>
            </a:r>
            <a:r>
              <a:rPr lang="zh-CN" altLang="en-US" dirty="0"/>
              <a:t>，</a:t>
            </a:r>
            <a:r>
              <a:rPr lang="en-US" altLang="zh-CN" dirty="0"/>
              <a:t>User Interface</a:t>
            </a:r>
            <a:r>
              <a:rPr lang="zh-CN" altLang="en-US" dirty="0"/>
              <a:t>）的</a:t>
            </a:r>
            <a:r>
              <a:rPr lang="en-US" altLang="zh-CN" dirty="0"/>
              <a:t>JavaBean</a:t>
            </a:r>
            <a:r>
              <a:rPr lang="zh-CN" altLang="en-US" dirty="0"/>
              <a:t>；还有一种是没有用户界面，主要负责处理事务（如数据运算，操纵数据库）的</a:t>
            </a:r>
            <a:r>
              <a:rPr lang="en-US" altLang="zh-CN" dirty="0"/>
              <a:t>JavaBean</a:t>
            </a:r>
            <a:r>
              <a:rPr lang="zh-CN" altLang="en-US" dirty="0"/>
              <a:t>。</a:t>
            </a:r>
            <a:r>
              <a:rPr lang="en-US" altLang="zh-CN" dirty="0"/>
              <a:t>JSP</a:t>
            </a:r>
            <a:r>
              <a:rPr lang="zh-CN" altLang="en-US" dirty="0"/>
              <a:t>通常访问的是后一种</a:t>
            </a:r>
            <a:r>
              <a:rPr lang="en-US" altLang="zh-CN" dirty="0"/>
              <a:t>JavaBean</a:t>
            </a:r>
            <a:r>
              <a:rPr lang="zh-CN" altLang="en-US" dirty="0"/>
              <a:t>。</a:t>
            </a:r>
            <a:endParaRPr lang="en-US" altLang="zh-CN" dirty="0"/>
          </a:p>
          <a:p>
            <a:pPr lvl="0"/>
            <a:endParaRPr lang="en-US" altLang="zh-CN" dirty="0"/>
          </a:p>
          <a:p>
            <a:pPr lvl="0"/>
            <a:r>
              <a:rPr lang="en-US" altLang="zh-CN" dirty="0"/>
              <a:t>DAO</a:t>
            </a:r>
            <a:r>
              <a:rPr lang="zh-CN" altLang="en-US" dirty="0"/>
              <a:t>：</a:t>
            </a:r>
            <a:r>
              <a:rPr lang="en-US" altLang="zh-CN" dirty="0"/>
              <a:t>Data Access Object, </a:t>
            </a:r>
            <a:r>
              <a:rPr lang="zh-CN" altLang="en-US" dirty="0"/>
              <a:t>数据访问对象类，实现了数据库驱动、连接、关闭和数据库操作的方法。</a:t>
            </a:r>
            <a:endParaRPr lang="en-US" altLang="zh-CN" dirty="0"/>
          </a:p>
          <a:p>
            <a:pPr lvl="0"/>
            <a:endParaRPr lang="zh-CN" altLang="en-US" dirty="0"/>
          </a:p>
          <a:p>
            <a:pPr lvl="0"/>
            <a:endParaRPr lang="zh-CN" altLang="en-US" dirty="0"/>
          </a:p>
        </p:txBody>
      </p:sp>
      <p:sp>
        <p:nvSpPr>
          <p:cNvPr id="5632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幻灯片图像占位符 1"/>
          <p:cNvSpPr>
            <a:spLocks noGrp="1" noRot="1" noChangeAspect="1" noTextEdit="1"/>
          </p:cNvSpPr>
          <p:nvPr>
            <p:ph type="sldImg"/>
          </p:nvPr>
        </p:nvSpPr>
        <p:spPr/>
      </p:sp>
      <p:sp>
        <p:nvSpPr>
          <p:cNvPr id="57347" name="备注占位符 2"/>
          <p:cNvSpPr>
            <a:spLocks noGrp="1"/>
          </p:cNvSpPr>
          <p:nvPr>
            <p:ph type="body"/>
          </p:nvPr>
        </p:nvSpPr>
        <p:spPr/>
        <p:txBody>
          <a:bodyPr wrap="square" lIns="91440" tIns="45720" rIns="91440" bIns="45720" anchor="ctr" anchorCtr="0"/>
          <a:p>
            <a:pPr lvl="0"/>
            <a:endParaRPr lang="zh-CN" altLang="en-US" dirty="0"/>
          </a:p>
        </p:txBody>
      </p:sp>
      <p:sp>
        <p:nvSpPr>
          <p:cNvPr id="57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p:nvPr>
        </p:nvSpPr>
        <p:spPr/>
        <p:txBody>
          <a:bodyPr wrap="square" lIns="91440" tIns="45720" rIns="91440" bIns="45720" anchor="ctr" anchorCtr="0"/>
          <a:p>
            <a:pPr lvl="0"/>
            <a:endParaRPr lang="zh-CN" altLang="en-US" dirty="0"/>
          </a:p>
        </p:txBody>
      </p:sp>
      <p:sp>
        <p:nvSpPr>
          <p:cNvPr id="5837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幻灯片图像占位符 1"/>
          <p:cNvSpPr>
            <a:spLocks noGrp="1" noRot="1" noChangeAspect="1" noTextEdit="1"/>
          </p:cNvSpPr>
          <p:nvPr>
            <p:ph type="sldImg"/>
          </p:nvPr>
        </p:nvSpPr>
        <p:spPr/>
      </p:sp>
      <p:sp>
        <p:nvSpPr>
          <p:cNvPr id="59395" name="备注占位符 2"/>
          <p:cNvSpPr>
            <a:spLocks noGrp="1"/>
          </p:cNvSpPr>
          <p:nvPr>
            <p:ph type="body"/>
          </p:nvPr>
        </p:nvSpPr>
        <p:spPr/>
        <p:txBody>
          <a:bodyPr wrap="square" lIns="91440" tIns="45720" rIns="91440" bIns="45720" anchor="ctr" anchorCtr="0"/>
          <a:p>
            <a:pPr lvl="1">
              <a:spcBef>
                <a:spcPct val="0"/>
              </a:spcBef>
              <a:buFontTx/>
              <a:buAutoNum type="arabicPeriod"/>
            </a:pPr>
            <a:r>
              <a:rPr lang="zh-CN" altLang="en-US" sz="2000" b="1" dirty="0">
                <a:latin typeface="宋体" panose="02010600030101010101" pitchFamily="2" charset="-122"/>
              </a:rPr>
              <a:t>多线程：建立线程管理池用于维护当前连接的客户端；</a:t>
            </a:r>
            <a:endParaRPr lang="zh-CN" altLang="en-US" sz="2000" b="1" dirty="0"/>
          </a:p>
          <a:p>
            <a:pPr lvl="1">
              <a:spcBef>
                <a:spcPct val="0"/>
              </a:spcBef>
              <a:buFontTx/>
              <a:buAutoNum type="arabicPeriod"/>
            </a:pPr>
            <a:r>
              <a:rPr lang="en-US" altLang="zh-CN" sz="2000" b="1" dirty="0">
                <a:latin typeface="宋体" panose="02010600030101010101" pitchFamily="2" charset="-122"/>
              </a:rPr>
              <a:t>Socket</a:t>
            </a:r>
            <a:r>
              <a:rPr lang="zh-CN" altLang="en-US" sz="2000" b="1" dirty="0">
                <a:latin typeface="宋体" panose="02010600030101010101" pitchFamily="2" charset="-122"/>
              </a:rPr>
              <a:t>：注意异常处理；注意端口号的一致性；</a:t>
            </a:r>
            <a:endParaRPr lang="zh-CN" altLang="en-US" sz="2000" b="1" dirty="0"/>
          </a:p>
          <a:p>
            <a:pPr lvl="1">
              <a:spcBef>
                <a:spcPct val="0"/>
              </a:spcBef>
              <a:buFontTx/>
              <a:buAutoNum type="arabicPeriod"/>
            </a:pPr>
            <a:r>
              <a:rPr lang="zh-CN" altLang="en-US" sz="2000" b="1" dirty="0">
                <a:latin typeface="宋体" panose="02010600030101010101" pitchFamily="2" charset="-122"/>
              </a:rPr>
              <a:t>所有需要传输的对象必须实现</a:t>
            </a:r>
            <a:r>
              <a:rPr lang="zh-CN" altLang="en-US" sz="2000" b="1" dirty="0">
                <a:solidFill>
                  <a:srgbClr val="FF0000"/>
                </a:solidFill>
                <a:latin typeface="宋体" panose="02010600030101010101" pitchFamily="2" charset="-122"/>
              </a:rPr>
              <a:t>可序列化</a:t>
            </a:r>
            <a:r>
              <a:rPr lang="zh-CN" altLang="en-US" sz="2000" b="1" dirty="0">
                <a:latin typeface="宋体" panose="02010600030101010101" pitchFamily="2" charset="-122"/>
              </a:rPr>
              <a:t>接口；必须保持客户端与服务器端类的一致性；</a:t>
            </a:r>
            <a:endParaRPr lang="zh-CN" altLang="en-US" sz="2000" b="1" dirty="0"/>
          </a:p>
          <a:p>
            <a:pPr lvl="0">
              <a:buAutoNum type="arabicPeriod"/>
            </a:pPr>
            <a:endParaRPr lang="zh-CN" altLang="en-US" dirty="0"/>
          </a:p>
        </p:txBody>
      </p:sp>
      <p:sp>
        <p:nvSpPr>
          <p:cNvPr id="5939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p:nvPr>
        </p:nvSpPr>
        <p:spPr/>
        <p:txBody>
          <a:bodyPr wrap="square" lIns="91440" tIns="45720" rIns="91440" bIns="45720" anchor="ctr" anchorCtr="0"/>
          <a:p>
            <a:pPr lvl="0"/>
            <a:endParaRPr lang="zh-CN" altLang="en-US" dirty="0"/>
          </a:p>
        </p:txBody>
      </p:sp>
      <p:sp>
        <p:nvSpPr>
          <p:cNvPr id="60420"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幻灯片图像占位符 1"/>
          <p:cNvSpPr>
            <a:spLocks noGrp="1" noRot="1" noChangeAspect="1" noTextEdit="1"/>
          </p:cNvSpPr>
          <p:nvPr>
            <p:ph type="sldImg"/>
          </p:nvPr>
        </p:nvSpPr>
        <p:spPr/>
      </p:sp>
      <p:sp>
        <p:nvSpPr>
          <p:cNvPr id="61443" name="备注占位符 2"/>
          <p:cNvSpPr>
            <a:spLocks noGrp="1"/>
          </p:cNvSpPr>
          <p:nvPr>
            <p:ph type="body"/>
          </p:nvPr>
        </p:nvSpPr>
        <p:spPr/>
        <p:txBody>
          <a:bodyPr wrap="square" lIns="91440" tIns="45720" rIns="91440" bIns="45720" anchor="ctr" anchorCtr="0"/>
          <a:p>
            <a:pPr lvl="0"/>
            <a:endParaRPr lang="zh-CN" altLang="en-US" dirty="0"/>
          </a:p>
        </p:txBody>
      </p:sp>
      <p:sp>
        <p:nvSpPr>
          <p:cNvPr id="614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p:nvPr>
        </p:nvSpPr>
        <p:spPr/>
        <p:txBody>
          <a:bodyPr wrap="square" lIns="91440" tIns="45720" rIns="91440" bIns="45720" anchor="ctr" anchorCtr="0"/>
          <a:p>
            <a:pPr lvl="0"/>
            <a:r>
              <a:rPr lang="en-US" altLang="zh-CN" dirty="0"/>
              <a:t>Vo</a:t>
            </a:r>
            <a:r>
              <a:rPr lang="zh-CN" altLang="en-US" dirty="0"/>
              <a:t>：</a:t>
            </a:r>
            <a:r>
              <a:rPr lang="en-US" altLang="zh-CN" dirty="0"/>
              <a:t>Value</a:t>
            </a:r>
            <a:r>
              <a:rPr lang="zh-CN" altLang="en-US" dirty="0"/>
              <a:t> </a:t>
            </a:r>
            <a:r>
              <a:rPr lang="en-US" altLang="zh-CN" dirty="0"/>
              <a:t>Object</a:t>
            </a:r>
            <a:r>
              <a:rPr lang="zh-CN" altLang="en-US" dirty="0"/>
              <a:t>，值对象，通常用于业务层之间数据传递，仅包含数据，应是抽象出的业务对象，可以和表对应</a:t>
            </a:r>
            <a:endParaRPr lang="zh-CN" altLang="en-US" dirty="0"/>
          </a:p>
        </p:txBody>
      </p:sp>
      <p:sp>
        <p:nvSpPr>
          <p:cNvPr id="6246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幻灯片图像占位符 1"/>
          <p:cNvSpPr>
            <a:spLocks noGrp="1" noRot="1" noChangeAspect="1" noTextEdit="1"/>
          </p:cNvSpPr>
          <p:nvPr>
            <p:ph type="sldImg"/>
          </p:nvPr>
        </p:nvSpPr>
        <p:spPr/>
      </p:sp>
      <p:sp>
        <p:nvSpPr>
          <p:cNvPr id="63491" name="备注占位符 2"/>
          <p:cNvSpPr>
            <a:spLocks noGrp="1"/>
          </p:cNvSpPr>
          <p:nvPr>
            <p:ph type="body"/>
          </p:nvPr>
        </p:nvSpPr>
        <p:spPr/>
        <p:txBody>
          <a:bodyPr wrap="square" lIns="91440" tIns="45720" rIns="91440" bIns="45720" anchor="ctr" anchorCtr="0"/>
          <a:p>
            <a:pPr lvl="0"/>
            <a:endParaRPr lang="zh-CN" altLang="en-US" dirty="0"/>
          </a:p>
        </p:txBody>
      </p:sp>
      <p:sp>
        <p:nvSpPr>
          <p:cNvPr id="63492"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p:nvPr>
        </p:nvSpPr>
        <p:spPr/>
        <p:txBody>
          <a:bodyPr wrap="square" lIns="91440" tIns="45720" rIns="91440" bIns="45720" anchor="ctr" anchorCtr="0"/>
          <a:p>
            <a:pPr lvl="0"/>
            <a:endParaRPr lang="zh-CN" altLang="en-US" dirty="0"/>
          </a:p>
        </p:txBody>
      </p:sp>
      <p:sp>
        <p:nvSpPr>
          <p:cNvPr id="6451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zh-CN" dirty="0"/>
            </a:fld>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2056" name="Rectangle 3"/>
            <p:cNvSpPr/>
            <p:nvPr/>
          </p:nvSpPr>
          <p:spPr>
            <a:xfrm>
              <a:off x="0" y="0"/>
              <a:ext cx="2208" cy="4320"/>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endParaRPr lang="zh-CN" altLang="zh-CN" sz="2400" b="0" dirty="0">
                <a:latin typeface="Times New Roman" panose="02020603050405020304" pitchFamily="18" charset="0"/>
              </a:endParaRPr>
            </a:p>
          </p:txBody>
        </p:sp>
        <p:sp>
          <p:nvSpPr>
            <p:cNvPr id="2057" name="Rectangle 4"/>
            <p:cNvSpPr/>
            <p:nvPr/>
          </p:nvSpPr>
          <p:spPr>
            <a:xfrm>
              <a:off x="1081" y="1065"/>
              <a:ext cx="4679" cy="1596"/>
            </a:xfrm>
            <a:prstGeom prst="rect">
              <a:avLst/>
            </a:prstGeom>
            <a:solidFill>
              <a:schemeClr val="bg2"/>
            </a:solidFill>
            <a:ln w="9525">
              <a:noFill/>
            </a:ln>
          </p:spPr>
          <p:txBody>
            <a:bodyPr/>
            <a:p>
              <a:pPr lvl="0" eaLnBrk="1" hangingPunct="1"/>
              <a:endParaRPr lang="zh-CN" altLang="zh-CN" sz="2400" b="0" dirty="0">
                <a:latin typeface="Times New Roman" panose="02020603050405020304" pitchFamily="18" charset="0"/>
              </a:endParaRPr>
            </a:p>
          </p:txBody>
        </p:sp>
        <p:grpSp>
          <p:nvGrpSpPr>
            <p:cNvPr id="2058" name="Group 5"/>
            <p:cNvGrpSpPr/>
            <p:nvPr/>
          </p:nvGrpSpPr>
          <p:grpSpPr>
            <a:xfrm>
              <a:off x="0" y="672"/>
              <a:ext cx="1806" cy="1989"/>
              <a:chOff x="0" y="0"/>
              <a:chExt cx="1806" cy="1989"/>
            </a:xfrm>
          </p:grpSpPr>
          <p:sp>
            <p:nvSpPr>
              <p:cNvPr id="2059" name="Rectangle 6"/>
              <p:cNvSpPr/>
              <p:nvPr userDrawn="1"/>
            </p:nvSpPr>
            <p:spPr>
              <a:xfrm>
                <a:off x="361" y="1585"/>
                <a:ext cx="363" cy="404"/>
              </a:xfrm>
              <a:prstGeom prst="rect">
                <a:avLst/>
              </a:prstGeom>
              <a:solidFill>
                <a:schemeClr val="accent2"/>
              </a:solidFill>
              <a:ln w="9525">
                <a:noFill/>
              </a:ln>
            </p:spPr>
            <p:txBody>
              <a:bodyPr/>
              <a:p>
                <a:pPr lvl="0" eaLnBrk="1" hangingPunct="1"/>
                <a:endParaRPr lang="zh-CN" altLang="zh-CN" sz="2400" b="0" dirty="0">
                  <a:latin typeface="Times New Roman" panose="02020603050405020304" pitchFamily="18" charset="0"/>
                </a:endParaRPr>
              </a:p>
            </p:txBody>
          </p:sp>
          <p:sp>
            <p:nvSpPr>
              <p:cNvPr id="2060" name="Rectangle 7"/>
              <p:cNvSpPr/>
              <p:nvPr userDrawn="1"/>
            </p:nvSpPr>
            <p:spPr>
              <a:xfrm>
                <a:off x="1081" y="393"/>
                <a:ext cx="362" cy="405"/>
              </a:xfrm>
              <a:prstGeom prst="rect">
                <a:avLst/>
              </a:prstGeom>
              <a:solidFill>
                <a:schemeClr val="folHlink"/>
              </a:solidFill>
              <a:ln w="9525">
                <a:noFill/>
              </a:ln>
            </p:spPr>
            <p:txBody>
              <a:bodyPr/>
              <a:p>
                <a:pPr lvl="0" eaLnBrk="1" hangingPunct="1"/>
                <a:endParaRPr lang="zh-CN" altLang="zh-CN" sz="2400" b="0" dirty="0">
                  <a:latin typeface="Times New Roman" panose="02020603050405020304" pitchFamily="18" charset="0"/>
                </a:endParaRPr>
              </a:p>
            </p:txBody>
          </p:sp>
          <p:sp>
            <p:nvSpPr>
              <p:cNvPr id="2061" name="Rectangle 8"/>
              <p:cNvSpPr/>
              <p:nvPr userDrawn="1"/>
            </p:nvSpPr>
            <p:spPr>
              <a:xfrm>
                <a:off x="1437" y="0"/>
                <a:ext cx="369" cy="400"/>
              </a:xfrm>
              <a:prstGeom prst="rect">
                <a:avLst/>
              </a:prstGeom>
              <a:solidFill>
                <a:schemeClr val="folHlink"/>
              </a:solidFill>
              <a:ln w="9525">
                <a:noFill/>
              </a:ln>
            </p:spPr>
            <p:txBody>
              <a:bodyPr/>
              <a:p>
                <a:pPr lvl="0" eaLnBrk="1" hangingPunct="1"/>
                <a:endParaRPr lang="zh-CN" altLang="zh-CN" sz="2400" b="0" dirty="0">
                  <a:latin typeface="Times New Roman" panose="02020603050405020304" pitchFamily="18" charset="0"/>
                </a:endParaRPr>
              </a:p>
            </p:txBody>
          </p:sp>
          <p:sp>
            <p:nvSpPr>
              <p:cNvPr id="2062" name="Rectangle 9"/>
              <p:cNvSpPr/>
              <p:nvPr userDrawn="1"/>
            </p:nvSpPr>
            <p:spPr>
              <a:xfrm>
                <a:off x="719" y="1585"/>
                <a:ext cx="368" cy="404"/>
              </a:xfrm>
              <a:prstGeom prst="rect">
                <a:avLst/>
              </a:prstGeom>
              <a:solidFill>
                <a:schemeClr val="bg2"/>
              </a:solidFill>
              <a:ln w="9525">
                <a:noFill/>
              </a:ln>
            </p:spPr>
            <p:txBody>
              <a:bodyPr/>
              <a:p>
                <a:pPr lvl="0" eaLnBrk="1" hangingPunct="1"/>
                <a:endParaRPr lang="zh-CN" altLang="zh-CN" sz="2400" b="0" dirty="0">
                  <a:latin typeface="Times New Roman" panose="02020603050405020304" pitchFamily="18" charset="0"/>
                </a:endParaRPr>
              </a:p>
            </p:txBody>
          </p:sp>
          <p:sp>
            <p:nvSpPr>
              <p:cNvPr id="2063" name="Rectangle 10"/>
              <p:cNvSpPr/>
              <p:nvPr userDrawn="1"/>
            </p:nvSpPr>
            <p:spPr>
              <a:xfrm>
                <a:off x="1437" y="393"/>
                <a:ext cx="369" cy="405"/>
              </a:xfrm>
              <a:prstGeom prst="rect">
                <a:avLst/>
              </a:prstGeom>
              <a:solidFill>
                <a:schemeClr val="accent2"/>
              </a:solidFill>
              <a:ln w="9525">
                <a:noFill/>
              </a:ln>
            </p:spPr>
            <p:txBody>
              <a:bodyPr/>
              <a:p>
                <a:pPr lvl="0" eaLnBrk="1" hangingPunct="1"/>
                <a:endParaRPr lang="zh-CN" altLang="zh-CN" sz="2400" b="0" dirty="0">
                  <a:latin typeface="Times New Roman" panose="02020603050405020304" pitchFamily="18" charset="0"/>
                </a:endParaRPr>
              </a:p>
            </p:txBody>
          </p:sp>
          <p:sp>
            <p:nvSpPr>
              <p:cNvPr id="2064" name="Rectangle 11"/>
              <p:cNvSpPr/>
              <p:nvPr userDrawn="1"/>
            </p:nvSpPr>
            <p:spPr>
              <a:xfrm>
                <a:off x="719" y="792"/>
                <a:ext cx="368" cy="399"/>
              </a:xfrm>
              <a:prstGeom prst="rect">
                <a:avLst/>
              </a:prstGeom>
              <a:solidFill>
                <a:schemeClr val="folHlink"/>
              </a:solidFill>
              <a:ln w="9525">
                <a:noFill/>
              </a:ln>
            </p:spPr>
            <p:txBody>
              <a:bodyPr/>
              <a:p>
                <a:pPr lvl="0" eaLnBrk="1" hangingPunct="1"/>
                <a:endParaRPr lang="zh-CN" altLang="zh-CN" sz="2400" b="0" dirty="0">
                  <a:latin typeface="Times New Roman" panose="02020603050405020304" pitchFamily="18" charset="0"/>
                </a:endParaRPr>
              </a:p>
            </p:txBody>
          </p:sp>
          <p:sp>
            <p:nvSpPr>
              <p:cNvPr id="2065" name="Rectangle 12"/>
              <p:cNvSpPr/>
              <p:nvPr userDrawn="1"/>
            </p:nvSpPr>
            <p:spPr>
              <a:xfrm>
                <a:off x="0" y="792"/>
                <a:ext cx="367" cy="399"/>
              </a:xfrm>
              <a:prstGeom prst="rect">
                <a:avLst/>
              </a:prstGeom>
              <a:solidFill>
                <a:schemeClr val="bg2"/>
              </a:solidFill>
              <a:ln w="9525">
                <a:noFill/>
              </a:ln>
            </p:spPr>
            <p:txBody>
              <a:bodyPr/>
              <a:p>
                <a:pPr lvl="0" eaLnBrk="1" hangingPunct="1"/>
                <a:endParaRPr lang="zh-CN" altLang="zh-CN" sz="2400" b="0" dirty="0">
                  <a:latin typeface="Times New Roman" panose="02020603050405020304" pitchFamily="18" charset="0"/>
                </a:endParaRPr>
              </a:p>
            </p:txBody>
          </p:sp>
          <p:sp>
            <p:nvSpPr>
              <p:cNvPr id="2066" name="Rectangle 13"/>
              <p:cNvSpPr/>
              <p:nvPr userDrawn="1"/>
            </p:nvSpPr>
            <p:spPr>
              <a:xfrm>
                <a:off x="1081" y="792"/>
                <a:ext cx="362" cy="399"/>
              </a:xfrm>
              <a:prstGeom prst="rect">
                <a:avLst/>
              </a:prstGeom>
              <a:solidFill>
                <a:schemeClr val="accent2"/>
              </a:solidFill>
              <a:ln w="9525">
                <a:noFill/>
              </a:ln>
            </p:spPr>
            <p:txBody>
              <a:bodyPr/>
              <a:p>
                <a:pPr lvl="0" eaLnBrk="1" hangingPunct="1"/>
                <a:endParaRPr lang="zh-CN" altLang="zh-CN" sz="2400" b="0" dirty="0">
                  <a:latin typeface="Times New Roman" panose="02020603050405020304" pitchFamily="18" charset="0"/>
                </a:endParaRPr>
              </a:p>
            </p:txBody>
          </p:sp>
          <p:sp>
            <p:nvSpPr>
              <p:cNvPr id="2" name="Rectangle 14"/>
              <p:cNvSpPr/>
              <p:nvPr userDrawn="1"/>
            </p:nvSpPr>
            <p:spPr>
              <a:xfrm>
                <a:off x="361" y="1185"/>
                <a:ext cx="363" cy="406"/>
              </a:xfrm>
              <a:prstGeom prst="rect">
                <a:avLst/>
              </a:prstGeom>
              <a:solidFill>
                <a:schemeClr val="folHlink"/>
              </a:solidFill>
              <a:ln w="9525">
                <a:noFill/>
              </a:ln>
            </p:spPr>
            <p:txBody>
              <a:bodyPr/>
              <a:p>
                <a:pPr lvl="0" eaLnBrk="1" hangingPunct="1"/>
                <a:endParaRPr lang="zh-CN" altLang="zh-CN" sz="2400" b="0" dirty="0">
                  <a:latin typeface="Times New Roman" panose="02020603050405020304" pitchFamily="18" charset="0"/>
                </a:endParaRPr>
              </a:p>
            </p:txBody>
          </p:sp>
          <p:sp>
            <p:nvSpPr>
              <p:cNvPr id="3" name="Rectangle 15"/>
              <p:cNvSpPr/>
              <p:nvPr userDrawn="1"/>
            </p:nvSpPr>
            <p:spPr>
              <a:xfrm>
                <a:off x="719" y="1185"/>
                <a:ext cx="368" cy="406"/>
              </a:xfrm>
              <a:prstGeom prst="rect">
                <a:avLst/>
              </a:prstGeom>
              <a:solidFill>
                <a:schemeClr val="accent2"/>
              </a:solidFill>
              <a:ln w="9525">
                <a:noFill/>
              </a:ln>
            </p:spPr>
            <p:txBody>
              <a:bodyPr/>
              <a:p>
                <a:pPr lvl="0" eaLnBrk="1" hangingPunct="1"/>
                <a:endParaRPr lang="zh-CN" altLang="zh-CN" sz="2400" b="0" dirty="0">
                  <a:latin typeface="Times New Roman" panose="02020603050405020304" pitchFamily="18" charset="0"/>
                </a:endParaRPr>
              </a:p>
            </p:txBody>
          </p:sp>
        </p:grpSp>
      </p:grpSp>
      <p:sp>
        <p:nvSpPr>
          <p:cNvPr id="20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noProof="0" smtClean="0"/>
              <a:t>单击此处编辑母版标题样式</a:t>
            </a:r>
            <a:endParaRPr lang="zh-CN" noProof="0" smtClean="0"/>
          </a:p>
        </p:txBody>
      </p:sp>
      <p:sp>
        <p:nvSpPr>
          <p:cNvPr id="2068"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noProof="0" smtClean="0"/>
              <a:t>单击此处编辑母版副标题样式</a:t>
            </a:r>
            <a:endParaRPr lang="zh-CN" noProof="0" smtClean="0"/>
          </a:p>
        </p:txBody>
      </p:sp>
      <p:sp>
        <p:nvSpPr>
          <p:cNvPr id="31" name="Rectangle 16"/>
          <p:cNvSpPr>
            <a:spLocks noGrp="1" noChangeArrowheads="1"/>
          </p:cNvSpPr>
          <p:nvPr>
            <p:ph type="dt" sz="half" idx="2"/>
          </p:nvPr>
        </p:nvSpPr>
        <p:spPr bwMode="auto">
          <a:xfrm>
            <a:off x="457200" y="6248400"/>
            <a:ext cx="2133600" cy="457200"/>
          </a:xfrm>
          <a:prstGeom prst="rect">
            <a:avLst/>
          </a:prstGeom>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 name="Rectangle 17"/>
          <p:cNvSpPr>
            <a:spLocks noGrp="1" noChangeArrowheads="1"/>
          </p:cNvSpPr>
          <p:nvPr>
            <p:ph type="ftr" sz="quarter" idx="3"/>
          </p:nvPr>
        </p:nvSpPr>
        <p:spPr bwMode="auto">
          <a:xfrm>
            <a:off x="3124200" y="6248400"/>
            <a:ext cx="2895600" cy="457200"/>
          </a:xfrm>
          <a:prstGeom prst="rect">
            <a:avLst/>
          </a:prstGeom>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8"/>
          <p:cNvSpPr>
            <a:spLocks noGrp="1" noChangeArrowheads="1"/>
          </p:cNvSpPr>
          <p:nvPr>
            <p:ph type="sldNum" sz="quarter" idx="4"/>
          </p:nvPr>
        </p:nvSpPr>
        <p:spPr bwMode="auto">
          <a:xfrm>
            <a:off x="6553200" y="6248400"/>
            <a:ext cx="2133600" cy="457200"/>
          </a:xfrm>
          <a:prstGeom prst="rect">
            <a:avLst/>
          </a:prstGeom>
        </p:spPr>
        <p:txBody>
          <a:bodyPr vert="horz" wrap="square" lIns="91440" tIns="45720" rIns="91440" bIns="45720" numCol="1" anchor="b" anchorCtr="0" compatLnSpc="1"/>
          <a:p>
            <a:pPr algn="r"/>
            <a:fld id="{9A0DB2DC-4C9A-4742-B13C-FB6460FD3503}" type="slidenum">
              <a:rPr lang="zh-CN" altLang="zh-CN" dirty="0">
                <a:latin typeface="Arial Black" panose="020B0A04020102020204" pitchFamily="34" charset="0"/>
              </a:rPr>
            </a:fld>
            <a:endParaRPr lang="zh-CN" altLang="zh-CN" dirty="0">
              <a:latin typeface="Arial Black" panose="020B0A040201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9" name="日期占位符 8"/>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5" name="日期占位符 4"/>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4" name="日期占位符 3"/>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6" name="日期占位符 5"/>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981200"/>
            <a:ext cx="4038600" cy="3886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981200"/>
            <a:ext cx="4038600" cy="3886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7" name="日期占位符 6"/>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1371600"/>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981200"/>
            <a:ext cx="4038600" cy="38862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981200"/>
            <a:ext cx="4038600" cy="18669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4000500"/>
            <a:ext cx="4038600" cy="18669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6" name="页脚占位符 5"/>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1"/>
          </p:nvPr>
        </p:nvSpPr>
        <p:spPr/>
        <p:txBody>
          <a:bodyPr/>
          <a:p>
            <a:pPr lvl="0" eaLnBrk="1" hangingPunct="1"/>
            <a:fld id="{9A0DB2DC-4C9A-4742-B13C-FB6460FD3503}" type="slidenum">
              <a:rPr lang="zh-CN" altLang="zh-CN" dirty="0"/>
            </a:fld>
            <a:endParaRPr lang="zh-CN" altLang="zh-CN" dirty="0">
              <a:latin typeface="Arial" panose="020B0604020202020204" pitchFamily="34" charset="0"/>
            </a:endParaRPr>
          </a:p>
        </p:txBody>
      </p:sp>
      <p:sp>
        <p:nvSpPr>
          <p:cNvPr id="8" name="日期占位符 7"/>
          <p:cNvSpPr>
            <a:spLocks noGrp="1"/>
          </p:cNvSpPr>
          <p:nvPr>
            <p:ph type="dt" sz="half" idx="12"/>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a:defRPr sz="1200" b="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3"/>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b" anchorCtr="0" compatLnSpc="1"/>
          <a:lstStyle>
            <a:lvl1pPr algn="r">
              <a:defRPr sz="1200" b="0">
                <a:latin typeface="Arial Black" panose="020B0A04020102020204" pitchFamily="34" charset="0"/>
              </a:defRPr>
            </a:lvl1pPr>
          </a:lstStyle>
          <a:p>
            <a:pPr lvl="0" eaLnBrk="1" hangingPunct="1"/>
            <a:fld id="{9A0DB2DC-4C9A-4742-B13C-FB6460FD3503}" type="slidenum">
              <a:rPr lang="zh-CN" altLang="zh-CN" dirty="0"/>
            </a:fld>
            <a:endParaRPr lang="zh-CN" altLang="zh-CN" dirty="0">
              <a:latin typeface="Arial" panose="020B0604020202020204" pitchFamily="34" charset="0"/>
            </a:endParaRPr>
          </a:p>
        </p:txBody>
      </p:sp>
      <p:grpSp>
        <p:nvGrpSpPr>
          <p:cNvPr id="1028" name="Group 4"/>
          <p:cNvGrpSpPr/>
          <p:nvPr/>
        </p:nvGrpSpPr>
        <p:grpSpPr>
          <a:xfrm>
            <a:off x="0" y="0"/>
            <a:ext cx="9144000" cy="546100"/>
            <a:chOff x="0" y="0"/>
            <a:chExt cx="5760" cy="344"/>
          </a:xfrm>
        </p:grpSpPr>
        <p:sp>
          <p:nvSpPr>
            <p:cNvPr id="1032" name="Rectangle 5"/>
            <p:cNvSpPr/>
            <p:nvPr/>
          </p:nvSpPr>
          <p:spPr>
            <a:xfrm>
              <a:off x="0" y="0"/>
              <a:ext cx="180" cy="336"/>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endParaRPr lang="zh-CN" altLang="zh-CN" sz="2400" b="0" dirty="0">
                <a:latin typeface="Times New Roman" panose="02020603050405020304" pitchFamily="18" charset="0"/>
              </a:endParaRPr>
            </a:p>
          </p:txBody>
        </p:sp>
        <p:sp>
          <p:nvSpPr>
            <p:cNvPr id="1033" name="Rectangle 6"/>
            <p:cNvSpPr/>
            <p:nvPr/>
          </p:nvSpPr>
          <p:spPr>
            <a:xfrm>
              <a:off x="260" y="85"/>
              <a:ext cx="5500" cy="173"/>
            </a:xfrm>
            <a:prstGeom prst="rect">
              <a:avLst/>
            </a:prstGeom>
            <a:gradFill rotWithShape="0">
              <a:gsLst>
                <a:gs pos="0">
                  <a:schemeClr val="bg2"/>
                </a:gs>
                <a:gs pos="100000">
                  <a:schemeClr val="bg1"/>
                </a:gs>
              </a:gsLst>
              <a:lin ang="0" scaled="1"/>
              <a:tileRect/>
            </a:gradFill>
            <a:ln w="9525">
              <a:noFill/>
            </a:ln>
          </p:spPr>
          <p:txBody>
            <a:bodyPr/>
            <a:p>
              <a:pPr lvl="0" eaLnBrk="1" hangingPunct="1"/>
              <a:endParaRPr lang="zh-CN" altLang="zh-CN" sz="2400" b="0" dirty="0">
                <a:latin typeface="Times New Roman" panose="02020603050405020304" pitchFamily="18" charset="0"/>
              </a:endParaRPr>
            </a:p>
          </p:txBody>
        </p:sp>
        <p:sp>
          <p:nvSpPr>
            <p:cNvPr id="1034" name="Rectangle 7"/>
            <p:cNvSpPr/>
            <p:nvPr/>
          </p:nvSpPr>
          <p:spPr>
            <a:xfrm>
              <a:off x="258" y="85"/>
              <a:ext cx="87" cy="89"/>
            </a:xfrm>
            <a:prstGeom prst="rect">
              <a:avLst/>
            </a:prstGeom>
            <a:solidFill>
              <a:schemeClr val="folHlink"/>
            </a:solidFill>
            <a:ln w="9525">
              <a:noFill/>
            </a:ln>
          </p:spPr>
          <p:txBody>
            <a:bodyPr/>
            <a:p>
              <a:pPr lvl="0" eaLnBrk="1" hangingPunct="1"/>
              <a:endParaRPr lang="zh-CN" altLang="zh-CN" b="0" dirty="0">
                <a:solidFill>
                  <a:schemeClr val="hlink"/>
                </a:solidFill>
                <a:latin typeface="Arial" panose="020B0604020202020204" pitchFamily="34" charset="0"/>
              </a:endParaRPr>
            </a:p>
          </p:txBody>
        </p:sp>
        <p:sp>
          <p:nvSpPr>
            <p:cNvPr id="1035" name="Rectangle 8"/>
            <p:cNvSpPr/>
            <p:nvPr/>
          </p:nvSpPr>
          <p:spPr>
            <a:xfrm>
              <a:off x="345" y="0"/>
              <a:ext cx="88" cy="87"/>
            </a:xfrm>
            <a:prstGeom prst="rect">
              <a:avLst/>
            </a:prstGeom>
            <a:solidFill>
              <a:schemeClr val="folHlink"/>
            </a:solidFill>
            <a:ln w="9525">
              <a:noFill/>
            </a:ln>
          </p:spPr>
          <p:txBody>
            <a:bodyPr/>
            <a:p>
              <a:pPr lvl="0" eaLnBrk="1" hangingPunct="1"/>
              <a:endParaRPr lang="zh-CN" altLang="zh-CN" b="0" dirty="0">
                <a:solidFill>
                  <a:schemeClr val="hlink"/>
                </a:solidFill>
                <a:latin typeface="Arial" panose="020B0604020202020204" pitchFamily="34" charset="0"/>
              </a:endParaRPr>
            </a:p>
          </p:txBody>
        </p:sp>
        <p:sp>
          <p:nvSpPr>
            <p:cNvPr id="1036" name="Rectangle 9"/>
            <p:cNvSpPr/>
            <p:nvPr/>
          </p:nvSpPr>
          <p:spPr>
            <a:xfrm>
              <a:off x="345" y="85"/>
              <a:ext cx="88" cy="89"/>
            </a:xfrm>
            <a:prstGeom prst="rect">
              <a:avLst/>
            </a:prstGeom>
            <a:solidFill>
              <a:schemeClr val="accent2"/>
            </a:solidFill>
            <a:ln w="9525">
              <a:noFill/>
            </a:ln>
          </p:spPr>
          <p:txBody>
            <a:bodyPr/>
            <a:p>
              <a:pPr lvl="0" eaLnBrk="1" hangingPunct="1"/>
              <a:endParaRPr lang="zh-CN" altLang="zh-CN" b="0" dirty="0">
                <a:solidFill>
                  <a:schemeClr val="accent2"/>
                </a:solidFill>
                <a:latin typeface="Arial" panose="020B0604020202020204" pitchFamily="34" charset="0"/>
              </a:endParaRPr>
            </a:p>
          </p:txBody>
        </p:sp>
        <p:sp>
          <p:nvSpPr>
            <p:cNvPr id="1037" name="Rectangle 10"/>
            <p:cNvSpPr/>
            <p:nvPr/>
          </p:nvSpPr>
          <p:spPr>
            <a:xfrm>
              <a:off x="173" y="173"/>
              <a:ext cx="86" cy="87"/>
            </a:xfrm>
            <a:prstGeom prst="rect">
              <a:avLst/>
            </a:prstGeom>
            <a:solidFill>
              <a:schemeClr val="folHlink"/>
            </a:solidFill>
            <a:ln w="9525">
              <a:noFill/>
            </a:ln>
          </p:spPr>
          <p:txBody>
            <a:bodyPr/>
            <a:p>
              <a:pPr lvl="0" eaLnBrk="1" hangingPunct="1"/>
              <a:endParaRPr lang="zh-CN" altLang="zh-CN" b="0" dirty="0">
                <a:solidFill>
                  <a:schemeClr val="hlink"/>
                </a:solidFill>
                <a:latin typeface="Arial" panose="020B0604020202020204" pitchFamily="34" charset="0"/>
              </a:endParaRPr>
            </a:p>
          </p:txBody>
        </p:sp>
        <p:sp>
          <p:nvSpPr>
            <p:cNvPr id="1038" name="Rectangle 11"/>
            <p:cNvSpPr/>
            <p:nvPr/>
          </p:nvSpPr>
          <p:spPr>
            <a:xfrm>
              <a:off x="83" y="86"/>
              <a:ext cx="89" cy="87"/>
            </a:xfrm>
            <a:prstGeom prst="rect">
              <a:avLst/>
            </a:prstGeom>
            <a:solidFill>
              <a:schemeClr val="bg2"/>
            </a:solidFill>
            <a:ln w="9525">
              <a:noFill/>
            </a:ln>
          </p:spPr>
          <p:txBody>
            <a:bodyPr/>
            <a:p>
              <a:pPr lvl="0" eaLnBrk="1" hangingPunct="1"/>
              <a:endParaRPr lang="zh-CN" altLang="zh-CN" sz="2400" b="0" dirty="0">
                <a:latin typeface="Times New Roman" panose="02020603050405020304" pitchFamily="18" charset="0"/>
              </a:endParaRPr>
            </a:p>
          </p:txBody>
        </p:sp>
        <p:sp>
          <p:nvSpPr>
            <p:cNvPr id="1039" name="Rectangle 12"/>
            <p:cNvSpPr/>
            <p:nvPr/>
          </p:nvSpPr>
          <p:spPr>
            <a:xfrm>
              <a:off x="258" y="171"/>
              <a:ext cx="87" cy="87"/>
            </a:xfrm>
            <a:prstGeom prst="rect">
              <a:avLst/>
            </a:prstGeom>
            <a:solidFill>
              <a:schemeClr val="accent2"/>
            </a:solidFill>
            <a:ln w="9525">
              <a:noFill/>
            </a:ln>
          </p:spPr>
          <p:txBody>
            <a:bodyPr/>
            <a:p>
              <a:pPr lvl="0" eaLnBrk="1" hangingPunct="1"/>
              <a:endParaRPr lang="zh-CN" altLang="zh-CN" b="0" dirty="0">
                <a:solidFill>
                  <a:schemeClr val="accent2"/>
                </a:solidFill>
                <a:latin typeface="Arial" panose="020B0604020202020204" pitchFamily="34" charset="0"/>
              </a:endParaRPr>
            </a:p>
          </p:txBody>
        </p:sp>
        <p:sp>
          <p:nvSpPr>
            <p:cNvPr id="1040" name="Rectangle 13"/>
            <p:cNvSpPr/>
            <p:nvPr/>
          </p:nvSpPr>
          <p:spPr>
            <a:xfrm>
              <a:off x="173" y="258"/>
              <a:ext cx="86" cy="86"/>
            </a:xfrm>
            <a:prstGeom prst="rect">
              <a:avLst/>
            </a:prstGeom>
            <a:solidFill>
              <a:schemeClr val="accent2"/>
            </a:solidFill>
            <a:ln w="9525">
              <a:noFill/>
            </a:ln>
          </p:spPr>
          <p:txBody>
            <a:bodyPr/>
            <a:p>
              <a:pPr lvl="0" eaLnBrk="1" hangingPunct="1"/>
              <a:endParaRPr lang="zh-CN" altLang="zh-CN" b="0" dirty="0">
                <a:solidFill>
                  <a:schemeClr val="accent2"/>
                </a:solidFill>
                <a:latin typeface="Arial" panose="020B0604020202020204" pitchFamily="34" charset="0"/>
              </a:endParaRPr>
            </a:p>
          </p:txBody>
        </p:sp>
      </p:grpSp>
      <p:sp>
        <p:nvSpPr>
          <p:cNvPr id="1029"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zh-CN" dirty="0"/>
              <a:t>单击此处编辑母版标题样式</a:t>
            </a:r>
            <a:endParaRPr lang="zh-CN" altLang="zh-CN" dirty="0"/>
          </a:p>
        </p:txBody>
      </p:sp>
      <p:sp>
        <p:nvSpPr>
          <p:cNvPr id="1030" name="Rectangle 15"/>
          <p:cNvSpPr>
            <a:spLocks noGrp="1"/>
          </p:cNvSpPr>
          <p:nvPr>
            <p:ph type="body"/>
          </p:nvPr>
        </p:nvSpPr>
        <p:spPr>
          <a:xfrm>
            <a:off x="457200" y="1981200"/>
            <a:ext cx="8229600" cy="38862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2" name="Rectangle 16"/>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b" anchorCtr="0" compatLnSpc="1"/>
          <a:lstStyle>
            <a:lvl1pPr>
              <a:defRPr sz="1200" b="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4400" b="1">
          <a:solidFill>
            <a:schemeClr val="tx1"/>
          </a:solidFill>
          <a:latin typeface="+mj-lt"/>
          <a:ea typeface="+mj-ea"/>
          <a:cs typeface="+mj-cs"/>
        </a:defRPr>
      </a:lvl1pPr>
      <a:lvl2pPr algn="l" rtl="0" eaLnBrk="0" fontAlgn="base" hangingPunct="0">
        <a:spcBef>
          <a:spcPct val="0"/>
        </a:spcBef>
        <a:spcAft>
          <a:spcPct val="0"/>
        </a:spcAft>
        <a:defRPr sz="4400" b="1">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b="1">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b="1">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b="1">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b="1">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b="1">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b="1">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b="1">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2.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vmlDrawing" Target="../drawings/vmlDrawing3.vml"/><Relationship Id="rId3" Type="http://schemas.openxmlformats.org/officeDocument/2006/relationships/slideLayout" Target="../slideLayouts/slideLayout12.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2"/>
          <p:cNvSpPr>
            <a:spLocks noGrp="1"/>
          </p:cNvSpPr>
          <p:nvPr>
            <p:ph type="ctrTitle"/>
          </p:nvPr>
        </p:nvSpPr>
        <p:spPr>
          <a:xfrm>
            <a:off x="1547495" y="1772603"/>
            <a:ext cx="7515225" cy="2032000"/>
          </a:xfrm>
        </p:spPr>
        <p:txBody>
          <a:bodyPr vert="horz" wrap="square" lIns="91440" tIns="45720" rIns="91440" bIns="45720" anchor="ctr" anchorCtr="0"/>
          <a:p>
            <a:pPr algn="ctr" eaLnBrk="1" hangingPunct="1">
              <a:buClrTx/>
              <a:buSzTx/>
              <a:buFontTx/>
            </a:pPr>
            <a:r>
              <a:rPr lang="zh-CN" altLang="en-US" sz="4800" dirty="0">
                <a:solidFill>
                  <a:srgbClr val="FFFFFF"/>
                </a:solidFill>
                <a:latin typeface="+mj-lt"/>
                <a:ea typeface="+mj-ea"/>
                <a:cs typeface="+mj-cs"/>
              </a:rPr>
              <a:t>综合实例</a:t>
            </a:r>
            <a:br>
              <a:rPr lang="zh-CN" altLang="en-US" sz="6200" dirty="0">
                <a:solidFill>
                  <a:srgbClr val="FFFFFF"/>
                </a:solidFill>
                <a:latin typeface="+mj-lt"/>
                <a:ea typeface="+mj-ea"/>
                <a:cs typeface="+mj-cs"/>
              </a:rPr>
            </a:br>
            <a:br>
              <a:rPr lang="zh-CN" altLang="en-US" sz="2800" dirty="0">
                <a:solidFill>
                  <a:srgbClr val="FFFFFF"/>
                </a:solidFill>
                <a:latin typeface="+mj-lt"/>
                <a:ea typeface="+mj-ea"/>
                <a:cs typeface="+mj-cs"/>
              </a:rPr>
            </a:br>
            <a:r>
              <a:rPr lang="zh-CN" altLang="en-US" sz="3600" dirty="0">
                <a:solidFill>
                  <a:srgbClr val="FFFFFF"/>
                </a:solidFill>
                <a:latin typeface="+mj-lt"/>
                <a:ea typeface="+mj-ea"/>
                <a:cs typeface="+mj-cs"/>
              </a:rPr>
              <a:t>基于C/S的虚拟校园系统</a:t>
            </a:r>
            <a:endParaRPr lang="zh-CN" altLang="en-US" sz="3600" dirty="0">
              <a:solidFill>
                <a:srgbClr val="FFFFFF"/>
              </a:solidFill>
              <a:latin typeface="+mj-lt"/>
              <a:ea typeface="+mj-ea"/>
              <a:cs typeface="+mj-cs"/>
            </a:endParaRPr>
          </a:p>
        </p:txBody>
      </p:sp>
      <p:sp>
        <p:nvSpPr>
          <p:cNvPr id="3075" name="Rectangle 3"/>
          <p:cNvSpPr>
            <a:spLocks noGrp="1"/>
          </p:cNvSpPr>
          <p:nvPr>
            <p:ph type="subTitle" idx="1"/>
          </p:nvPr>
        </p:nvSpPr>
        <p:spPr>
          <a:xfrm>
            <a:off x="2843213" y="4267200"/>
            <a:ext cx="6148387" cy="2590800"/>
          </a:xfrm>
        </p:spPr>
        <p:txBody>
          <a:bodyPr vert="horz" wrap="square" lIns="91440" tIns="45720" rIns="91440" bIns="45720" anchor="t" anchorCtr="0"/>
          <a:p>
            <a:pPr marL="647700" indent="-647700" eaLnBrk="1" hangingPunct="1">
              <a:buSzPct val="75000"/>
              <a:buFont typeface="Wingdings" panose="05000000000000000000" pitchFamily="2" charset="2"/>
              <a:buChar char="n"/>
            </a:pPr>
            <a:r>
              <a:rPr lang="zh-CN" altLang="zh-CN" sz="2800" b="0" dirty="0">
                <a:latin typeface="黑体" panose="02010609060101010101" pitchFamily="49" charset="-122"/>
                <a:ea typeface="黑体" panose="02010609060101010101" pitchFamily="49" charset="-122"/>
                <a:cs typeface="+mn-cs"/>
              </a:rPr>
              <a:t>软件开发流程及项目简介</a:t>
            </a:r>
            <a:endParaRPr lang="zh-CN" altLang="zh-CN" sz="2800" dirty="0">
              <a:latin typeface="+mn-lt"/>
              <a:ea typeface="+mn-ea"/>
              <a:cs typeface="+mn-cs"/>
            </a:endParaRPr>
          </a:p>
          <a:p>
            <a:pPr marL="647700" indent="-647700" eaLnBrk="1" hangingPunct="1">
              <a:buSzPct val="75000"/>
              <a:buFont typeface="Wingdings" panose="05000000000000000000" pitchFamily="2" charset="2"/>
              <a:buChar char="n"/>
            </a:pPr>
            <a:r>
              <a:rPr lang="zh-CN" altLang="zh-CN" sz="2800" dirty="0">
                <a:latin typeface="+mn-lt"/>
                <a:ea typeface="+mn-ea"/>
                <a:cs typeface="+mn-cs"/>
              </a:rPr>
              <a:t>项目需求分析 </a:t>
            </a:r>
            <a:endParaRPr lang="zh-CN" altLang="zh-CN" sz="2800" dirty="0">
              <a:latin typeface="+mn-lt"/>
              <a:ea typeface="+mn-ea"/>
              <a:cs typeface="+mn-cs"/>
            </a:endParaRPr>
          </a:p>
          <a:p>
            <a:pPr marL="647700" indent="-647700" eaLnBrk="1" hangingPunct="1">
              <a:buSzPct val="75000"/>
              <a:buFont typeface="Wingdings" panose="05000000000000000000" pitchFamily="2" charset="2"/>
              <a:buChar char="n"/>
            </a:pPr>
            <a:r>
              <a:rPr lang="zh-CN" altLang="zh-CN" sz="2800" dirty="0">
                <a:latin typeface="+mn-lt"/>
                <a:ea typeface="+mn-ea"/>
                <a:cs typeface="+mn-cs"/>
              </a:rPr>
              <a:t>概要设计 </a:t>
            </a:r>
            <a:endParaRPr lang="zh-CN" altLang="zh-CN" sz="2800" dirty="0">
              <a:latin typeface="+mn-lt"/>
              <a:ea typeface="+mn-ea"/>
              <a:cs typeface="+mn-cs"/>
            </a:endParaRPr>
          </a:p>
          <a:p>
            <a:pPr marL="647700" indent="-647700" eaLnBrk="1" hangingPunct="1">
              <a:buSzPct val="75000"/>
              <a:buFont typeface="Wingdings" panose="05000000000000000000" pitchFamily="2" charset="2"/>
              <a:buChar char="n"/>
            </a:pPr>
            <a:r>
              <a:rPr lang="zh-CN" altLang="zh-CN" sz="2800" dirty="0">
                <a:latin typeface="+mn-lt"/>
                <a:ea typeface="+mn-ea"/>
                <a:cs typeface="+mn-cs"/>
              </a:rPr>
              <a:t>详细设计</a:t>
            </a:r>
            <a:endParaRPr lang="zh-CN" altLang="zh-CN" sz="2800" dirty="0">
              <a:latin typeface="+mn-lt"/>
              <a:ea typeface="+mn-ea"/>
              <a:cs typeface="+mn-cs"/>
            </a:endParaRPr>
          </a:p>
          <a:p>
            <a:pPr marL="647700" indent="-647700" eaLnBrk="1" hangingPunct="1">
              <a:buSzPct val="75000"/>
              <a:buFont typeface="Wingdings" panose="05000000000000000000" pitchFamily="2" charset="2"/>
              <a:buChar char="n"/>
            </a:pPr>
            <a:r>
              <a:rPr lang="zh-CN" altLang="zh-CN" sz="2800" dirty="0">
                <a:latin typeface="+mn-lt"/>
                <a:ea typeface="+mn-ea"/>
                <a:cs typeface="+mn-cs"/>
              </a:rPr>
              <a:t>项目编码与测试</a:t>
            </a:r>
            <a:endParaRPr lang="zh-CN" altLang="zh-CN" sz="2800" dirty="0">
              <a:latin typeface="+mn-lt"/>
              <a:ea typeface="+mn-ea"/>
              <a:cs typeface="+mn-cs"/>
            </a:endParaRPr>
          </a:p>
        </p:txBody>
      </p:sp>
      <p:sp>
        <p:nvSpPr>
          <p:cNvPr id="3076" name="TextBox 1"/>
          <p:cNvSpPr txBox="1"/>
          <p:nvPr/>
        </p:nvSpPr>
        <p:spPr>
          <a:xfrm>
            <a:off x="179388" y="333375"/>
            <a:ext cx="2954337" cy="646113"/>
          </a:xfrm>
          <a:prstGeom prst="rect">
            <a:avLst/>
          </a:prstGeom>
          <a:noFill/>
          <a:ln w="9525">
            <a:noFill/>
          </a:ln>
        </p:spPr>
        <p:txBody>
          <a:bodyPr wrap="none">
            <a:spAutoFit/>
          </a:bodyPr>
          <a:p>
            <a:r>
              <a:rPr lang="zh-CN" altLang="en-US" sz="3600" dirty="0">
                <a:solidFill>
                  <a:srgbClr val="FF0000"/>
                </a:solidFill>
                <a:latin typeface="华文仿宋" panose="02010600040101010101" pitchFamily="2" charset="-122"/>
                <a:ea typeface="华文仿宋" panose="02010600040101010101" pitchFamily="2" charset="-122"/>
              </a:rPr>
              <a:t>专业技能实训</a:t>
            </a:r>
            <a:endParaRPr lang="zh-CN" altLang="en-US" sz="3600" dirty="0">
              <a:solidFill>
                <a:srgbClr val="FF0000"/>
              </a:solidFill>
              <a:latin typeface="华文仿宋" panose="02010600040101010101" pitchFamily="2" charset="-122"/>
              <a:ea typeface="华文仿宋"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p:txBody>
          <a:bodyPr vert="horz" wrap="square" lIns="91440" tIns="45720" rIns="91440" bIns="45720" anchor="ctr" anchorCtr="0"/>
          <a:p>
            <a:pPr eaLnBrk="1" hangingPunct="1"/>
            <a:r>
              <a:rPr lang="zh-CN" altLang="zh-CN" sz="3200" dirty="0">
                <a:ea typeface="黑体" panose="02010609060101010101" pitchFamily="49" charset="-122"/>
              </a:rPr>
              <a:t>一、软件开发流程及项目简介</a:t>
            </a:r>
            <a:endParaRPr lang="zh-CN" altLang="zh-CN" sz="3200" dirty="0">
              <a:ea typeface="黑体" panose="02010609060101010101" pitchFamily="49" charset="-122"/>
            </a:endParaRPr>
          </a:p>
        </p:txBody>
      </p:sp>
      <p:sp>
        <p:nvSpPr>
          <p:cNvPr id="4099" name="Rectangle 3"/>
          <p:cNvSpPr>
            <a:spLocks noGrp="1"/>
          </p:cNvSpPr>
          <p:nvPr>
            <p:ph idx="1"/>
          </p:nvPr>
        </p:nvSpPr>
        <p:spPr/>
        <p:txBody>
          <a:bodyPr vert="horz" wrap="square" lIns="91440" tIns="45720" rIns="91440" bIns="45720" anchor="t" anchorCtr="0"/>
          <a:p>
            <a:pPr eaLnBrk="1" hangingPunct="1"/>
            <a:r>
              <a:rPr lang="zh-CN" altLang="zh-CN" dirty="0">
                <a:latin typeface="Times New Roman" panose="02020603050405020304" pitchFamily="18" charset="0"/>
              </a:rPr>
              <a:t>项目开发流程</a:t>
            </a:r>
            <a:endParaRPr lang="zh-CN" altLang="zh-CN" dirty="0">
              <a:latin typeface="Times New Roman" panose="02020603050405020304" pitchFamily="18" charset="0"/>
            </a:endParaRPr>
          </a:p>
          <a:p>
            <a:pPr eaLnBrk="1" hangingPunct="1"/>
            <a:r>
              <a:rPr lang="zh-CN" altLang="zh-CN" dirty="0">
                <a:latin typeface="Times New Roman" panose="02020603050405020304" pitchFamily="18" charset="0"/>
              </a:rPr>
              <a:t>项目简介</a:t>
            </a:r>
            <a:endParaRPr lang="zh-CN" altLang="zh-CN" dirty="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xfrm>
            <a:off x="428625" y="0"/>
            <a:ext cx="8229600" cy="1371600"/>
          </a:xfrm>
        </p:spPr>
        <p:txBody>
          <a:bodyPr vert="horz" wrap="square" lIns="91440" tIns="45720" rIns="91440" bIns="45720" anchor="ctr" anchorCtr="0"/>
          <a:p>
            <a:pPr eaLnBrk="1" hangingPunct="1"/>
            <a:r>
              <a:rPr lang="zh-CN" altLang="zh-CN" sz="4000" dirty="0">
                <a:latin typeface="Times New Roman" panose="02020603050405020304" pitchFamily="18" charset="0"/>
              </a:rPr>
              <a:t>1.1 项目开发流程</a:t>
            </a:r>
            <a:endParaRPr lang="zh-CN" altLang="zh-CN" sz="4000" dirty="0">
              <a:latin typeface="Times New Roman" panose="02020603050405020304" pitchFamily="18" charset="0"/>
            </a:endParaRPr>
          </a:p>
        </p:txBody>
      </p:sp>
      <p:graphicFrame>
        <p:nvGraphicFramePr>
          <p:cNvPr id="5123" name="Object 3"/>
          <p:cNvGraphicFramePr>
            <a:graphicFrameLocks noChangeAspect="1"/>
          </p:cNvGraphicFramePr>
          <p:nvPr>
            <p:ph sz="half" idx="2"/>
          </p:nvPr>
        </p:nvGraphicFramePr>
        <p:xfrm>
          <a:off x="2868613" y="1125538"/>
          <a:ext cx="5422900" cy="5732462"/>
        </p:xfrm>
        <a:graphic>
          <a:graphicData uri="http://schemas.openxmlformats.org/presentationml/2006/ole">
            <mc:AlternateContent xmlns:mc="http://schemas.openxmlformats.org/markup-compatibility/2006">
              <mc:Choice xmlns:v="urn:schemas-microsoft-com:vml" Requires="v">
                <p:oleObj spid="_x0000_s3076" name="" r:id="rId1" imgW="4607560" imgH="3689350" progId="Visio.Drawing.6">
                  <p:embed/>
                </p:oleObj>
              </mc:Choice>
              <mc:Fallback>
                <p:oleObj name="" r:id="rId1" imgW="4607560" imgH="3689350" progId="Visio.Drawing.6">
                  <p:embed/>
                  <p:pic>
                    <p:nvPicPr>
                      <p:cNvPr id="0" name="图片 3075"/>
                      <p:cNvPicPr/>
                      <p:nvPr/>
                    </p:nvPicPr>
                    <p:blipFill>
                      <a:blip r:embed="rId2"/>
                      <a:srcRect r="37697"/>
                      <a:stretch>
                        <a:fillRect/>
                      </a:stretch>
                    </p:blipFill>
                    <p:spPr>
                      <a:xfrm>
                        <a:off x="2868613" y="1125538"/>
                        <a:ext cx="5422900" cy="5732462"/>
                      </a:xfrm>
                      <a:prstGeom prst="rect">
                        <a:avLst/>
                      </a:prstGeom>
                      <a:noFill/>
                      <a:ln w="38100">
                        <a:miter/>
                      </a:ln>
                    </p:spPr>
                  </p:pic>
                </p:oleObj>
              </mc:Fallback>
            </mc:AlternateContent>
          </a:graphicData>
        </a:graphic>
      </p:graphicFrame>
      <p:sp>
        <p:nvSpPr>
          <p:cNvPr id="4" name="矩形 3"/>
          <p:cNvSpPr/>
          <p:nvPr/>
        </p:nvSpPr>
        <p:spPr>
          <a:xfrm>
            <a:off x="5072063" y="714375"/>
            <a:ext cx="3857625" cy="1200150"/>
          </a:xfrm>
          <a:prstGeom prst="rect">
            <a:avLst/>
          </a:prstGeom>
          <a:solidFill>
            <a:srgbClr val="FFFF00"/>
          </a:solidFill>
          <a:effectLst>
            <a:outerShdw blurRad="50800" dist="50800" dir="5400000" algn="ctr" rotWithShape="0">
              <a:schemeClr val="tx1"/>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可行性分析</a:t>
            </a:r>
            <a:r>
              <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功能需求、关键技术、现有技术与资源、项目开发生命周期、投资与效益、可行性分析报告结论</a:t>
            </a:r>
            <a:endPar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矩形 4"/>
          <p:cNvSpPr/>
          <p:nvPr/>
        </p:nvSpPr>
        <p:spPr>
          <a:xfrm>
            <a:off x="6000750" y="2714625"/>
            <a:ext cx="2857500" cy="923925"/>
          </a:xfrm>
          <a:prstGeom prst="rect">
            <a:avLst/>
          </a:prstGeom>
          <a:solidFill>
            <a:srgbClr val="FFFF00"/>
          </a:solidFill>
          <a:effectLst>
            <a:outerShdw blurRad="50800" dist="50800" dir="5400000" algn="ctr" rotWithShape="0">
              <a:schemeClr val="tx1"/>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需求分析</a:t>
            </a: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：根据功能需求，制定需求规格说明书</a:t>
            </a:r>
            <a:r>
              <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功能需求、性能需求</a:t>
            </a:r>
            <a:r>
              <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矩形 5"/>
          <p:cNvSpPr/>
          <p:nvPr/>
        </p:nvSpPr>
        <p:spPr>
          <a:xfrm>
            <a:off x="142875" y="1857375"/>
            <a:ext cx="3214688" cy="1476375"/>
          </a:xfrm>
          <a:prstGeom prst="rect">
            <a:avLst/>
          </a:prstGeom>
          <a:solidFill>
            <a:srgbClr val="FFFF00"/>
          </a:solidFill>
          <a:effectLst>
            <a:outerShdw blurRad="50800" dist="50800" dir="5400000" algn="ctr" rotWithShape="0">
              <a:schemeClr val="tx1"/>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项目计划</a:t>
            </a:r>
            <a:r>
              <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制定项目目标、交付成果、</a:t>
            </a:r>
            <a:r>
              <a:rPr lang="zh-CN" altLang="en-US" sz="1800" noProof="0" dirty="0">
                <a:ln>
                  <a:noFill/>
                </a:ln>
                <a:effectLst/>
                <a:uLnTx/>
                <a:uFillTx/>
                <a:sym typeface="+mn-ea"/>
              </a:rPr>
              <a:t>验收方式及依据、</a:t>
            </a: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开发环境、项目团队组织及人员分工、开发进度、检查项目工作等</a:t>
            </a:r>
            <a:endPar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矩形 6"/>
          <p:cNvSpPr/>
          <p:nvPr/>
        </p:nvSpPr>
        <p:spPr>
          <a:xfrm>
            <a:off x="142875" y="3643313"/>
            <a:ext cx="4000500" cy="922020"/>
          </a:xfrm>
          <a:prstGeom prst="rect">
            <a:avLst/>
          </a:prstGeom>
          <a:solidFill>
            <a:srgbClr val="FFFF00"/>
          </a:solidFill>
          <a:effectLst>
            <a:outerShdw blurRad="50800" dist="50800" dir="5400000" algn="ctr" rotWithShape="0">
              <a:schemeClr val="tx1"/>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软件设计</a:t>
            </a: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：系统目标、系统功能结构、</a:t>
            </a:r>
            <a:r>
              <a:rPr lang="zh-CN" altLang="en-US" sz="1800" noProof="0" dirty="0">
                <a:ln>
                  <a:noFill/>
                </a:ln>
                <a:effectLst/>
                <a:uLnTx/>
                <a:uFillTx/>
                <a:sym typeface="+mn-ea"/>
              </a:rPr>
              <a:t>系统功能模块划分、</a:t>
            </a: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系统业务流程图、系统编码规范、开发环境、</a:t>
            </a:r>
            <a:r>
              <a:rPr kumimoji="0" lang="zh-CN" altLang="en-US" sz="18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类设计</a:t>
            </a: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等</a:t>
            </a: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ldLvl="0" animBg="1"/>
      <p:bldP spid="7"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8" name="Picture 4"/>
          <p:cNvPicPr>
            <a:picLocks noChangeAspect="1"/>
          </p:cNvPicPr>
          <p:nvPr>
            <p:ph sz="quarter" idx="2"/>
          </p:nvPr>
        </p:nvPicPr>
        <p:blipFill>
          <a:blip r:embed="rId1"/>
          <a:srcRect/>
          <a:stretch>
            <a:fillRect/>
          </a:stretch>
        </p:blipFill>
        <p:spPr>
          <a:xfrm>
            <a:off x="6310313" y="476885"/>
            <a:ext cx="2833687" cy="1878013"/>
          </a:xfrm>
        </p:spPr>
      </p:pic>
      <p:sp>
        <p:nvSpPr>
          <p:cNvPr id="6146" name="Rectangle 2"/>
          <p:cNvSpPr>
            <a:spLocks noGrp="1"/>
          </p:cNvSpPr>
          <p:nvPr>
            <p:ph type="title"/>
          </p:nvPr>
        </p:nvSpPr>
        <p:spPr/>
        <p:txBody>
          <a:bodyPr vert="horz" wrap="square" lIns="91440" tIns="45720" rIns="91440" bIns="45720" anchor="ctr" anchorCtr="0"/>
          <a:p>
            <a:pPr eaLnBrk="1" hangingPunct="1"/>
            <a:r>
              <a:rPr lang="zh-CN" altLang="zh-CN" sz="4000" dirty="0">
                <a:latin typeface="Times New Roman" panose="02020603050405020304" pitchFamily="18" charset="0"/>
              </a:rPr>
              <a:t>1.2 项目简介</a:t>
            </a:r>
            <a:endParaRPr lang="zh-CN" altLang="zh-CN" sz="4000" dirty="0">
              <a:latin typeface="Times New Roman" panose="02020603050405020304" pitchFamily="18" charset="0"/>
            </a:endParaRPr>
          </a:p>
        </p:txBody>
      </p:sp>
      <p:sp>
        <p:nvSpPr>
          <p:cNvPr id="6147" name="Rectangle 3"/>
          <p:cNvSpPr>
            <a:spLocks noGrp="1"/>
          </p:cNvSpPr>
          <p:nvPr>
            <p:ph type="body" sz="half" idx="1"/>
          </p:nvPr>
        </p:nvSpPr>
        <p:spPr>
          <a:xfrm>
            <a:off x="539115" y="1629410"/>
            <a:ext cx="7492365" cy="1019175"/>
          </a:xfrm>
        </p:spPr>
        <p:txBody>
          <a:bodyPr vert="horz" wrap="square" lIns="91440" tIns="45720" rIns="91440" bIns="45720" anchor="t" anchorCtr="0"/>
          <a:p>
            <a:pPr eaLnBrk="1" hangingPunct="1">
              <a:lnSpc>
                <a:spcPct val="90000"/>
              </a:lnSpc>
              <a:buClr>
                <a:srgbClr val="33CCFF"/>
              </a:buClr>
              <a:buSzPct val="75000"/>
              <a:buFont typeface="Wingdings" panose="05000000000000000000" pitchFamily="2" charset="2"/>
              <a:buChar char="l"/>
            </a:pPr>
            <a:r>
              <a:rPr lang="zh-CN" altLang="en-US" sz="2800" dirty="0">
                <a:solidFill>
                  <a:schemeClr val="bg2"/>
                </a:solidFill>
                <a:latin typeface="Times New Roman" panose="02020603050405020304" pitchFamily="18" charset="0"/>
              </a:rPr>
              <a:t>项目名称：</a:t>
            </a:r>
            <a:endParaRPr lang="en-US" altLang="zh-CN" sz="2800" dirty="0">
              <a:solidFill>
                <a:schemeClr val="bg2"/>
              </a:solidFill>
              <a:latin typeface="Times New Roman" panose="02020603050405020304" pitchFamily="18" charset="0"/>
            </a:endParaRPr>
          </a:p>
          <a:p>
            <a:pPr eaLnBrk="1" hangingPunct="1">
              <a:lnSpc>
                <a:spcPct val="90000"/>
              </a:lnSpc>
              <a:buClr>
                <a:srgbClr val="33CCFF"/>
              </a:buClr>
              <a:buSzPct val="75000"/>
              <a:buFont typeface="Wingdings" panose="05000000000000000000" pitchFamily="2" charset="2"/>
              <a:buNone/>
            </a:pPr>
            <a:r>
              <a:rPr lang="zh-CN" altLang="en-US" sz="2800" dirty="0">
                <a:latin typeface="Times New Roman" panose="02020603050405020304" pitchFamily="18" charset="0"/>
              </a:rPr>
              <a:t>    基于C/S的虚拟校园系统</a:t>
            </a:r>
            <a:r>
              <a:rPr lang="en-US" altLang="zh-CN" sz="2800" dirty="0">
                <a:latin typeface="Times New Roman" panose="02020603050405020304" pitchFamily="18" charset="0"/>
              </a:rPr>
              <a:t>-</a:t>
            </a:r>
            <a:r>
              <a:rPr lang="zh-CN" altLang="en-US" sz="2800" dirty="0">
                <a:latin typeface="Times New Roman" panose="02020603050405020304" pitchFamily="18" charset="0"/>
              </a:rPr>
              <a:t>Vcampus</a:t>
            </a:r>
            <a:endParaRPr lang="zh-CN" altLang="en-US" sz="2800" dirty="0">
              <a:latin typeface="Times New Roman" panose="02020603050405020304" pitchFamily="18" charset="0"/>
            </a:endParaRPr>
          </a:p>
        </p:txBody>
      </p:sp>
      <p:sp>
        <p:nvSpPr>
          <p:cNvPr id="6" name="内容占位符 1"/>
          <p:cNvSpPr>
            <a:spLocks noGrp="1"/>
          </p:cNvSpPr>
          <p:nvPr>
            <p:ph type="body" sz="half" idx="1"/>
          </p:nvPr>
        </p:nvSpPr>
        <p:spPr bwMode="auto">
          <a:xfrm>
            <a:off x="539115" y="2781300"/>
            <a:ext cx="5160010" cy="3779520"/>
          </a:xfrm>
          <a:ln>
            <a:miter lim="800000"/>
          </a:ln>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2" anchor="t" anchorCtr="0" compatLnSpc="1">
            <a:noAutofit/>
          </a:bodyPr>
          <a:lstStyle/>
          <a:p>
            <a:pPr marL="342900" marR="0" lvl="0" indent="-342900" algn="l" defTabSz="914400" rtl="0" eaLnBrk="0" fontAlgn="base" latinLnBrk="0" hangingPunct="0">
              <a:lnSpc>
                <a:spcPct val="100000"/>
              </a:lnSpc>
              <a:spcBef>
                <a:spcPct val="20000"/>
              </a:spcBef>
              <a:spcAft>
                <a:spcPct val="0"/>
              </a:spcAft>
              <a:buClr>
                <a:srgbClr val="00B0F0"/>
              </a:buClr>
              <a:buSzPct val="75000"/>
              <a:buFont typeface="Wingdings" panose="05000000000000000000" pitchFamily="2" charset="2"/>
              <a:buChar char="l"/>
              <a:defRPr/>
            </a:pP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系统功能</a:t>
            </a: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rgbClr val="FF0000"/>
              </a:buClr>
              <a:buSzPct val="80000"/>
              <a:buFont typeface="Wingdings" panose="05000000000000000000" pitchFamily="2" charset="2"/>
              <a:buChar char="¨"/>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统一登录门户</a:t>
            </a: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rgbClr val="FF0000"/>
              </a:buClr>
              <a:buSzPct val="80000"/>
              <a:buFont typeface="Wingdings" panose="05000000000000000000" pitchFamily="2" charset="2"/>
              <a:buChar char="¨"/>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虚拟学</a:t>
            </a:r>
            <a:r>
              <a:rPr kumimoji="0" lang="zh-CN" altLang="en-US" sz="2000" b="1" i="0" u="none" strike="noStrike" kern="0" cap="none" spc="0" normalizeH="0" baseline="0" noProof="0" dirty="0" smtClean="0">
                <a:ln>
                  <a:noFill/>
                </a:ln>
                <a:solidFill>
                  <a:schemeClr val="tx1"/>
                </a:solidFill>
                <a:effectLst/>
                <a:uLnTx/>
                <a:uFillTx/>
                <a:latin typeface="+mn-lt"/>
                <a:ea typeface="+mn-ea"/>
              </a:rPr>
              <a:t>籍管理</a:t>
            </a: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rgbClr val="FF0000"/>
              </a:buClr>
              <a:buSzPct val="80000"/>
              <a:buFont typeface="Wingdings" panose="05000000000000000000" pitchFamily="2" charset="2"/>
              <a:buChar char="¨"/>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虚拟教务管理</a:t>
            </a: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rgbClr val="FF0000"/>
              </a:buClr>
              <a:buSzPct val="80000"/>
              <a:buFont typeface="Wingdings" panose="05000000000000000000" pitchFamily="2" charset="2"/>
              <a:buChar char="¨"/>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虚拟图书馆</a:t>
            </a: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rgbClr val="FF0000"/>
              </a:buClr>
              <a:buSzPct val="80000"/>
              <a:buFont typeface="Wingdings" panose="05000000000000000000" pitchFamily="2" charset="2"/>
              <a:buChar char="¨"/>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虚拟商店</a:t>
            </a:r>
            <a:endParaRPr kumimoji="0" lang="zh-CN" altLang="en-US" sz="2000" b="1" i="0" u="none" strike="noStrike" kern="0" cap="none" spc="0" normalizeH="0" baseline="0" noProof="0" dirty="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
              <a:defRPr/>
            </a:pPr>
            <a:r>
              <a:rPr lang="zh-CN" altLang="en-US" sz="2000" noProof="0" dirty="0" smtClean="0">
                <a:ln>
                  <a:noFill/>
                </a:ln>
                <a:effectLst/>
                <a:uLnTx/>
                <a:uFillTx/>
                <a:sym typeface="+mn-ea"/>
              </a:rPr>
              <a:t>虚拟</a:t>
            </a:r>
            <a:r>
              <a:rPr lang="zh-CN" altLang="en-US" sz="2000" noProof="0" dirty="0">
                <a:ln>
                  <a:noFill/>
                </a:ln>
                <a:effectLst/>
                <a:uLnTx/>
                <a:uFillTx/>
                <a:sym typeface="+mn-ea"/>
              </a:rPr>
              <a:t>银行</a:t>
            </a:r>
            <a:endParaRPr kumimoji="0" lang="en-US" altLang="zh-CN" sz="2000" b="1" i="0" u="none" strike="noStrike" kern="0" cap="none" spc="0" normalizeH="0" baseline="0" noProof="0" dirty="0">
              <a:ln>
                <a:noFill/>
              </a:ln>
              <a:solidFill>
                <a:schemeClr val="tx1"/>
              </a:solidFill>
              <a:effectLst/>
              <a:uLnTx/>
              <a:uFillTx/>
              <a:latin typeface="+mn-lt"/>
              <a:ea typeface="+mn-ea"/>
              <a:sym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
              <a:defRPr/>
            </a:pPr>
            <a:r>
              <a:rPr lang="zh-CN" altLang="en-US" sz="2000" noProof="0" dirty="0" smtClean="0">
                <a:ln>
                  <a:noFill/>
                </a:ln>
                <a:effectLst/>
                <a:uLnTx/>
                <a:uFillTx/>
                <a:sym typeface="+mn-ea"/>
              </a:rPr>
              <a:t>虚拟</a:t>
            </a:r>
            <a:r>
              <a:rPr lang="zh-CN" altLang="en-US" sz="2000" noProof="0" dirty="0">
                <a:ln>
                  <a:noFill/>
                </a:ln>
                <a:effectLst/>
                <a:uLnTx/>
                <a:uFillTx/>
                <a:sym typeface="+mn-ea"/>
              </a:rPr>
              <a:t>宿舍</a:t>
            </a:r>
            <a:endParaRPr kumimoji="0" lang="en-US" altLang="zh-CN" sz="2000" b="1" i="0" u="none" strike="noStrike" kern="0" cap="none" spc="0" normalizeH="0" baseline="0" noProof="0" dirty="0" smtClean="0">
              <a:ln>
                <a:noFill/>
              </a:ln>
              <a:solidFill>
                <a:schemeClr val="tx1"/>
              </a:solidFill>
              <a:effectLst/>
              <a:uLnTx/>
              <a:uFillTx/>
              <a:latin typeface="+mn-lt"/>
              <a:ea typeface="+mn-ea"/>
              <a:sym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在线课堂</a:t>
            </a: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
              <a:defRPr/>
            </a:pPr>
            <a:r>
              <a:rPr kumimoji="0" lang="en-US" altLang="zh-CN" sz="2000" b="1" i="0" u="none" strike="noStrike" kern="0" cap="none" spc="0" normalizeH="0" baseline="0" noProof="0" dirty="0" smtClean="0">
                <a:ln>
                  <a:noFill/>
                </a:ln>
                <a:solidFill>
                  <a:schemeClr val="tx1"/>
                </a:solidFill>
                <a:effectLst/>
                <a:uLnTx/>
                <a:uFillTx/>
                <a:latin typeface="+mn-lt"/>
                <a:ea typeface="+mn-ea"/>
              </a:rPr>
              <a:t>AI…</a:t>
            </a: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p:txBody>
          <a:bodyPr vert="horz" wrap="square" lIns="91440" tIns="45720" rIns="91440" bIns="45720" anchor="ctr" anchorCtr="0"/>
          <a:p>
            <a:pPr eaLnBrk="1" hangingPunct="1"/>
            <a:r>
              <a:rPr lang="zh-CN" altLang="en-US" dirty="0"/>
              <a:t>系统逻辑结构</a:t>
            </a:r>
            <a:endParaRPr lang="zh-CN" altLang="en-US" dirty="0"/>
          </a:p>
        </p:txBody>
      </p:sp>
      <p:sp>
        <p:nvSpPr>
          <p:cNvPr id="7171" name="AutoShape 3"/>
          <p:cNvSpPr/>
          <p:nvPr/>
        </p:nvSpPr>
        <p:spPr>
          <a:xfrm>
            <a:off x="971550" y="3022600"/>
            <a:ext cx="990600" cy="762000"/>
          </a:xfrm>
          <a:prstGeom prst="flowChartManualInpu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zh-CN" dirty="0">
                <a:latin typeface="Arial" panose="020B0604020202020204" pitchFamily="34" charset="0"/>
              </a:rPr>
              <a:t>终端</a:t>
            </a:r>
            <a:endParaRPr lang="zh-CN" altLang="zh-CN" dirty="0">
              <a:latin typeface="Arial" panose="020B0604020202020204" pitchFamily="34" charset="0"/>
            </a:endParaRPr>
          </a:p>
        </p:txBody>
      </p:sp>
      <p:sp>
        <p:nvSpPr>
          <p:cNvPr id="7172" name="AutoShape 4"/>
          <p:cNvSpPr/>
          <p:nvPr/>
        </p:nvSpPr>
        <p:spPr>
          <a:xfrm>
            <a:off x="7164388" y="2708275"/>
            <a:ext cx="990600" cy="1371600"/>
          </a:xfrm>
          <a:prstGeom prst="can">
            <a:avLst>
              <a:gd name="adj" fmla="val 34602"/>
            </a:avLst>
          </a:prstGeom>
          <a:solidFill>
            <a:srgbClr val="FF6600"/>
          </a:solidFill>
          <a:ln w="9525" cap="flat" cmpd="sng">
            <a:solidFill>
              <a:schemeClr val="tx1"/>
            </a:solidFill>
            <a:prstDash val="solid"/>
            <a:headEnd type="none" w="med" len="med"/>
            <a:tailEnd type="none" w="med" len="med"/>
          </a:ln>
        </p:spPr>
        <p:txBody>
          <a:bodyPr wrap="none" anchor="ctr" anchorCtr="0"/>
          <a:p>
            <a:pPr algn="ctr"/>
            <a:r>
              <a:rPr lang="zh-CN" altLang="zh-CN" dirty="0">
                <a:latin typeface="Arial" panose="020B0604020202020204" pitchFamily="34" charset="0"/>
              </a:rPr>
              <a:t>数据库</a:t>
            </a:r>
            <a:endParaRPr lang="zh-CN" altLang="zh-CN" dirty="0">
              <a:latin typeface="Arial" panose="020B0604020202020204" pitchFamily="34" charset="0"/>
            </a:endParaRPr>
          </a:p>
        </p:txBody>
      </p:sp>
      <p:sp>
        <p:nvSpPr>
          <p:cNvPr id="7173" name="Line 5"/>
          <p:cNvSpPr/>
          <p:nvPr/>
        </p:nvSpPr>
        <p:spPr>
          <a:xfrm>
            <a:off x="1962150" y="3406775"/>
            <a:ext cx="304800" cy="0"/>
          </a:xfrm>
          <a:prstGeom prst="line">
            <a:avLst/>
          </a:prstGeom>
          <a:ln w="9525" cap="flat" cmpd="sng">
            <a:solidFill>
              <a:schemeClr val="tx1"/>
            </a:solidFill>
            <a:prstDash val="solid"/>
            <a:headEnd type="triangle" w="med" len="med"/>
            <a:tailEnd type="triangle" w="med" len="med"/>
          </a:ln>
        </p:spPr>
      </p:sp>
      <p:graphicFrame>
        <p:nvGraphicFramePr>
          <p:cNvPr id="9222" name="Group 6"/>
          <p:cNvGraphicFramePr>
            <a:graphicFrameLocks noGrp="1"/>
          </p:cNvGraphicFramePr>
          <p:nvPr/>
        </p:nvGraphicFramePr>
        <p:xfrm>
          <a:off x="2266950" y="2492375"/>
          <a:ext cx="4464050" cy="2347913"/>
        </p:xfrm>
        <a:graphic>
          <a:graphicData uri="http://schemas.openxmlformats.org/drawingml/2006/table">
            <a:tbl>
              <a:tblPr/>
              <a:tblGrid>
                <a:gridCol w="1036638"/>
                <a:gridCol w="1036637"/>
                <a:gridCol w="874717"/>
                <a:gridCol w="1516058"/>
              </a:tblGrid>
              <a:tr h="396929">
                <a:tc gridSpan="4">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应用程序</a:t>
                      </a:r>
                      <a:endParaRPr kumimoji="0" 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hMerge="1">
                  <a:tcPr/>
                </a:tc>
                <a:tc hMerge="1">
                  <a:tcPr/>
                </a:tc>
                <a:tc hMerge="1">
                  <a:tcPr/>
                </a:tc>
              </a:tr>
              <a:tr h="823071">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用户界面</a:t>
                      </a:r>
                      <a:endParaRPr kumimoji="0" 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FF"/>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应用逻辑</a:t>
                      </a:r>
                      <a:endParaRPr kumimoji="0" 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事务逻辑</a:t>
                      </a:r>
                      <a:endParaRPr kumimoji="0" 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66"/>
                    </a:solid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数据管理</a:t>
                      </a:r>
                      <a:endParaRPr kumimoji="0" lang="zh-CN" sz="24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r>
              <a:tr h="11279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GUI</a:t>
                      </a: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JAVA</a:t>
                      </a:r>
                      <a:endParaRPr kumimoji="0" lang="zh-CN" altLang="en-US" sz="2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SQL</a:t>
                      </a: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ORACLE</a:t>
                      </a:r>
                      <a:endPar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MySQL</a:t>
                      </a: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ACCESS</a:t>
                      </a:r>
                      <a:endPar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193" name="Line 25"/>
          <p:cNvSpPr/>
          <p:nvPr/>
        </p:nvSpPr>
        <p:spPr>
          <a:xfrm>
            <a:off x="6731635" y="3500755"/>
            <a:ext cx="454025" cy="635"/>
          </a:xfrm>
          <a:prstGeom prst="line">
            <a:avLst/>
          </a:prstGeom>
          <a:ln w="9525" cap="flat" cmpd="sng">
            <a:solidFill>
              <a:schemeClr val="tx1"/>
            </a:solidFill>
            <a:prstDash val="solid"/>
            <a:headEnd type="triangle" w="med" len="med"/>
            <a:tailEnd type="triangle" w="med" len="me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1"/>
          <p:cNvSpPr>
            <a:spLocks noGrp="1"/>
          </p:cNvSpPr>
          <p:nvPr>
            <p:ph type="title"/>
          </p:nvPr>
        </p:nvSpPr>
        <p:spPr>
          <a:xfrm>
            <a:off x="457200" y="457200"/>
            <a:ext cx="8229600" cy="762000"/>
          </a:xfrm>
        </p:spPr>
        <p:txBody>
          <a:bodyPr vert="horz" wrap="square" lIns="91440" tIns="45720" rIns="91440" bIns="45720" anchor="ctr" anchorCtr="0"/>
          <a:p>
            <a:r>
              <a:rPr lang="zh-CN" altLang="en-US" dirty="0"/>
              <a:t>系统结构</a:t>
            </a:r>
            <a:endParaRPr lang="zh-CN" altLang="en-US" dirty="0"/>
          </a:p>
        </p:txBody>
      </p:sp>
      <p:sp>
        <p:nvSpPr>
          <p:cNvPr id="5" name="内容占位符 2"/>
          <p:cNvSpPr>
            <a:spLocks noGrp="1"/>
          </p:cNvSpPr>
          <p:nvPr>
            <p:ph idx="1"/>
          </p:nvPr>
        </p:nvSpPr>
        <p:spPr bwMode="auto">
          <a:xfrm>
            <a:off x="539550" y="1309687"/>
            <a:ext cx="6266656" cy="5378152"/>
          </a:xfrm>
          <a:ln>
            <a:miter lim="800000"/>
          </a:ln>
          <a:effectLst/>
          <a:scene3d>
            <a:camera prst="orthographicFront"/>
            <a:lightRig rig="balanced" dir="t"/>
          </a:scene3d>
          <a:sp3d prstMaterial="plastic"/>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2" anchor="t" anchorCtr="0" compatLnSpc="1">
            <a:noAutofit/>
          </a:bodyPr>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r>
              <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cs typeface="+mn-cs"/>
              </a:rPr>
              <a:t>C/S</a:t>
            </a:r>
            <a:endPar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rPr>
              <a:t>Client</a:t>
            </a:r>
            <a:endPar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endParaRPr>
          </a:p>
          <a:p>
            <a:pPr marL="1143000" marR="0" lvl="2" indent="-228600" algn="l" defTabSz="914400" rtl="0" eaLnBrk="0" fontAlgn="base" latinLnBrk="0" hangingPunct="0">
              <a:lnSpc>
                <a:spcPct val="100000"/>
              </a:lnSpc>
              <a:spcBef>
                <a:spcPct val="20000"/>
              </a:spcBef>
              <a:spcAft>
                <a:spcPct val="0"/>
              </a:spcAft>
              <a:buClr>
                <a:schemeClr val="bg2"/>
              </a:buClr>
              <a:buSzPct val="65000"/>
              <a:buFont typeface="Wingdings" panose="05000000000000000000" pitchFamily="2" charset="2"/>
              <a:buChar char="n"/>
              <a:defRPr/>
            </a:pPr>
            <a:r>
              <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rPr>
              <a:t>View</a:t>
            </a:r>
            <a:r>
              <a:rPr kumimoji="0" lang="en-US" altLang="zh-CN" sz="2800" b="1" i="0" u="none" strike="noStrike" kern="0" cap="none" spc="0" normalizeH="0" baseline="0" noProof="0" dirty="0">
                <a:ln>
                  <a:noFill/>
                </a:ln>
                <a:solidFill>
                  <a:schemeClr val="accent1">
                    <a:lumMod val="50000"/>
                  </a:schemeClr>
                </a:solidFill>
                <a:effectLst/>
                <a:uLnTx/>
                <a:uFillTx/>
                <a:latin typeface="+mn-lt"/>
                <a:ea typeface="+mn-ea"/>
              </a:rPr>
              <a:t>er</a:t>
            </a:r>
            <a:endPar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rPr>
              <a:t>Server</a:t>
            </a:r>
            <a:endPar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endParaRPr>
          </a:p>
          <a:p>
            <a:pPr marL="1143000" marR="0" lvl="2" indent="-228600" algn="l" defTabSz="914400" rtl="0" eaLnBrk="0" fontAlgn="base" latinLnBrk="0" hangingPunct="0">
              <a:lnSpc>
                <a:spcPct val="100000"/>
              </a:lnSpc>
              <a:spcBef>
                <a:spcPct val="20000"/>
              </a:spcBef>
              <a:spcAft>
                <a:spcPct val="0"/>
              </a:spcAft>
              <a:buClr>
                <a:schemeClr val="bg2"/>
              </a:buClr>
              <a:buSzPct val="65000"/>
              <a:buFont typeface="Wingdings" panose="05000000000000000000" pitchFamily="2" charset="2"/>
              <a:buChar char="n"/>
              <a:defRPr/>
            </a:pPr>
            <a:r>
              <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rPr>
              <a:t>Model</a:t>
            </a:r>
            <a:endPar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endParaRPr>
          </a:p>
          <a:p>
            <a:pPr marL="1143000" marR="0" lvl="2" indent="-228600" algn="l" defTabSz="914400" rtl="0" eaLnBrk="0" fontAlgn="base" latinLnBrk="0" hangingPunct="0">
              <a:lnSpc>
                <a:spcPct val="100000"/>
              </a:lnSpc>
              <a:spcBef>
                <a:spcPct val="20000"/>
              </a:spcBef>
              <a:spcAft>
                <a:spcPct val="0"/>
              </a:spcAft>
              <a:buClr>
                <a:schemeClr val="bg2"/>
              </a:buClr>
              <a:buSzPct val="65000"/>
              <a:buFont typeface="Wingdings" panose="05000000000000000000" pitchFamily="2" charset="2"/>
              <a:buChar char="n"/>
              <a:defRPr/>
            </a:pPr>
            <a:r>
              <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rPr>
              <a:t>Controller</a:t>
            </a:r>
            <a:endPar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rPr>
              <a:t>Socket</a:t>
            </a:r>
            <a:endPar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endParaRPr>
          </a:p>
          <a:p>
            <a:pPr marL="742950" marR="0" lvl="1" indent="-285750" algn="l" defTabSz="914400" rtl="0" eaLnBrk="0" fontAlgn="base" latinLnBrk="0" hangingPunct="0">
              <a:lnSpc>
                <a:spcPct val="100000"/>
              </a:lnSpc>
              <a:spcBef>
                <a:spcPct val="20000"/>
              </a:spcBef>
              <a:spcAft>
                <a:spcPct val="0"/>
              </a:spcAft>
              <a:buClr>
                <a:schemeClr val="accent2"/>
              </a:buClr>
              <a:buSzPct val="80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rPr>
              <a:t>Multithread</a:t>
            </a:r>
            <a:endParaRPr kumimoji="0" lang="en-US" altLang="zh-CN" sz="2800" b="1" i="0" u="none" strike="noStrike" kern="0" cap="none" spc="0" normalizeH="0" baseline="0" noProof="0" dirty="0" smtClean="0">
              <a:ln>
                <a:noFill/>
              </a:ln>
              <a:solidFill>
                <a:schemeClr val="accent1">
                  <a:lumMod val="50000"/>
                </a:schemeClr>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8196" name="文本框 1"/>
          <p:cNvSpPr txBox="1"/>
          <p:nvPr/>
        </p:nvSpPr>
        <p:spPr>
          <a:xfrm>
            <a:off x="5003800" y="1268413"/>
            <a:ext cx="3024188" cy="31067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b="1">
                <a:solidFill>
                  <a:schemeClr val="tx1"/>
                </a:solidFill>
                <a:latin typeface="+mn-lt"/>
                <a:ea typeface="+mn-ea"/>
              </a:defRPr>
            </a:lvl5pPr>
          </a:lstStyle>
          <a:p>
            <a:pPr marL="342900" lvl="0" indent="-342900"/>
            <a:r>
              <a:rPr lang="en-US" altLang="zh-CN" sz="2800" dirty="0"/>
              <a:t>B/S</a:t>
            </a:r>
            <a:endParaRPr lang="en-US" altLang="zh-CN" sz="2800" dirty="0"/>
          </a:p>
          <a:p>
            <a:pPr marL="742950" lvl="1" indent="-285750"/>
            <a:r>
              <a:rPr lang="en-US" altLang="zh-CN" dirty="0"/>
              <a:t>Client</a:t>
            </a:r>
            <a:endParaRPr lang="en-US" altLang="zh-CN" dirty="0"/>
          </a:p>
          <a:p>
            <a:pPr marL="1143000" lvl="2" indent="-228600"/>
            <a:r>
              <a:rPr lang="en-US" altLang="zh-CN" sz="2800" dirty="0"/>
              <a:t>Viewer</a:t>
            </a:r>
            <a:endParaRPr lang="en-US" altLang="zh-CN" sz="2800" dirty="0"/>
          </a:p>
          <a:p>
            <a:pPr marL="742950" lvl="1" indent="-285750"/>
            <a:r>
              <a:rPr lang="en-US" altLang="zh-CN" dirty="0"/>
              <a:t>Server</a:t>
            </a:r>
            <a:endParaRPr lang="en-US" altLang="zh-CN" dirty="0"/>
          </a:p>
          <a:p>
            <a:pPr marL="1143000" lvl="2" indent="-228600"/>
            <a:r>
              <a:rPr lang="en-US" altLang="zh-CN" sz="2800" dirty="0"/>
              <a:t>Model</a:t>
            </a:r>
            <a:endParaRPr lang="en-US" altLang="zh-CN" sz="2800" dirty="0"/>
          </a:p>
          <a:p>
            <a:pPr marL="1143000" lvl="2" indent="-228600"/>
            <a:r>
              <a:rPr lang="en-US" altLang="zh-CN" sz="2800" dirty="0"/>
              <a:t>Controller</a:t>
            </a:r>
            <a:endParaRPr lang="zh-CN"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1"/>
          <p:cNvSpPr>
            <a:spLocks noGrp="1"/>
          </p:cNvSpPr>
          <p:nvPr>
            <p:ph type="title"/>
          </p:nvPr>
        </p:nvSpPr>
        <p:spPr>
          <a:xfrm>
            <a:off x="457200" y="457200"/>
            <a:ext cx="8229600" cy="828675"/>
          </a:xfrm>
        </p:spPr>
        <p:txBody>
          <a:bodyPr vert="horz" wrap="square" lIns="91440" tIns="45720" rIns="91440" bIns="45720" anchor="ctr" anchorCtr="0"/>
          <a:p>
            <a:r>
              <a:rPr lang="zh-CN" altLang="en-US" dirty="0"/>
              <a:t>系统开发模式</a:t>
            </a:r>
            <a:endParaRPr lang="zh-CN" altLang="en-US" dirty="0"/>
          </a:p>
        </p:txBody>
      </p:sp>
      <p:sp>
        <p:nvSpPr>
          <p:cNvPr id="9219" name="内容占位符 2"/>
          <p:cNvSpPr>
            <a:spLocks noGrp="1"/>
          </p:cNvSpPr>
          <p:nvPr>
            <p:ph idx="1"/>
          </p:nvPr>
        </p:nvSpPr>
        <p:spPr>
          <a:xfrm>
            <a:off x="500063" y="1357313"/>
            <a:ext cx="8229600" cy="1090612"/>
          </a:xfrm>
        </p:spPr>
        <p:txBody>
          <a:bodyPr vert="horz" wrap="square" lIns="91440" tIns="45720" rIns="91440" bIns="45720" anchor="t" anchorCtr="0"/>
          <a:p>
            <a:r>
              <a:rPr lang="zh-CN" altLang="en-US" sz="2800" dirty="0"/>
              <a:t>分层式</a:t>
            </a:r>
            <a:endParaRPr lang="en-US" altLang="zh-CN" sz="2800" dirty="0"/>
          </a:p>
          <a:p>
            <a:pPr>
              <a:buNone/>
            </a:pPr>
            <a:r>
              <a:rPr lang="zh-CN" altLang="en-US" sz="2800" dirty="0"/>
              <a:t>    </a:t>
            </a:r>
            <a:r>
              <a:rPr lang="en-US" altLang="zh-CN" sz="2800" dirty="0">
                <a:solidFill>
                  <a:srgbClr val="FF0000"/>
                </a:solidFill>
              </a:rPr>
              <a:t>MVC</a:t>
            </a:r>
            <a:r>
              <a:rPr lang="en-US" altLang="zh-CN" sz="2800" dirty="0"/>
              <a:t>:</a:t>
            </a:r>
            <a:r>
              <a:rPr lang="zh-CN" altLang="en-US" sz="2800" dirty="0"/>
              <a:t> </a:t>
            </a:r>
            <a:r>
              <a:rPr lang="en-US" altLang="zh-CN" sz="2800" dirty="0">
                <a:solidFill>
                  <a:srgbClr val="FF0000"/>
                </a:solidFill>
              </a:rPr>
              <a:t>M</a:t>
            </a:r>
            <a:r>
              <a:rPr lang="en-US" altLang="zh-CN" sz="2800" dirty="0"/>
              <a:t>odel-</a:t>
            </a:r>
            <a:r>
              <a:rPr lang="en-US" altLang="zh-CN" sz="2800" dirty="0">
                <a:solidFill>
                  <a:srgbClr val="FF0000"/>
                </a:solidFill>
              </a:rPr>
              <a:t>V</a:t>
            </a:r>
            <a:r>
              <a:rPr lang="en-US" altLang="zh-CN" sz="2800" dirty="0"/>
              <a:t>iewer-</a:t>
            </a:r>
            <a:r>
              <a:rPr lang="en-US" altLang="zh-CN" sz="2800" dirty="0">
                <a:solidFill>
                  <a:srgbClr val="FF0000"/>
                </a:solidFill>
              </a:rPr>
              <a:t>C</a:t>
            </a:r>
            <a:r>
              <a:rPr lang="en-US" altLang="zh-CN" sz="2800" dirty="0"/>
              <a:t>ontroller</a:t>
            </a:r>
            <a:endParaRPr lang="zh-CN" altLang="en-US" sz="2800" dirty="0"/>
          </a:p>
          <a:p>
            <a:pPr marL="342900" lvl="1" indent="-342900">
              <a:buClr>
                <a:schemeClr val="bg2"/>
              </a:buClr>
              <a:buSzPct val="75000"/>
              <a:buNone/>
            </a:pPr>
            <a:endParaRPr lang="en-US" altLang="zh-CN" dirty="0"/>
          </a:p>
          <a:p>
            <a:pPr marL="342900" lvl="1" indent="-342900">
              <a:buClr>
                <a:schemeClr val="bg2"/>
              </a:buClr>
              <a:buSzPct val="75000"/>
              <a:buFont typeface="Wingdings" panose="05000000000000000000" pitchFamily="2" charset="2"/>
              <a:buChar char="n"/>
            </a:pPr>
            <a:endParaRPr lang="en-US" altLang="zh-CN" dirty="0"/>
          </a:p>
          <a:p>
            <a:pPr>
              <a:buFont typeface="Wingdings" panose="05000000000000000000" pitchFamily="2" charset="2"/>
              <a:buChar char="n"/>
            </a:pPr>
            <a:endParaRPr lang="en-US" altLang="zh-CN" dirty="0"/>
          </a:p>
        </p:txBody>
      </p:sp>
      <p:sp>
        <p:nvSpPr>
          <p:cNvPr id="9220" name="Rectangle 1"/>
          <p:cNvSpPr/>
          <p:nvPr/>
        </p:nvSpPr>
        <p:spPr>
          <a:xfrm>
            <a:off x="571500" y="2428875"/>
            <a:ext cx="7500938" cy="923925"/>
          </a:xfrm>
          <a:prstGeom prst="rect">
            <a:avLst/>
          </a:prstGeom>
          <a:noFill/>
          <a:ln w="9525">
            <a:noFill/>
          </a:ln>
        </p:spPr>
        <p:txBody>
          <a:bodyPr anchor="ctr" anchorCtr="0">
            <a:spAutoFit/>
          </a:bodyPr>
          <a:p>
            <a:pPr lvl="1" indent="-228600" eaLnBrk="0" hangingPunct="0">
              <a:buAutoNum type="arabicPeriod"/>
            </a:pPr>
            <a:r>
              <a:rPr lang="zh-CN" altLang="en-US" dirty="0">
                <a:latin typeface="Arial" panose="020B0604020202020204" pitchFamily="34" charset="0"/>
              </a:rPr>
              <a:t>模型</a:t>
            </a:r>
            <a:r>
              <a:rPr lang="en-US" altLang="zh-CN" dirty="0">
                <a:latin typeface="Arial" panose="020B0604020202020204" pitchFamily="34" charset="0"/>
              </a:rPr>
              <a:t>—</a:t>
            </a:r>
            <a:r>
              <a:rPr lang="zh-CN" altLang="en-US" dirty="0">
                <a:latin typeface="Arial" panose="020B0604020202020204" pitchFamily="34" charset="0"/>
              </a:rPr>
              <a:t>视图</a:t>
            </a:r>
            <a:r>
              <a:rPr lang="en-US" altLang="zh-CN" dirty="0">
                <a:latin typeface="Arial" panose="020B0604020202020204" pitchFamily="34" charset="0"/>
              </a:rPr>
              <a:t>—</a:t>
            </a:r>
            <a:r>
              <a:rPr lang="zh-CN" altLang="en-US" dirty="0">
                <a:latin typeface="Arial" panose="020B0604020202020204" pitchFamily="34" charset="0"/>
              </a:rPr>
              <a:t>控制器</a:t>
            </a:r>
            <a:endParaRPr lang="zh-CN" altLang="en-US" dirty="0">
              <a:latin typeface="Arial" panose="020B0604020202020204" pitchFamily="34" charset="0"/>
            </a:endParaRPr>
          </a:p>
          <a:p>
            <a:pPr lvl="1" indent="-228600" eaLnBrk="0" hangingPunct="0">
              <a:buAutoNum type="arabicPeriod"/>
            </a:pPr>
            <a:r>
              <a:rPr lang="zh-CN" altLang="en-US" dirty="0">
                <a:latin typeface="Arial" panose="020B0604020202020204" pitchFamily="34" charset="0"/>
              </a:rPr>
              <a:t>数据与显示的分离、服务与数据的分离、服务与显示的分离</a:t>
            </a:r>
            <a:endParaRPr lang="zh-CN" altLang="en-US" dirty="0">
              <a:latin typeface="Arial" panose="020B0604020202020204" pitchFamily="34" charset="0"/>
            </a:endParaRPr>
          </a:p>
          <a:p>
            <a:pPr lvl="1" indent="-228600" eaLnBrk="0" hangingPunct="0">
              <a:buAutoNum type="arabicPeriod"/>
            </a:pPr>
            <a:r>
              <a:rPr lang="zh-CN" altLang="en-US" dirty="0">
                <a:latin typeface="Arial" panose="020B0604020202020204" pitchFamily="34" charset="0"/>
              </a:rPr>
              <a:t>典型的分层结构：</a:t>
            </a:r>
            <a:endParaRPr lang="en-US" altLang="zh-CN" dirty="0">
              <a:latin typeface="Arial" panose="020B0604020202020204" pitchFamily="34" charset="0"/>
            </a:endParaRPr>
          </a:p>
        </p:txBody>
      </p:sp>
      <p:sp>
        <p:nvSpPr>
          <p:cNvPr id="9221" name="矩形 5"/>
          <p:cNvSpPr/>
          <p:nvPr/>
        </p:nvSpPr>
        <p:spPr>
          <a:xfrm>
            <a:off x="642938" y="5572125"/>
            <a:ext cx="7715250" cy="369888"/>
          </a:xfrm>
          <a:prstGeom prst="rect">
            <a:avLst/>
          </a:prstGeom>
          <a:noFill/>
          <a:ln w="9525">
            <a:noFill/>
          </a:ln>
        </p:spPr>
        <p:txBody>
          <a:bodyPr>
            <a:spAutoFit/>
          </a:bodyPr>
          <a:p>
            <a:pPr lvl="1" indent="-228600" eaLnBrk="0" hangingPunct="0"/>
            <a:r>
              <a:rPr lang="en-US" altLang="zh-CN" dirty="0">
                <a:solidFill>
                  <a:srgbClr val="000000"/>
                </a:solidFill>
                <a:latin typeface="Arial" panose="020B0604020202020204" pitchFamily="34" charset="0"/>
              </a:rPr>
              <a:t>4.</a:t>
            </a:r>
            <a:r>
              <a:rPr lang="zh-CN" altLang="en-US" dirty="0">
                <a:solidFill>
                  <a:srgbClr val="000000"/>
                </a:solidFill>
                <a:latin typeface="Arial" panose="020B0604020202020204" pitchFamily="34" charset="0"/>
              </a:rPr>
              <a:t> 接口与实现的分离：尽量提取公共接口，实现层与层间的松耦合；</a:t>
            </a:r>
            <a:endParaRPr lang="zh-CN" altLang="en-US" dirty="0">
              <a:solidFill>
                <a:srgbClr val="000000"/>
              </a:solidFill>
              <a:latin typeface="Arial" panose="020B0604020202020204" pitchFamily="34" charset="0"/>
            </a:endParaRPr>
          </a:p>
        </p:txBody>
      </p:sp>
      <p:graphicFrame>
        <p:nvGraphicFramePr>
          <p:cNvPr id="7" name="表格 6"/>
          <p:cNvGraphicFramePr>
            <a:graphicFrameLocks noGrp="1"/>
          </p:cNvGraphicFramePr>
          <p:nvPr/>
        </p:nvGraphicFramePr>
        <p:xfrm>
          <a:off x="1071563" y="3500438"/>
          <a:ext cx="6643688" cy="1928813"/>
        </p:xfrm>
        <a:graphic>
          <a:graphicData uri="http://schemas.openxmlformats.org/drawingml/2006/table">
            <a:tbl>
              <a:tblPr/>
              <a:tblGrid>
                <a:gridCol w="495300"/>
                <a:gridCol w="958850"/>
                <a:gridCol w="5189537"/>
              </a:tblGrid>
              <a:tr h="385762">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zh-CN" sz="1100" b="1" i="0" u="none" strike="noStrike" cap="none" normalizeH="0" baseline="0" dirty="0" smtClean="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rPr>
                        <a:t>序号</a:t>
                      </a:r>
                      <a:endParaRPr kumimoji="0" lang="zh-CN" sz="11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solidFill>
                      <a:srgbClr val="4F81BD"/>
                    </a:solid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zh-CN" sz="1100" b="1" i="0" u="none" strike="noStrike" cap="none" normalizeH="0" baseline="0" smtClean="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rPr>
                        <a:t>包</a:t>
                      </a:r>
                      <a:endParaRPr kumimoji="0" lang="zh-CN" sz="11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solidFill>
                      <a:srgbClr val="4F81BD"/>
                    </a:solid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zh-CN" sz="1100" b="1" i="0" u="none" strike="noStrike" cap="none" normalizeH="0" baseline="0" dirty="0" smtClean="0">
                          <a:ln>
                            <a:noFill/>
                          </a:ln>
                          <a:solidFill>
                            <a:srgbClr val="FFFFFF"/>
                          </a:solidFill>
                          <a:effectLst/>
                          <a:latin typeface="Calibri" panose="020F0502020204030204" pitchFamily="34" charset="0"/>
                          <a:ea typeface="宋体" panose="02010600030101010101" pitchFamily="2" charset="-122"/>
                          <a:cs typeface="Times New Roman" panose="02020603050405020304" pitchFamily="18" charset="0"/>
                        </a:rPr>
                        <a:t>说明</a:t>
                      </a:r>
                      <a:endParaRPr kumimoji="0" lang="zh-CN" sz="11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solidFill>
                      <a:srgbClr val="4F81BD"/>
                    </a:solidFill>
                  </a:tcPr>
                </a:tc>
              </a:tr>
              <a:tr h="385762">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en-US" altLang="zh-CN" sz="16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1</a:t>
                      </a:r>
                      <a:endParaRPr kumimoji="0" lang="zh-CN"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view</a:t>
                      </a:r>
                      <a:endParaRPr kumimoji="0" lang="zh-CN"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组织</a:t>
                      </a:r>
                      <a:r>
                        <a:rPr kumimoji="0" lang="en-US"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GUI</a:t>
                      </a:r>
                      <a:r>
                        <a:rPr kumimoji="0" 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相关的子包和类</a:t>
                      </a:r>
                      <a:endParaRPr kumimoji="0" 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r>
              <a:tr h="385762">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en-US" altLang="zh-CN" sz="16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zh-CN"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biz/srv</a:t>
                      </a:r>
                      <a:endParaRPr kumimoji="0" lang="zh-CN"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业务服务的子包和类</a:t>
                      </a:r>
                      <a:endParaRPr kumimoji="0" 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r>
              <a:tr h="385762">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en-US" altLang="zh-CN" sz="16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3</a:t>
                      </a:r>
                      <a:endParaRPr kumimoji="0" lang="zh-CN"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vo</a:t>
                      </a:r>
                      <a:endParaRPr kumimoji="0" lang="zh-CN"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zh-CN" altLang="en-US" sz="16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可重用组件</a:t>
                      </a:r>
                      <a:r>
                        <a:rPr kumimoji="0" lang="en-US" altLang="zh-CN" sz="16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r>
                        <a:rPr kumimoji="0" lang="en-US" altLang="zh-CN" sz="1600" b="0" i="0" u="none" strike="noStrike" cap="none" normalizeH="0" baseline="0" dirty="0" err="1"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JavaBean</a:t>
                      </a:r>
                      <a:r>
                        <a:rPr kumimoji="0" lang="en-US" altLang="zh-CN" sz="16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a:t>
                      </a:r>
                      <a:endParaRPr kumimoji="0" lang="zh-CN" altLang="zh-CN" sz="16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r>
              <a:tr h="385762">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en-US" altLang="zh-CN" sz="16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zh-CN"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en-US" altLang="zh-CN" sz="16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dao</a:t>
                      </a:r>
                      <a:endParaRPr kumimoji="0" lang="zh-CN" altLang="zh-CN" sz="16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800"/>
                        </a:spcBef>
                        <a:spcAft>
                          <a:spcPts val="400"/>
                        </a:spcAft>
                        <a:buClrTx/>
                        <a:buSzTx/>
                        <a:buFontTx/>
                        <a:buNone/>
                      </a:pPr>
                      <a:r>
                        <a:rPr kumimoji="0" lang="zh-CN" sz="16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rPr>
                        <a:t>数据存储与访问的子包和类</a:t>
                      </a:r>
                      <a:endParaRPr kumimoji="0" lang="zh-CN" sz="1600" b="0" i="0" u="none" strike="noStrike" cap="none" normalizeH="0" baseline="0" dirty="0" smtClean="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horzOverflow="overflow">
                    <a:lnL w="12700" cap="flat" cmpd="sng" algn="ctr">
                      <a:solidFill>
                        <a:srgbClr val="4F81BD"/>
                      </a:solidFill>
                      <a:prstDash val="solid"/>
                      <a:round/>
                      <a:headEnd type="none" w="med" len="med"/>
                      <a:tailEnd type="none" w="med" len="med"/>
                    </a:lnL>
                    <a:lnR w="12700" cap="flat" cmpd="sng" algn="ctr">
                      <a:solidFill>
                        <a:srgbClr val="4F81BD"/>
                      </a:solidFill>
                      <a:prstDash val="solid"/>
                      <a:round/>
                      <a:headEnd type="none" w="med" len="med"/>
                      <a:tailEnd type="none" w="med" len="med"/>
                    </a:lnR>
                    <a:lnT w="12700" cap="flat" cmpd="sng" algn="ctr">
                      <a:solidFill>
                        <a:srgbClr val="4F81BD"/>
                      </a:solidFill>
                      <a:prstDash val="solid"/>
                      <a:round/>
                      <a:headEnd type="none" w="med" len="med"/>
                      <a:tailEnd type="none" w="med" len="med"/>
                    </a:lnT>
                    <a:lnB w="12700" cap="flat" cmpd="sng" algn="ctr">
                      <a:solidFill>
                        <a:srgbClr val="4F81BD"/>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467360" y="332740"/>
            <a:ext cx="8229600" cy="1247775"/>
          </a:xfrm>
        </p:spPr>
        <p:txBody>
          <a:bodyPr vert="horz" wrap="square" lIns="91440" tIns="45720" rIns="91440" bIns="45720" anchor="ctr" anchorCtr="0"/>
          <a:p>
            <a:pPr eaLnBrk="1" hangingPunct="1"/>
            <a:r>
              <a:rPr lang="zh-CN" altLang="zh-CN" dirty="0"/>
              <a:t>二、项目需求分析</a:t>
            </a:r>
            <a:endParaRPr lang="zh-CN" altLang="zh-CN" dirty="0"/>
          </a:p>
        </p:txBody>
      </p:sp>
      <p:sp>
        <p:nvSpPr>
          <p:cNvPr id="10243" name="Rectangle 3"/>
          <p:cNvSpPr>
            <a:spLocks noGrp="1"/>
          </p:cNvSpPr>
          <p:nvPr>
            <p:ph idx="1"/>
          </p:nvPr>
        </p:nvSpPr>
        <p:spPr>
          <a:xfrm>
            <a:off x="428625" y="1341120"/>
            <a:ext cx="8229600" cy="5373370"/>
          </a:xfrm>
        </p:spPr>
        <p:txBody>
          <a:bodyPr vert="horz" wrap="square" lIns="91440" tIns="45720" rIns="91440" bIns="45720" anchor="t" anchorCtr="0"/>
          <a:p>
            <a:pPr eaLnBrk="1" hangingPunct="1">
              <a:lnSpc>
                <a:spcPct val="90000"/>
              </a:lnSpc>
            </a:pPr>
            <a:r>
              <a:rPr lang="zh-CN" altLang="en-US" sz="2800" dirty="0"/>
              <a:t>需求描述</a:t>
            </a:r>
            <a:endParaRPr lang="zh-CN" altLang="en-US" sz="2800" dirty="0"/>
          </a:p>
          <a:p>
            <a:pPr lvl="1" eaLnBrk="1" hangingPunct="1">
              <a:lnSpc>
                <a:spcPct val="90000"/>
              </a:lnSpc>
            </a:pPr>
            <a:r>
              <a:rPr lang="zh-CN" altLang="en-US" dirty="0"/>
              <a:t>本项目开发的虚拟校园应用系统可在局域网内运行。</a:t>
            </a:r>
            <a:endParaRPr lang="zh-CN" altLang="en-US" dirty="0"/>
          </a:p>
          <a:p>
            <a:pPr lvl="1" eaLnBrk="1" hangingPunct="1">
              <a:lnSpc>
                <a:spcPct val="90000"/>
              </a:lnSpc>
            </a:pPr>
            <a:r>
              <a:rPr lang="zh-CN" altLang="en-US" dirty="0"/>
              <a:t>需求说明书</a:t>
            </a:r>
            <a:endParaRPr lang="zh-CN" altLang="en-US" dirty="0"/>
          </a:p>
          <a:p>
            <a:pPr lvl="2" eaLnBrk="1" hangingPunct="1">
              <a:lnSpc>
                <a:spcPct val="90000"/>
              </a:lnSpc>
            </a:pPr>
            <a:r>
              <a:rPr lang="zh-CN" altLang="en-US" sz="2700" dirty="0"/>
              <a:t>用户管理：学生、教师、</a:t>
            </a:r>
            <a:r>
              <a:rPr lang="zh-CN" altLang="en-US" sz="2700" u="sng" dirty="0"/>
              <a:t>管理员</a:t>
            </a:r>
            <a:endParaRPr lang="zh-CN" altLang="en-US" sz="2700" dirty="0"/>
          </a:p>
          <a:p>
            <a:pPr lvl="2" eaLnBrk="1" hangingPunct="1">
              <a:lnSpc>
                <a:spcPct val="90000"/>
              </a:lnSpc>
            </a:pPr>
            <a:r>
              <a:rPr lang="zh-CN" altLang="en-US" sz="2700" dirty="0">
                <a:sym typeface="+mn-ea"/>
              </a:rPr>
              <a:t>虚拟</a:t>
            </a:r>
            <a:r>
              <a:rPr lang="zh-CN" altLang="en-US" sz="2700" dirty="0"/>
              <a:t>学籍管理</a:t>
            </a:r>
            <a:endParaRPr lang="zh-CN" altLang="en-US" sz="2700" dirty="0"/>
          </a:p>
          <a:p>
            <a:pPr lvl="2" eaLnBrk="1" hangingPunct="1">
              <a:lnSpc>
                <a:spcPct val="90000"/>
              </a:lnSpc>
            </a:pPr>
            <a:r>
              <a:rPr lang="zh-CN" altLang="en-US" sz="2700" dirty="0">
                <a:sym typeface="+mn-ea"/>
              </a:rPr>
              <a:t>虚拟</a:t>
            </a:r>
            <a:r>
              <a:rPr lang="zh-CN" altLang="en-US" sz="2700" dirty="0"/>
              <a:t>教务管理</a:t>
            </a:r>
            <a:endParaRPr lang="en-US" altLang="zh-CN" sz="2700" dirty="0"/>
          </a:p>
          <a:p>
            <a:pPr lvl="2" eaLnBrk="1" hangingPunct="1">
              <a:lnSpc>
                <a:spcPct val="90000"/>
              </a:lnSpc>
            </a:pPr>
            <a:r>
              <a:rPr lang="zh-CN" altLang="en-US" sz="2700" dirty="0"/>
              <a:t>虚拟图书馆</a:t>
            </a:r>
            <a:endParaRPr lang="zh-CN" altLang="en-US" sz="2700" dirty="0"/>
          </a:p>
          <a:p>
            <a:pPr lvl="2" eaLnBrk="1" hangingPunct="1">
              <a:lnSpc>
                <a:spcPct val="90000"/>
              </a:lnSpc>
            </a:pPr>
            <a:r>
              <a:rPr lang="zh-CN" altLang="en-US" sz="2700" dirty="0"/>
              <a:t>虚拟商店</a:t>
            </a:r>
            <a:endParaRPr lang="zh-CN" altLang="en-US" sz="2700" dirty="0"/>
          </a:p>
          <a:p>
            <a:pPr lvl="2" eaLnBrk="1" hangingPunct="1">
              <a:lnSpc>
                <a:spcPct val="90000"/>
              </a:lnSpc>
            </a:pPr>
            <a:r>
              <a:rPr lang="zh-CN" altLang="en-US" sz="2700" dirty="0"/>
              <a:t>虚拟银行</a:t>
            </a:r>
            <a:endParaRPr lang="en-US" altLang="zh-CN" sz="2700" dirty="0"/>
          </a:p>
          <a:p>
            <a:pPr lvl="2" eaLnBrk="1" hangingPunct="1">
              <a:lnSpc>
                <a:spcPct val="90000"/>
              </a:lnSpc>
            </a:pPr>
            <a:r>
              <a:rPr lang="zh-CN" altLang="en-US" sz="2700" dirty="0"/>
              <a:t>在线课堂</a:t>
            </a:r>
            <a:endParaRPr lang="zh-CN" altLang="en-US" sz="2700" dirty="0"/>
          </a:p>
          <a:p>
            <a:pPr lvl="2" eaLnBrk="1" hangingPunct="1">
              <a:lnSpc>
                <a:spcPct val="90000"/>
              </a:lnSpc>
            </a:pPr>
            <a:r>
              <a:rPr lang="en-US" altLang="zh-CN" sz="2700" dirty="0"/>
              <a:t>AI...</a:t>
            </a:r>
            <a:endParaRPr lang="en-US" altLang="zh-CN" sz="2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idx="4294967295"/>
          </p:nvPr>
        </p:nvSpPr>
        <p:spPr>
          <a:xfrm>
            <a:off x="250825" y="476250"/>
            <a:ext cx="8229600" cy="1371600"/>
          </a:xfrm>
        </p:spPr>
        <p:txBody>
          <a:bodyPr vert="horz" wrap="square" lIns="91440" tIns="45720" rIns="91440" bIns="45720" anchor="ctr" anchorCtr="0"/>
          <a:p>
            <a:pPr eaLnBrk="1" hangingPunct="1"/>
            <a:r>
              <a:rPr lang="zh-CN" altLang="zh-CN" sz="4000" dirty="0"/>
              <a:t>功能模块划分</a:t>
            </a:r>
            <a:br>
              <a:rPr lang="zh-CN" altLang="zh-CN" sz="4000" dirty="0"/>
            </a:br>
            <a:endParaRPr lang="zh-CN" altLang="zh-CN" sz="4000" dirty="0"/>
          </a:p>
        </p:txBody>
      </p:sp>
      <p:sp>
        <p:nvSpPr>
          <p:cNvPr id="11267" name="Rectangle 3"/>
          <p:cNvSpPr/>
          <p:nvPr/>
        </p:nvSpPr>
        <p:spPr>
          <a:xfrm>
            <a:off x="2844800" y="1557338"/>
            <a:ext cx="3240088" cy="7921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algn="ctr"/>
            <a:r>
              <a:rPr lang="zh-CN" altLang="en-US" dirty="0">
                <a:latin typeface="Arial" panose="020B0604020202020204" pitchFamily="34" charset="0"/>
              </a:rPr>
              <a:t>虚拟校园应用系统</a:t>
            </a:r>
            <a:endParaRPr lang="zh-CN" altLang="en-US" dirty="0">
              <a:latin typeface="Arial" panose="020B0604020202020204" pitchFamily="34" charset="0"/>
            </a:endParaRPr>
          </a:p>
        </p:txBody>
      </p:sp>
      <p:sp>
        <p:nvSpPr>
          <p:cNvPr id="11268" name="Rectangle 4"/>
          <p:cNvSpPr/>
          <p:nvPr/>
        </p:nvSpPr>
        <p:spPr>
          <a:xfrm>
            <a:off x="722313" y="3573463"/>
            <a:ext cx="720725" cy="2447925"/>
          </a:xfrm>
          <a:prstGeom prst="rect">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lgn="ctr"/>
            <a:r>
              <a:rPr lang="zh-CN" altLang="en-US" dirty="0">
                <a:latin typeface="Arial" panose="020B0604020202020204" pitchFamily="34" charset="0"/>
              </a:rPr>
              <a:t>系统登录</a:t>
            </a:r>
            <a:endParaRPr lang="zh-CN" altLang="en-US" dirty="0">
              <a:latin typeface="Arial" panose="020B0604020202020204" pitchFamily="34" charset="0"/>
            </a:endParaRPr>
          </a:p>
        </p:txBody>
      </p:sp>
      <p:sp>
        <p:nvSpPr>
          <p:cNvPr id="11269" name="Rectangle 5"/>
          <p:cNvSpPr/>
          <p:nvPr/>
        </p:nvSpPr>
        <p:spPr>
          <a:xfrm>
            <a:off x="1874838" y="3573463"/>
            <a:ext cx="719137" cy="2447925"/>
          </a:xfrm>
          <a:prstGeom prst="rect">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lgn="ctr"/>
            <a:r>
              <a:rPr lang="zh-CN" altLang="en-US" dirty="0">
                <a:latin typeface="Arial" panose="020B0604020202020204" pitchFamily="34" charset="0"/>
              </a:rPr>
              <a:t>用户信息管理</a:t>
            </a:r>
            <a:endParaRPr lang="zh-CN" altLang="en-US" dirty="0">
              <a:latin typeface="Arial" panose="020B0604020202020204" pitchFamily="34" charset="0"/>
            </a:endParaRPr>
          </a:p>
        </p:txBody>
      </p:sp>
      <p:sp>
        <p:nvSpPr>
          <p:cNvPr id="11270" name="Rectangle 6"/>
          <p:cNvSpPr/>
          <p:nvPr/>
        </p:nvSpPr>
        <p:spPr>
          <a:xfrm>
            <a:off x="2955925" y="3573463"/>
            <a:ext cx="719138" cy="2447925"/>
          </a:xfrm>
          <a:prstGeom prst="rect">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lgn="ctr"/>
            <a:r>
              <a:rPr lang="zh-CN" altLang="en-US" dirty="0">
                <a:latin typeface="Arial" panose="020B0604020202020204" pitchFamily="34" charset="0"/>
              </a:rPr>
              <a:t>课程管理</a:t>
            </a:r>
            <a:endParaRPr lang="zh-CN" altLang="en-US" dirty="0">
              <a:latin typeface="Arial" panose="020B0604020202020204" pitchFamily="34" charset="0"/>
            </a:endParaRPr>
          </a:p>
        </p:txBody>
      </p:sp>
      <p:sp>
        <p:nvSpPr>
          <p:cNvPr id="11271" name="Rectangle 7"/>
          <p:cNvSpPr/>
          <p:nvPr/>
        </p:nvSpPr>
        <p:spPr>
          <a:xfrm>
            <a:off x="4106863" y="3573463"/>
            <a:ext cx="720725" cy="2447925"/>
          </a:xfrm>
          <a:prstGeom prst="rect">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lgn="ctr"/>
            <a:r>
              <a:rPr lang="zh-CN" altLang="en-US" dirty="0">
                <a:latin typeface="Arial" panose="020B0604020202020204" pitchFamily="34" charset="0"/>
              </a:rPr>
              <a:t>课表管理</a:t>
            </a:r>
            <a:endParaRPr lang="zh-CN" altLang="en-US" dirty="0">
              <a:latin typeface="Arial" panose="020B0604020202020204" pitchFamily="34" charset="0"/>
            </a:endParaRPr>
          </a:p>
        </p:txBody>
      </p:sp>
      <p:sp>
        <p:nvSpPr>
          <p:cNvPr id="11272" name="Rectangle 8"/>
          <p:cNvSpPr/>
          <p:nvPr/>
        </p:nvSpPr>
        <p:spPr>
          <a:xfrm>
            <a:off x="5330825" y="3573463"/>
            <a:ext cx="720725" cy="2447925"/>
          </a:xfrm>
          <a:prstGeom prst="rect">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lgn="ctr"/>
            <a:r>
              <a:rPr lang="zh-CN" altLang="en-US" dirty="0">
                <a:latin typeface="Arial" panose="020B0604020202020204" pitchFamily="34" charset="0"/>
              </a:rPr>
              <a:t>虚拟商店</a:t>
            </a:r>
            <a:endParaRPr lang="zh-CN" altLang="en-US" dirty="0">
              <a:latin typeface="Arial" panose="020B0604020202020204" pitchFamily="34" charset="0"/>
            </a:endParaRPr>
          </a:p>
        </p:txBody>
      </p:sp>
      <p:sp>
        <p:nvSpPr>
          <p:cNvPr id="11273" name="Rectangle 9"/>
          <p:cNvSpPr/>
          <p:nvPr/>
        </p:nvSpPr>
        <p:spPr>
          <a:xfrm>
            <a:off x="6411913" y="3573463"/>
            <a:ext cx="720725" cy="2447925"/>
          </a:xfrm>
          <a:prstGeom prst="rect">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lgn="ctr"/>
            <a:r>
              <a:rPr lang="zh-CN" altLang="en-US" dirty="0">
                <a:latin typeface="Arial" panose="020B0604020202020204" pitchFamily="34" charset="0"/>
              </a:rPr>
              <a:t>虚拟图书馆</a:t>
            </a:r>
            <a:endParaRPr lang="zh-CN" altLang="en-US" b="0" dirty="0">
              <a:latin typeface="Arial" panose="020B0604020202020204" pitchFamily="34" charset="0"/>
            </a:endParaRPr>
          </a:p>
        </p:txBody>
      </p:sp>
      <p:sp>
        <p:nvSpPr>
          <p:cNvPr id="11274" name="Rectangle 10"/>
          <p:cNvSpPr/>
          <p:nvPr/>
        </p:nvSpPr>
        <p:spPr>
          <a:xfrm>
            <a:off x="7564438" y="3573463"/>
            <a:ext cx="719137" cy="2447925"/>
          </a:xfrm>
          <a:prstGeom prst="rect">
            <a:avLst/>
          </a:prstGeom>
          <a:solidFill>
            <a:schemeClr val="accent1"/>
          </a:solidFill>
          <a:ln w="9525" cap="flat" cmpd="sng">
            <a:solidFill>
              <a:schemeClr val="tx1"/>
            </a:solidFill>
            <a:prstDash val="solid"/>
            <a:miter/>
            <a:headEnd type="none" w="med" len="med"/>
            <a:tailEnd type="none" w="med" len="med"/>
          </a:ln>
        </p:spPr>
        <p:txBody>
          <a:bodyPr vert="eaVert" wrap="none" anchor="ctr" anchorCtr="0"/>
          <a:p>
            <a:pPr algn="ctr"/>
            <a:r>
              <a:rPr lang="zh-CN" altLang="en-US" dirty="0">
                <a:latin typeface="Arial" panose="020B0604020202020204" pitchFamily="34" charset="0"/>
              </a:rPr>
              <a:t>其他应用</a:t>
            </a:r>
            <a:endParaRPr lang="zh-CN" altLang="en-US" dirty="0">
              <a:latin typeface="Arial" panose="020B0604020202020204" pitchFamily="34" charset="0"/>
            </a:endParaRPr>
          </a:p>
        </p:txBody>
      </p:sp>
      <p:cxnSp>
        <p:nvCxnSpPr>
          <p:cNvPr id="11275" name="AutoShape 11"/>
          <p:cNvCxnSpPr>
            <a:stCxn id="11267" idx="2"/>
            <a:endCxn id="11268" idx="0"/>
          </p:cNvCxnSpPr>
          <p:nvPr/>
        </p:nvCxnSpPr>
        <p:spPr>
          <a:xfrm rot="5400000">
            <a:off x="2160588" y="1268413"/>
            <a:ext cx="1222375" cy="3381375"/>
          </a:xfrm>
          <a:prstGeom prst="bentConnector3">
            <a:avLst>
              <a:gd name="adj1" fmla="val 50051"/>
            </a:avLst>
          </a:prstGeom>
          <a:ln w="9525" cap="flat" cmpd="sng">
            <a:solidFill>
              <a:schemeClr val="tx1"/>
            </a:solidFill>
            <a:prstDash val="solid"/>
            <a:miter/>
            <a:headEnd type="none" w="med" len="med"/>
            <a:tailEnd type="triangle" w="med" len="med"/>
          </a:ln>
        </p:spPr>
      </p:cxnSp>
      <p:cxnSp>
        <p:nvCxnSpPr>
          <p:cNvPr id="11276" name="AutoShape 12"/>
          <p:cNvCxnSpPr>
            <a:stCxn id="11267" idx="2"/>
            <a:endCxn id="11269" idx="0"/>
          </p:cNvCxnSpPr>
          <p:nvPr/>
        </p:nvCxnSpPr>
        <p:spPr>
          <a:xfrm rot="5400000">
            <a:off x="2736850" y="1844675"/>
            <a:ext cx="1223963" cy="2230438"/>
          </a:xfrm>
          <a:prstGeom prst="bentConnector3">
            <a:avLst>
              <a:gd name="adj1" fmla="val 50051"/>
            </a:avLst>
          </a:prstGeom>
          <a:ln w="9525" cap="flat" cmpd="sng">
            <a:solidFill>
              <a:schemeClr val="tx1"/>
            </a:solidFill>
            <a:prstDash val="solid"/>
            <a:miter/>
            <a:headEnd type="none" w="med" len="med"/>
            <a:tailEnd type="triangle" w="med" len="med"/>
          </a:ln>
        </p:spPr>
      </p:cxnSp>
      <p:cxnSp>
        <p:nvCxnSpPr>
          <p:cNvPr id="11277" name="AutoShape 13"/>
          <p:cNvCxnSpPr>
            <a:stCxn id="11267" idx="2"/>
            <a:endCxn id="11270" idx="0"/>
          </p:cNvCxnSpPr>
          <p:nvPr/>
        </p:nvCxnSpPr>
        <p:spPr>
          <a:xfrm rot="5400000">
            <a:off x="3275013" y="2382838"/>
            <a:ext cx="1223962" cy="1149350"/>
          </a:xfrm>
          <a:prstGeom prst="bentConnector3">
            <a:avLst>
              <a:gd name="adj1" fmla="val 50051"/>
            </a:avLst>
          </a:prstGeom>
          <a:ln w="9525" cap="flat" cmpd="sng">
            <a:solidFill>
              <a:schemeClr val="tx1"/>
            </a:solidFill>
            <a:prstDash val="solid"/>
            <a:miter/>
            <a:headEnd type="none" w="med" len="med"/>
            <a:tailEnd type="triangle" w="med" len="med"/>
          </a:ln>
        </p:spPr>
      </p:cxnSp>
      <p:cxnSp>
        <p:nvCxnSpPr>
          <p:cNvPr id="11278" name="AutoShape 14"/>
          <p:cNvCxnSpPr>
            <a:stCxn id="11267" idx="2"/>
            <a:endCxn id="11271" idx="0"/>
          </p:cNvCxnSpPr>
          <p:nvPr/>
        </p:nvCxnSpPr>
        <p:spPr>
          <a:xfrm rot="-5400000" flipH="1">
            <a:off x="3848100" y="2954338"/>
            <a:ext cx="1223963" cy="3175"/>
          </a:xfrm>
          <a:prstGeom prst="bentConnector3">
            <a:avLst>
              <a:gd name="adj1" fmla="val 50051"/>
            </a:avLst>
          </a:prstGeom>
          <a:ln w="9525" cap="flat" cmpd="sng">
            <a:solidFill>
              <a:schemeClr val="tx1"/>
            </a:solidFill>
            <a:prstDash val="solid"/>
            <a:miter/>
            <a:headEnd type="none" w="med" len="med"/>
            <a:tailEnd type="triangle" w="med" len="med"/>
          </a:ln>
        </p:spPr>
      </p:cxnSp>
      <p:cxnSp>
        <p:nvCxnSpPr>
          <p:cNvPr id="11279" name="AutoShape 15"/>
          <p:cNvCxnSpPr>
            <a:stCxn id="11267" idx="2"/>
            <a:endCxn id="11272" idx="0"/>
          </p:cNvCxnSpPr>
          <p:nvPr/>
        </p:nvCxnSpPr>
        <p:spPr>
          <a:xfrm rot="-5400000" flipH="1">
            <a:off x="4465638" y="2347913"/>
            <a:ext cx="1223962" cy="1227137"/>
          </a:xfrm>
          <a:prstGeom prst="bentConnector3">
            <a:avLst>
              <a:gd name="adj1" fmla="val 50051"/>
            </a:avLst>
          </a:prstGeom>
          <a:ln w="9525" cap="flat" cmpd="sng">
            <a:solidFill>
              <a:schemeClr val="tx1"/>
            </a:solidFill>
            <a:prstDash val="solid"/>
            <a:miter/>
            <a:headEnd type="none" w="med" len="med"/>
            <a:tailEnd type="triangle" w="med" len="med"/>
          </a:ln>
        </p:spPr>
      </p:cxnSp>
      <p:cxnSp>
        <p:nvCxnSpPr>
          <p:cNvPr id="11280" name="AutoShape 16"/>
          <p:cNvCxnSpPr>
            <a:stCxn id="11267" idx="2"/>
            <a:endCxn id="11273" idx="0"/>
          </p:cNvCxnSpPr>
          <p:nvPr/>
        </p:nvCxnSpPr>
        <p:spPr>
          <a:xfrm rot="-5400000" flipH="1">
            <a:off x="5000625" y="1801813"/>
            <a:ext cx="1223963" cy="2308225"/>
          </a:xfrm>
          <a:prstGeom prst="bentConnector3">
            <a:avLst>
              <a:gd name="adj1" fmla="val 50051"/>
            </a:avLst>
          </a:prstGeom>
          <a:ln w="9525" cap="flat" cmpd="sng">
            <a:solidFill>
              <a:schemeClr val="tx1"/>
            </a:solidFill>
            <a:prstDash val="solid"/>
            <a:miter/>
            <a:headEnd type="none" w="med" len="med"/>
            <a:tailEnd type="triangle" w="med" len="med"/>
          </a:ln>
        </p:spPr>
      </p:cxnSp>
      <p:cxnSp>
        <p:nvCxnSpPr>
          <p:cNvPr id="11281" name="AutoShape 17"/>
          <p:cNvCxnSpPr>
            <a:stCxn id="11267" idx="2"/>
            <a:endCxn id="11274" idx="0"/>
          </p:cNvCxnSpPr>
          <p:nvPr/>
        </p:nvCxnSpPr>
        <p:spPr>
          <a:xfrm rot="-5400000" flipH="1">
            <a:off x="5581650" y="1231900"/>
            <a:ext cx="1223963" cy="3459163"/>
          </a:xfrm>
          <a:prstGeom prst="bentConnector3">
            <a:avLst>
              <a:gd name="adj1" fmla="val 50051"/>
            </a:avLst>
          </a:prstGeom>
          <a:ln w="9525" cap="flat" cmpd="sng">
            <a:solidFill>
              <a:schemeClr val="tx1"/>
            </a:solidFill>
            <a:prstDash val="solid"/>
            <a:miter/>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idx="1"/>
          </p:nvPr>
        </p:nvSpPr>
        <p:spPr>
          <a:xfrm>
            <a:off x="457200" y="1916113"/>
            <a:ext cx="8362950" cy="4681537"/>
          </a:xfrm>
        </p:spPr>
        <p:txBody>
          <a:bodyPr vert="horz" wrap="square" lIns="91440" tIns="45720" rIns="91440" bIns="45720" anchor="t" anchorCtr="0"/>
          <a:p>
            <a:pPr eaLnBrk="1" hangingPunct="1"/>
            <a:r>
              <a:rPr lang="zh-CN" altLang="zh-CN" dirty="0"/>
              <a:t>总体设计</a:t>
            </a:r>
            <a:endParaRPr lang="zh-CN" altLang="zh-CN" dirty="0"/>
          </a:p>
          <a:p>
            <a:pPr eaLnBrk="1" hangingPunct="1"/>
            <a:r>
              <a:rPr lang="zh-CN" altLang="zh-CN" dirty="0"/>
              <a:t>数据库设计</a:t>
            </a:r>
            <a:endParaRPr lang="zh-CN" altLang="zh-CN" dirty="0"/>
          </a:p>
        </p:txBody>
      </p:sp>
      <p:sp>
        <p:nvSpPr>
          <p:cNvPr id="12291" name="Rectangle 3"/>
          <p:cNvSpPr>
            <a:spLocks noGrp="1"/>
          </p:cNvSpPr>
          <p:nvPr>
            <p:ph type="title"/>
          </p:nvPr>
        </p:nvSpPr>
        <p:spPr/>
        <p:txBody>
          <a:bodyPr vert="horz" wrap="square" lIns="91440" tIns="45720" rIns="91440" bIns="45720" anchor="ctr" anchorCtr="0"/>
          <a:p>
            <a:pPr eaLnBrk="1" hangingPunct="1"/>
            <a:r>
              <a:rPr lang="zh-CN" altLang="zh-CN" dirty="0"/>
              <a:t>三、概要设计</a:t>
            </a:r>
            <a:endParaRPr lang="zh-CN"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noChangeArrowheads="1"/>
          </p:cNvSpPr>
          <p:nvPr>
            <p:ph idx="1"/>
          </p:nvPr>
        </p:nvSpPr>
        <p:spPr>
          <a:xfrm>
            <a:off x="457200" y="1628775"/>
            <a:ext cx="8329613" cy="4968875"/>
          </a:xfrm>
        </p:spPr>
        <p:txBody>
          <a:bodyPr vert="horz" wrap="square" lIns="91440" tIns="45720" rIns="91440" bIns="45720" numCol="1" anchor="t" anchorCtr="0" compatLnSpc="1"/>
          <a:lstStyle/>
          <a:p>
            <a:pPr marL="342900" marR="0" lvl="0" indent="-342900" algn="just"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en-US" b="1" i="0" u="none" strike="noStrike" kern="0" cap="none" spc="0" normalizeH="0" baseline="0" noProof="0" dirty="0" smtClean="0">
                <a:ln>
                  <a:noFill/>
                </a:ln>
                <a:solidFill>
                  <a:schemeClr val="tx1"/>
                </a:solidFill>
                <a:effectLst/>
                <a:uLnTx/>
                <a:uFillTx/>
                <a:latin typeface="+mn-lt"/>
                <a:ea typeface="+mn-ea"/>
                <a:cs typeface="+mn-cs"/>
              </a:rPr>
              <a:t>本项目的设计，服务器端与客户端都采用Java作为开发语言，使用</a:t>
            </a:r>
            <a:r>
              <a:rPr kumimoji="0" lang="zh-CN" altLang="en-US" b="1" i="0" u="none" strike="noStrike" kern="0" cap="none" spc="0" normalizeH="0" baseline="0" noProof="0" dirty="0" smtClean="0">
                <a:ln>
                  <a:noFill/>
                </a:ln>
                <a:solidFill>
                  <a:srgbClr val="FF0000"/>
                </a:solidFill>
                <a:effectLst/>
                <a:uLnTx/>
                <a:uFillTx/>
                <a:latin typeface="+mn-lt"/>
                <a:ea typeface="+mn-ea"/>
                <a:cs typeface="+mn-cs"/>
              </a:rPr>
              <a:t>Access</a:t>
            </a:r>
            <a:r>
              <a:rPr kumimoji="0" lang="en-US" altLang="zh-CN" b="1" i="0" u="none" strike="noStrike" kern="0" cap="none" spc="0" normalizeH="0" baseline="0" noProof="0" dirty="0" smtClean="0">
                <a:ln>
                  <a:noFill/>
                </a:ln>
                <a:solidFill>
                  <a:srgbClr val="FF0000"/>
                </a:solidFill>
                <a:effectLst/>
                <a:uLnTx/>
                <a:uFillTx/>
                <a:latin typeface="+mn-lt"/>
                <a:ea typeface="+mn-ea"/>
                <a:cs typeface="+mn-cs"/>
              </a:rPr>
              <a:t>/MySQL</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管理数据库数据。</a:t>
            </a:r>
            <a:endParaRPr kumimoji="0" lang="zh-CN" altLang="en-US"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en-US" b="1" i="0" u="none" strike="noStrike" kern="0" cap="none" spc="0" normalizeH="0" baseline="0" noProof="0" dirty="0" smtClean="0">
                <a:ln>
                  <a:noFill/>
                </a:ln>
                <a:solidFill>
                  <a:schemeClr val="bg2">
                    <a:lumMod val="60000"/>
                    <a:lumOff val="40000"/>
                  </a:schemeClr>
                </a:solidFill>
                <a:effectLst/>
                <a:uLnTx/>
                <a:uFillTx/>
                <a:latin typeface="+mn-lt"/>
                <a:ea typeface="+mn-ea"/>
                <a:cs typeface="+mn-cs"/>
              </a:rPr>
              <a:t>服务器</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是后台支持程序，可</a:t>
            </a:r>
            <a:r>
              <a:rPr kumimoji="0" lang="zh-CN" altLang="en-US" b="1" i="0" u="none" strike="noStrike" kern="0" cap="none" spc="0" normalizeH="0" baseline="0" noProof="0" dirty="0" smtClean="0">
                <a:ln>
                  <a:noFill/>
                </a:ln>
                <a:solidFill>
                  <a:schemeClr val="bg2">
                    <a:lumMod val="60000"/>
                    <a:lumOff val="40000"/>
                  </a:schemeClr>
                </a:solidFill>
                <a:effectLst/>
                <a:uLnTx/>
                <a:uFillTx/>
                <a:latin typeface="+mn-lt"/>
                <a:ea typeface="+mn-ea"/>
                <a:cs typeface="+mn-cs"/>
              </a:rPr>
              <a:t>按需</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进行GUI界面设计。</a:t>
            </a:r>
            <a:endParaRPr kumimoji="0" lang="zh-CN" altLang="en-US"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en-US" b="1" i="0" u="none" strike="noStrike" kern="0" cap="none" spc="0" normalizeH="0" baseline="0" noProof="0" dirty="0" smtClean="0">
                <a:ln>
                  <a:noFill/>
                </a:ln>
                <a:solidFill>
                  <a:schemeClr val="bg2">
                    <a:lumMod val="60000"/>
                    <a:lumOff val="40000"/>
                  </a:schemeClr>
                </a:solidFill>
                <a:effectLst/>
                <a:uLnTx/>
                <a:uFillTx/>
                <a:latin typeface="+mn-lt"/>
                <a:ea typeface="+mn-ea"/>
                <a:cs typeface="+mn-cs"/>
              </a:rPr>
              <a:t>客户端</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程序面向实际用户，要设计友好的界面。</a:t>
            </a:r>
            <a:endParaRPr kumimoji="0" lang="zh-CN" altLang="en-US"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just"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en-US" b="1" i="0" u="none" strike="noStrike" kern="0" cap="none" spc="0" normalizeH="0" baseline="0" noProof="0" dirty="0" smtClean="0">
                <a:ln>
                  <a:noFill/>
                </a:ln>
                <a:solidFill>
                  <a:schemeClr val="tx1"/>
                </a:solidFill>
                <a:effectLst/>
                <a:uLnTx/>
                <a:uFillTx/>
                <a:latin typeface="+mn-lt"/>
                <a:ea typeface="+mn-ea"/>
                <a:cs typeface="+mn-cs"/>
              </a:rPr>
              <a:t>实现方面，主要采用</a:t>
            </a:r>
            <a:r>
              <a:rPr kumimoji="0" lang="zh-CN" altLang="en-US" b="1" i="0" u="none" strike="noStrike" kern="0" cap="none" spc="0" normalizeH="0" baseline="0" noProof="0" dirty="0" smtClean="0">
                <a:ln>
                  <a:noFill/>
                </a:ln>
                <a:solidFill>
                  <a:schemeClr val="bg2">
                    <a:lumMod val="60000"/>
                    <a:lumOff val="40000"/>
                  </a:schemeClr>
                </a:solidFill>
                <a:effectLst/>
                <a:uLnTx/>
                <a:uFillTx/>
                <a:latin typeface="宋体" panose="02010600030101010101" pitchFamily="2" charset="-122"/>
                <a:ea typeface="+mn-ea"/>
                <a:cs typeface="+mn-cs"/>
              </a:rPr>
              <a:t>Socket</a:t>
            </a:r>
            <a:r>
              <a:rPr kumimoji="0" lang="zh-CN" altLang="en-US" b="1" i="0" u="none" strike="noStrike" kern="0" cap="none" spc="0" normalizeH="0" baseline="0" noProof="0" dirty="0" smtClean="0">
                <a:ln>
                  <a:noFill/>
                </a:ln>
                <a:solidFill>
                  <a:schemeClr val="bg2">
                    <a:lumMod val="60000"/>
                    <a:lumOff val="40000"/>
                  </a:schemeClr>
                </a:solidFill>
                <a:effectLst/>
                <a:uLnTx/>
                <a:uFillTx/>
                <a:latin typeface="+mn-lt"/>
                <a:ea typeface="+mn-ea"/>
                <a:cs typeface="+mn-cs"/>
              </a:rPr>
              <a:t>网络编程、多线程、输入输出流</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等技术来实现</a:t>
            </a:r>
            <a:r>
              <a:rPr kumimoji="0" lang="zh-CN" altLang="en-US" b="1" i="0" u="none" strike="noStrike" kern="0" cap="none" spc="0" normalizeH="0" baseline="0" noProof="0" dirty="0" smtClean="0">
                <a:ln>
                  <a:noFill/>
                </a:ln>
                <a:solidFill>
                  <a:schemeClr val="bg2">
                    <a:lumMod val="60000"/>
                    <a:lumOff val="40000"/>
                  </a:schemeClr>
                </a:solidFill>
                <a:effectLst/>
                <a:uLnTx/>
                <a:uFillTx/>
                <a:latin typeface="宋体" panose="02010600030101010101" pitchFamily="2" charset="-122"/>
                <a:ea typeface="+mn-ea"/>
                <a:cs typeface="+mn-cs"/>
              </a:rPr>
              <a:t>Swing</a:t>
            </a:r>
            <a:r>
              <a:rPr kumimoji="0" lang="zh-CN" altLang="en-US" b="1" i="0" u="none" strike="noStrike" kern="0" cap="none" spc="0" normalizeH="0" baseline="0" noProof="0" dirty="0" smtClean="0">
                <a:ln>
                  <a:noFill/>
                </a:ln>
                <a:solidFill>
                  <a:schemeClr val="bg2">
                    <a:lumMod val="60000"/>
                    <a:lumOff val="40000"/>
                  </a:schemeClr>
                </a:solidFill>
                <a:effectLst/>
                <a:uLnTx/>
                <a:uFillTx/>
                <a:latin typeface="+mn-lt"/>
                <a:ea typeface="+mn-ea"/>
                <a:cs typeface="+mn-cs"/>
              </a:rPr>
              <a:t>界面编程</a:t>
            </a:r>
            <a:r>
              <a:rPr kumimoji="0" lang="zh-CN" altLang="en-US"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13315" name="Rectangle 3"/>
          <p:cNvSpPr>
            <a:spLocks noGrp="1"/>
          </p:cNvSpPr>
          <p:nvPr>
            <p:ph type="title"/>
          </p:nvPr>
        </p:nvSpPr>
        <p:spPr/>
        <p:txBody>
          <a:bodyPr vert="horz" wrap="square" lIns="91440" tIns="45720" rIns="91440" bIns="45720" anchor="ctr" anchorCtr="0"/>
          <a:p>
            <a:pPr eaLnBrk="1" hangingPunct="1"/>
            <a:r>
              <a:rPr lang="zh-CN" altLang="zh-CN" dirty="0">
                <a:solidFill>
                  <a:srgbClr val="FF0000"/>
                </a:solidFill>
              </a:rPr>
              <a:t>总体设计</a:t>
            </a:r>
            <a:endParaRPr lang="zh-CN" altLang="zh-CN"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395288" y="322263"/>
            <a:ext cx="8229600" cy="1049337"/>
          </a:xfrm>
        </p:spPr>
        <p:txBody>
          <a:bodyPr vert="horz" wrap="square" lIns="91440" tIns="45720" rIns="91440" bIns="45720" anchor="ctr" anchorCtr="0"/>
          <a:p>
            <a:pPr eaLnBrk="1" hangingPunct="1"/>
            <a:r>
              <a:rPr lang="zh-CN" altLang="zh-CN" dirty="0">
                <a:solidFill>
                  <a:srgbClr val="FF0000"/>
                </a:solidFill>
              </a:rPr>
              <a:t>总体设计</a:t>
            </a:r>
            <a:endParaRPr lang="zh-CN" altLang="zh-CN" dirty="0">
              <a:solidFill>
                <a:srgbClr val="FF0000"/>
              </a:solidFill>
            </a:endParaRPr>
          </a:p>
        </p:txBody>
      </p:sp>
      <p:sp>
        <p:nvSpPr>
          <p:cNvPr id="16387" name="Rectangle 3"/>
          <p:cNvSpPr>
            <a:spLocks noGrp="1" noChangeArrowheads="1"/>
          </p:cNvSpPr>
          <p:nvPr>
            <p:ph idx="1"/>
          </p:nvPr>
        </p:nvSpPr>
        <p:spPr>
          <a:xfrm>
            <a:off x="396875" y="1341438"/>
            <a:ext cx="8569325" cy="5184775"/>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采用C/S模式，是一个三层的C/S结构：</a:t>
            </a:r>
            <a:endParaRPr kumimoji="0" lang="en-US" altLang="zh-CN"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None/>
              <a:defRPr/>
            </a:pP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3200" b="1" i="0" u="none" strike="noStrike" kern="0" cap="none" spc="0" normalizeH="0" baseline="0" noProof="0" dirty="0" smtClean="0">
                <a:ln>
                  <a:noFill/>
                </a:ln>
                <a:solidFill>
                  <a:schemeClr val="accent1">
                    <a:lumMod val="75000"/>
                  </a:schemeClr>
                </a:solidFill>
                <a:effectLst/>
                <a:uLnTx/>
                <a:uFillTx/>
                <a:latin typeface="+mn-lt"/>
                <a:ea typeface="+mn-ea"/>
                <a:cs typeface="+mn-cs"/>
              </a:rPr>
              <a:t>数据库</a:t>
            </a:r>
            <a:r>
              <a:rPr kumimoji="0" lang="zh-CN" altLang="en-US" sz="3200" b="1" i="0" u="none" strike="noStrike" kern="0" cap="none" spc="0" normalizeH="0" baseline="0" noProof="0" dirty="0" smtClean="0">
                <a:ln>
                  <a:noFill/>
                </a:ln>
                <a:solidFill>
                  <a:schemeClr val="accent1">
                    <a:lumMod val="75000"/>
                  </a:schemeClr>
                </a:solidFill>
                <a:effectLst/>
                <a:uLnTx/>
                <a:uFillTx/>
                <a:latin typeface="+mn-lt"/>
                <a:ea typeface="+mn-ea"/>
                <a:cs typeface="+mn-cs"/>
                <a:sym typeface="Wingdings" panose="05000000000000000000" pitchFamily="2" charset="2"/>
              </a:rPr>
              <a:t>应用服务器应用程序客户端</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客户端（客户层</a:t>
            </a: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客户层，也叫应用</a:t>
            </a:r>
            <a:r>
              <a:rPr kumimoji="0" lang="zh-CN" altLang="en-US" sz="2800" b="1" i="0" u="none" strike="noStrike" kern="0" cap="none" spc="0" normalizeH="0" baseline="0" noProof="0" dirty="0" smtClean="0">
                <a:ln>
                  <a:noFill/>
                </a:ln>
                <a:solidFill>
                  <a:schemeClr val="bg2">
                    <a:lumMod val="60000"/>
                    <a:lumOff val="40000"/>
                  </a:schemeClr>
                </a:solidFill>
                <a:effectLst/>
                <a:uLnTx/>
                <a:uFillTx/>
                <a:latin typeface="+mn-lt"/>
                <a:ea typeface="+mn-ea"/>
                <a:cs typeface="+mn-ea"/>
              </a:rPr>
              <a:t>表示层</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，是应用程序的用户接口部分。客户层担负着用户与应用之间的对话功能。它用于检查用户的输入数据，显示应用的输出数据。</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为使用户能直观地进行操作，客户层需要使用图形用户接口。</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90000"/>
              </a:lnSpc>
              <a:spcBef>
                <a:spcPct val="20000"/>
              </a:spcBef>
              <a:spcAft>
                <a:spcPct val="0"/>
              </a:spcAft>
              <a:buClr>
                <a:schemeClr val="accent2"/>
              </a:buClr>
              <a:buSzPct val="80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客户端可直接按照已分配的账号登录。</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noChangeArrowheads="1"/>
          </p:cNvSpPr>
          <p:nvPr>
            <p:ph idx="1"/>
          </p:nvPr>
        </p:nvSpPr>
        <p:spPr>
          <a:xfrm>
            <a:off x="395288" y="692150"/>
            <a:ext cx="8229600" cy="52466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3200" b="1" i="0" u="none" strike="noStrike" kern="0" cap="none" spc="0" normalizeH="0" baseline="0" noProof="0" dirty="0" smtClean="0">
                <a:ln>
                  <a:noFill/>
                </a:ln>
                <a:solidFill>
                  <a:schemeClr val="tx1"/>
                </a:solidFill>
                <a:effectLst/>
                <a:uLnTx/>
                <a:uFillTx/>
                <a:latin typeface="+mn-lt"/>
                <a:ea typeface="+mn-ea"/>
                <a:cs typeface="+mn-cs"/>
              </a:rPr>
              <a:t>服务器端（服务层</a:t>
            </a:r>
            <a:r>
              <a:rPr kumimoji="0" lang="zh-CN" sz="3200" b="1" i="0" u="none" strike="noStrike" kern="0" cap="none" spc="0" normalizeH="0" baseline="0" noProof="0" dirty="0" smtClean="0">
                <a:ln>
                  <a:noFill/>
                </a:ln>
                <a:solidFill>
                  <a:schemeClr val="tx1"/>
                </a:solidFill>
                <a:effectLst/>
                <a:uLnTx/>
                <a:uFillTx/>
                <a:latin typeface="+mn-lt"/>
                <a:ea typeface="+mn-ea"/>
                <a:cs typeface="+mn-cs"/>
              </a:rPr>
              <a:t>）</a:t>
            </a:r>
            <a:endParaRPr kumimoji="0" lang="zh-CN" sz="3200" b="1"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sz="2800" b="1" i="0" u="none" strike="noStrike" kern="0" cap="none" spc="0" normalizeH="0" baseline="0" noProof="0" dirty="0" smtClean="0">
                <a:ln>
                  <a:noFill/>
                </a:ln>
                <a:solidFill>
                  <a:schemeClr val="tx1"/>
                </a:solidFill>
                <a:effectLst/>
                <a:uLnTx/>
                <a:uFillTx/>
                <a:latin typeface="+mn-lt"/>
                <a:ea typeface="+mn-ea"/>
                <a:cs typeface="+mn-ea"/>
              </a:rPr>
              <a:t>服务层又叫</a:t>
            </a:r>
            <a:r>
              <a:rPr kumimoji="0" lang="zh-CN" sz="2800" b="1" i="0" u="none" strike="noStrike" kern="0" cap="none" spc="0" normalizeH="0" baseline="0" noProof="0" dirty="0" smtClean="0">
                <a:ln>
                  <a:noFill/>
                </a:ln>
                <a:solidFill>
                  <a:schemeClr val="bg2">
                    <a:lumMod val="60000"/>
                    <a:lumOff val="40000"/>
                  </a:schemeClr>
                </a:solidFill>
                <a:effectLst/>
                <a:uLnTx/>
                <a:uFillTx/>
                <a:latin typeface="+mn-lt"/>
                <a:ea typeface="+mn-ea"/>
                <a:cs typeface="+mn-ea"/>
              </a:rPr>
              <a:t>功能层</a:t>
            </a:r>
            <a:r>
              <a:rPr kumimoji="0" lang="zh-CN" sz="2800" b="1" i="0" u="none" strike="noStrike" kern="0" cap="none" spc="0" normalizeH="0" baseline="0" noProof="0" dirty="0" smtClean="0">
                <a:ln>
                  <a:noFill/>
                </a:ln>
                <a:solidFill>
                  <a:schemeClr val="tx1"/>
                </a:solidFill>
                <a:effectLst/>
                <a:uLnTx/>
                <a:uFillTx/>
                <a:latin typeface="+mn-lt"/>
                <a:ea typeface="+mn-ea"/>
                <a:cs typeface="+mn-ea"/>
              </a:rPr>
              <a:t>，相当于应用的本体，它是将具体的业务处理逻辑编入程序中。</a:t>
            </a:r>
            <a:endParaRPr kumimoji="0" lang="zh-CN" sz="2800" b="1" i="0" u="none" strike="noStrike" kern="0" cap="none" spc="0" normalizeH="0" baseline="0" noProof="0" dirty="0" smtClean="0">
              <a:ln>
                <a:noFill/>
              </a:ln>
              <a:solidFill>
                <a:schemeClr val="tx1"/>
              </a:solidFill>
              <a:effectLst/>
              <a:uLnTx/>
              <a:uFillTx/>
              <a:latin typeface="+mn-lt"/>
              <a:ea typeface="+mn-ea"/>
              <a:cs typeface="+mn-ea"/>
            </a:endParaRPr>
          </a:p>
          <a:p>
            <a:pPr marL="1143000" marR="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a:pPr>
            <a:r>
              <a:rPr kumimoji="0" lang="zh-CN" sz="2400" b="1" i="0" u="none" strike="noStrike" kern="0" cap="none" spc="0" normalizeH="0" baseline="0" noProof="0" dirty="0" smtClean="0">
                <a:ln>
                  <a:noFill/>
                </a:ln>
                <a:solidFill>
                  <a:schemeClr val="tx1"/>
                </a:solidFill>
                <a:effectLst/>
                <a:uLnTx/>
                <a:uFillTx/>
                <a:latin typeface="+mn-lt"/>
                <a:ea typeface="+mn-ea"/>
                <a:cs typeface="+mn-ea"/>
              </a:rPr>
              <a:t>例如，用户需要检索数据，系统设法将有关检索要求的信息</a:t>
            </a:r>
            <a:r>
              <a:rPr kumimoji="0" lang="zh-CN" sz="2400" b="1" i="0" u="none" strike="noStrike" kern="0" cap="none" spc="0" normalizeH="0" baseline="0" noProof="0" dirty="0" smtClean="0">
                <a:ln>
                  <a:noFill/>
                </a:ln>
                <a:solidFill>
                  <a:srgbClr val="FF0000"/>
                </a:solidFill>
                <a:effectLst/>
                <a:uLnTx/>
                <a:uFillTx/>
                <a:latin typeface="+mn-lt"/>
                <a:ea typeface="+mn-ea"/>
                <a:cs typeface="+mn-ea"/>
              </a:rPr>
              <a:t>一次性</a:t>
            </a:r>
            <a:r>
              <a:rPr kumimoji="0" lang="zh-CN" sz="2400" b="1" i="0" u="none" strike="noStrike" kern="0" cap="none" spc="0" normalizeH="0" baseline="0" noProof="0" dirty="0" smtClean="0">
                <a:ln>
                  <a:noFill/>
                </a:ln>
                <a:solidFill>
                  <a:schemeClr val="tx1"/>
                </a:solidFill>
                <a:effectLst/>
                <a:uLnTx/>
                <a:uFillTx/>
                <a:latin typeface="+mn-lt"/>
                <a:ea typeface="+mn-ea"/>
                <a:cs typeface="+mn-ea"/>
              </a:rPr>
              <a:t>地传送给功能层；而用户登录后，登录信息是由功能层处理过的检索结果数据，它也是</a:t>
            </a:r>
            <a:r>
              <a:rPr kumimoji="0" lang="zh-CN" sz="2400" b="1" i="0" u="none" strike="noStrike" kern="0" cap="none" spc="0" normalizeH="0" baseline="0" noProof="0" dirty="0" smtClean="0">
                <a:ln>
                  <a:noFill/>
                </a:ln>
                <a:solidFill>
                  <a:srgbClr val="FF0000"/>
                </a:solidFill>
                <a:effectLst/>
                <a:uLnTx/>
                <a:uFillTx/>
                <a:latin typeface="+mn-lt"/>
                <a:ea typeface="+mn-ea"/>
                <a:cs typeface="+mn-ea"/>
              </a:rPr>
              <a:t>一次性</a:t>
            </a:r>
            <a:r>
              <a:rPr kumimoji="0" lang="zh-CN" sz="2400" b="1" i="0" u="none" strike="noStrike" kern="0" cap="none" spc="0" normalizeH="0" baseline="0" noProof="0" dirty="0" smtClean="0">
                <a:ln>
                  <a:noFill/>
                </a:ln>
                <a:solidFill>
                  <a:schemeClr val="tx1"/>
                </a:solidFill>
                <a:effectLst/>
                <a:uLnTx/>
                <a:uFillTx/>
                <a:latin typeface="+mn-lt"/>
                <a:ea typeface="+mn-ea"/>
                <a:cs typeface="+mn-ea"/>
              </a:rPr>
              <a:t>传送给表示层的。</a:t>
            </a:r>
            <a:endParaRPr kumimoji="0" lang="zh-CN" sz="2400" b="1" i="0" u="none" strike="noStrike" kern="0" cap="none" spc="0" normalizeH="0" baseline="0" noProof="0" dirty="0" smtClean="0">
              <a:ln>
                <a:noFill/>
              </a:ln>
              <a:solidFill>
                <a:schemeClr val="tx1"/>
              </a:solidFill>
              <a:effectLst/>
              <a:uLnTx/>
              <a:uFillTx/>
              <a:latin typeface="+mn-lt"/>
              <a:ea typeface="+mn-ea"/>
              <a:cs typeface="+mn-ea"/>
            </a:endParaRPr>
          </a:p>
          <a:p>
            <a:pPr marL="1143000" marR="0" lvl="2" indent="-22860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Char char="n"/>
              <a:defRPr/>
            </a:pPr>
            <a:r>
              <a:rPr kumimoji="0" lang="zh-CN" sz="2400" b="1" i="0" u="none" strike="noStrike" kern="0" cap="none" spc="0" normalizeH="0" baseline="0" noProof="0" dirty="0" smtClean="0">
                <a:ln>
                  <a:noFill/>
                </a:ln>
                <a:solidFill>
                  <a:schemeClr val="tx1"/>
                </a:solidFill>
                <a:effectLst/>
                <a:uLnTx/>
                <a:uFillTx/>
                <a:latin typeface="+mn-lt"/>
                <a:ea typeface="+mn-ea"/>
                <a:cs typeface="+mn-ea"/>
              </a:rPr>
              <a:t>在应用设计中，必须</a:t>
            </a:r>
            <a:r>
              <a:rPr kumimoji="0" lang="zh-CN" sz="2400" b="1" i="0" u="none" strike="noStrike" kern="0" cap="none" spc="0" normalizeH="0" baseline="0" noProof="0" dirty="0" smtClean="0">
                <a:ln>
                  <a:noFill/>
                </a:ln>
                <a:solidFill>
                  <a:schemeClr val="bg2">
                    <a:lumMod val="60000"/>
                    <a:lumOff val="40000"/>
                  </a:schemeClr>
                </a:solidFill>
                <a:effectLst/>
                <a:uLnTx/>
                <a:uFillTx/>
                <a:latin typeface="+mn-lt"/>
                <a:ea typeface="+mn-ea"/>
                <a:cs typeface="+mn-ea"/>
              </a:rPr>
              <a:t>避免在表示层和功能层之间进行多次的数据交换</a:t>
            </a:r>
            <a:r>
              <a:rPr kumimoji="0" lang="zh-CN" sz="2400" b="1" i="0" u="none" strike="noStrike" kern="0" cap="none" spc="0" normalizeH="0" baseline="0" noProof="0" dirty="0" smtClean="0">
                <a:ln>
                  <a:noFill/>
                </a:ln>
                <a:solidFill>
                  <a:schemeClr val="tx1"/>
                </a:solidFill>
                <a:effectLst/>
                <a:uLnTx/>
                <a:uFillTx/>
                <a:latin typeface="+mn-lt"/>
                <a:ea typeface="+mn-ea"/>
                <a:cs typeface="+mn-ea"/>
              </a:rPr>
              <a:t>，这就需要尽可能进行</a:t>
            </a:r>
            <a:r>
              <a:rPr kumimoji="0" lang="zh-CN" sz="2400" b="1" i="0" u="none" strike="noStrike" kern="0" cap="none" spc="0" normalizeH="0" baseline="0" noProof="0" dirty="0" smtClean="0">
                <a:ln>
                  <a:noFill/>
                </a:ln>
                <a:solidFill>
                  <a:srgbClr val="FF0000"/>
                </a:solidFill>
                <a:effectLst/>
                <a:uLnTx/>
                <a:uFillTx/>
                <a:latin typeface="+mn-lt"/>
                <a:ea typeface="+mn-ea"/>
                <a:cs typeface="+mn-ea"/>
              </a:rPr>
              <a:t>一次性</a:t>
            </a:r>
            <a:r>
              <a:rPr kumimoji="0" lang="zh-CN" sz="2400" b="1" i="0" u="none" strike="noStrike" kern="0" cap="none" spc="0" normalizeH="0" baseline="0" noProof="0" dirty="0" smtClean="0">
                <a:ln>
                  <a:noFill/>
                </a:ln>
                <a:solidFill>
                  <a:schemeClr val="tx1"/>
                </a:solidFill>
                <a:effectLst/>
                <a:uLnTx/>
                <a:uFillTx/>
                <a:latin typeface="+mn-lt"/>
                <a:ea typeface="+mn-ea"/>
                <a:cs typeface="+mn-ea"/>
              </a:rPr>
              <a:t>的业务处理，达到优化整体设计的目的。</a:t>
            </a:r>
            <a:endParaRPr kumimoji="0" lang="zh-CN" sz="2400" b="1" i="0" u="none" strike="noStrike" kern="0" cap="none" spc="0" normalizeH="0" baseline="0" noProof="0" dirty="0" smtClean="0">
              <a:ln>
                <a:noFill/>
              </a:ln>
              <a:solidFill>
                <a:schemeClr val="tx1"/>
              </a:solidFill>
              <a:effectLst/>
              <a:uLnTx/>
              <a:uFillTx/>
              <a:latin typeface="+mn-lt"/>
              <a:ea typeface="+mn-ea"/>
              <a:cs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noChangeArrowheads="1"/>
          </p:cNvSpPr>
          <p:nvPr>
            <p:ph idx="1"/>
          </p:nvPr>
        </p:nvSpPr>
        <p:spPr>
          <a:xfrm>
            <a:off x="250825" y="981075"/>
            <a:ext cx="8580438" cy="48148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en-US" sz="3200" b="1" i="0" u="none" strike="noStrike" kern="0" cap="none" spc="0" normalizeH="0" baseline="0" noProof="0" dirty="0" smtClean="0">
                <a:ln>
                  <a:noFill/>
                </a:ln>
                <a:solidFill>
                  <a:schemeClr val="tx1"/>
                </a:solidFill>
                <a:effectLst/>
                <a:uLnTx/>
                <a:uFillTx/>
                <a:latin typeface="+mn-lt"/>
                <a:ea typeface="+mn-ea"/>
                <a:cs typeface="+mn-cs"/>
              </a:rPr>
              <a:t>数据层</a:t>
            </a:r>
            <a:endParaRPr kumimoji="0" lang="zh-CN" altLang="en-US" sz="3200" b="1"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数据层就是DBMS，本项目使用</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ea"/>
              </a:rPr>
              <a:t>Access</a:t>
            </a:r>
            <a:r>
              <a:rPr kumimoji="0" lang="en-US" altLang="zh-CN" sz="2800" b="1" i="0" u="none" strike="noStrike" kern="0" cap="none" spc="0" normalizeH="0" baseline="0" noProof="0" dirty="0" smtClean="0">
                <a:ln>
                  <a:noFill/>
                </a:ln>
                <a:solidFill>
                  <a:schemeClr val="bg2">
                    <a:lumMod val="60000"/>
                    <a:lumOff val="40000"/>
                  </a:schemeClr>
                </a:solidFill>
                <a:effectLst/>
                <a:uLnTx/>
                <a:uFillTx/>
                <a:latin typeface="+mn-lt"/>
                <a:ea typeface="+mn-ea"/>
                <a:cs typeface="+mn-ea"/>
              </a:rPr>
              <a:t>/MySQL</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数据库服务器来管理数据 </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ea"/>
              </a:rPr>
              <a:t>Access</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安装、使用简便，可直接复制</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可支持</a:t>
            </a:r>
            <a:r>
              <a:rPr kumimoji="0" lang="en-US" altLang="zh-CN" sz="2800" b="1" i="0" u="none" strike="noStrike" kern="0" cap="none" spc="0" normalizeH="0" baseline="0" noProof="0" dirty="0" smtClean="0">
                <a:ln>
                  <a:noFill/>
                </a:ln>
                <a:solidFill>
                  <a:schemeClr val="bg2">
                    <a:lumMod val="60000"/>
                    <a:lumOff val="40000"/>
                  </a:schemeClr>
                </a:solidFill>
                <a:effectLst/>
                <a:uLnTx/>
                <a:uFillTx/>
                <a:latin typeface="+mn-lt"/>
                <a:ea typeface="+mn-ea"/>
                <a:cs typeface="+mn-ea"/>
              </a:rPr>
              <a:t>ODBC</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桥接方式连接</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ea"/>
              </a:rPr>
              <a:t>Access</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支持大部分</a:t>
            </a:r>
            <a:r>
              <a:rPr kumimoji="0" lang="en-US" altLang="zh-CN" sz="2800" b="1" i="0" u="none" strike="noStrike" kern="0" cap="none" spc="0" normalizeH="0" baseline="0" noProof="0" dirty="0" smtClean="0">
                <a:ln>
                  <a:noFill/>
                </a:ln>
                <a:solidFill>
                  <a:schemeClr val="tx1"/>
                </a:solidFill>
                <a:effectLst/>
                <a:uLnTx/>
                <a:uFillTx/>
                <a:latin typeface="+mn-lt"/>
                <a:ea typeface="+mn-ea"/>
                <a:cs typeface="+mn-ea"/>
              </a:rPr>
              <a:t>SQL</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语言操作</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en-US" altLang="zh-CN" sz="2800" b="1" i="0" u="none" strike="noStrike" kern="0" cap="none" spc="0" normalizeH="0" baseline="0" noProof="0" dirty="0" smtClean="0">
                <a:ln>
                  <a:noFill/>
                </a:ln>
                <a:solidFill>
                  <a:schemeClr val="tx1"/>
                </a:solidFill>
                <a:effectLst/>
                <a:uLnTx/>
                <a:uFillTx/>
                <a:latin typeface="+mn-lt"/>
                <a:ea typeface="+mn-ea"/>
                <a:cs typeface="+mn-ea"/>
              </a:rPr>
              <a:t>Access</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ea"/>
              </a:rPr>
              <a:t>不支持批处理命令</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p:nvPr/>
        </p:nvSpPr>
        <p:spPr>
          <a:xfrm>
            <a:off x="1533525" y="1900238"/>
            <a:ext cx="9144000" cy="0"/>
          </a:xfrm>
          <a:prstGeom prst="rect">
            <a:avLst/>
          </a:prstGeom>
          <a:noFill/>
          <a:ln w="9525">
            <a:noFill/>
          </a:ln>
        </p:spPr>
        <p:txBody>
          <a:bodyPr>
            <a:spAutoFit/>
          </a:bodyPr>
          <a:p>
            <a:endParaRPr lang="zh-CN" altLang="en-US" dirty="0">
              <a:latin typeface="Arial" panose="020B0604020202020204" pitchFamily="34" charset="0"/>
            </a:endParaRPr>
          </a:p>
        </p:txBody>
      </p:sp>
      <p:sp>
        <p:nvSpPr>
          <p:cNvPr id="17411" name="Text Box 3"/>
          <p:cNvSpPr txBox="1"/>
          <p:nvPr/>
        </p:nvSpPr>
        <p:spPr>
          <a:xfrm>
            <a:off x="539750" y="5638800"/>
            <a:ext cx="8177213" cy="706755"/>
          </a:xfrm>
          <a:prstGeom prst="rect">
            <a:avLst/>
          </a:prstGeom>
          <a:noFill/>
          <a:ln w="9525">
            <a:noFill/>
          </a:ln>
        </p:spPr>
        <p:txBody>
          <a:bodyPr>
            <a:spAutoFit/>
          </a:bodyPr>
          <a:p>
            <a:pPr>
              <a:spcBef>
                <a:spcPct val="50000"/>
              </a:spcBef>
            </a:pPr>
            <a:r>
              <a:rPr lang="zh-CN" altLang="en-US" sz="2000" dirty="0">
                <a:latin typeface="Times New Roman" panose="02020603050405020304" pitchFamily="18" charset="0"/>
              </a:rPr>
              <a:t>         Vcs系统的</a:t>
            </a:r>
            <a:r>
              <a:rPr lang="zh-CN" altLang="en-US" sz="2000" dirty="0">
                <a:solidFill>
                  <a:schemeClr val="bg2">
                    <a:lumMod val="60000"/>
                    <a:lumOff val="40000"/>
                  </a:schemeClr>
                </a:solidFill>
                <a:latin typeface="Times New Roman" panose="02020603050405020304" pitchFamily="18" charset="0"/>
              </a:rPr>
              <a:t>服务器端</a:t>
            </a:r>
            <a:r>
              <a:rPr lang="zh-CN" altLang="en-US" sz="2000" dirty="0">
                <a:latin typeface="Times New Roman" panose="02020603050405020304" pitchFamily="18" charset="0"/>
              </a:rPr>
              <a:t>包括</a:t>
            </a:r>
            <a:r>
              <a:rPr lang="zh-CN" altLang="en-US" sz="2000" dirty="0">
                <a:solidFill>
                  <a:srgbClr val="1818FF"/>
                </a:solidFill>
                <a:latin typeface="Times New Roman" panose="02020603050405020304" pitchFamily="18" charset="0"/>
              </a:rPr>
              <a:t>服务器程序</a:t>
            </a:r>
            <a:r>
              <a:rPr lang="zh-CN" altLang="en-US" sz="2000" dirty="0">
                <a:latin typeface="Times New Roman" panose="02020603050405020304" pitchFamily="18" charset="0"/>
              </a:rPr>
              <a:t>（其监听8888端口）和</a:t>
            </a:r>
            <a:r>
              <a:rPr lang="zh-CN" altLang="en-US" sz="2000" dirty="0">
                <a:solidFill>
                  <a:srgbClr val="1818FF"/>
                </a:solidFill>
                <a:latin typeface="Times New Roman" panose="02020603050405020304" pitchFamily="18" charset="0"/>
              </a:rPr>
              <a:t>数据库服务器</a:t>
            </a:r>
            <a:r>
              <a:rPr lang="zh-CN" altLang="en-US" sz="2000" dirty="0">
                <a:latin typeface="Times New Roman" panose="02020603050405020304" pitchFamily="18" charset="0"/>
              </a:rPr>
              <a:t>（本系统采用</a:t>
            </a:r>
            <a:r>
              <a:rPr lang="en-US" altLang="zh-CN" sz="2000" dirty="0">
                <a:latin typeface="Times New Roman" panose="02020603050405020304" pitchFamily="18" charset="0"/>
              </a:rPr>
              <a:t>Access/MySQL</a:t>
            </a:r>
            <a:r>
              <a:rPr lang="zh-CN" altLang="en-US" sz="2000" dirty="0">
                <a:latin typeface="Times New Roman" panose="02020603050405020304" pitchFamily="18" charset="0"/>
              </a:rPr>
              <a:t>）；</a:t>
            </a:r>
            <a:r>
              <a:rPr lang="zh-CN" altLang="en-US" sz="2000" dirty="0">
                <a:solidFill>
                  <a:srgbClr val="1818FF"/>
                </a:solidFill>
                <a:latin typeface="Times New Roman" panose="02020603050405020304" pitchFamily="18" charset="0"/>
              </a:rPr>
              <a:t>客户端程序</a:t>
            </a:r>
            <a:r>
              <a:rPr lang="zh-CN" altLang="en-US" sz="2000" dirty="0">
                <a:latin typeface="Times New Roman" panose="02020603050405020304" pitchFamily="18" charset="0"/>
              </a:rPr>
              <a:t>（Vcs客户端）。 </a:t>
            </a:r>
            <a:endParaRPr lang="zh-CN" altLang="en-US" sz="2000" dirty="0">
              <a:latin typeface="Times New Roman" panose="02020603050405020304" pitchFamily="18" charset="0"/>
            </a:endParaRPr>
          </a:p>
        </p:txBody>
      </p:sp>
      <p:sp>
        <p:nvSpPr>
          <p:cNvPr id="17412" name="Rectangle 4"/>
          <p:cNvSpPr>
            <a:spLocks noGrp="1"/>
          </p:cNvSpPr>
          <p:nvPr>
            <p:ph type="title" idx="4294967295"/>
          </p:nvPr>
        </p:nvSpPr>
        <p:spPr/>
        <p:txBody>
          <a:bodyPr vert="horz" wrap="square" lIns="91440" tIns="45720" rIns="91440" bIns="45720" anchor="ctr" anchorCtr="0"/>
          <a:p>
            <a:pPr eaLnBrk="1" hangingPunct="1"/>
            <a:r>
              <a:rPr lang="zh-CN" altLang="en-US" dirty="0">
                <a:latin typeface="黑体" panose="02010609060101010101" pitchFamily="49" charset="-122"/>
              </a:rPr>
              <a:t>Vcampus系统部署图</a:t>
            </a:r>
            <a:endParaRPr lang="zh-CN" altLang="en-US" dirty="0">
              <a:latin typeface="黑体" panose="02010609060101010101" pitchFamily="49" charset="-122"/>
            </a:endParaRPr>
          </a:p>
        </p:txBody>
      </p:sp>
      <p:pic>
        <p:nvPicPr>
          <p:cNvPr id="17413" name="Picture 5" descr="depoly"/>
          <p:cNvPicPr>
            <a:picLocks noChangeAspect="1"/>
          </p:cNvPicPr>
          <p:nvPr/>
        </p:nvPicPr>
        <p:blipFill>
          <a:blip r:embed="rId1"/>
          <a:stretch>
            <a:fillRect/>
          </a:stretch>
        </p:blipFill>
        <p:spPr>
          <a:xfrm>
            <a:off x="2051050" y="2205038"/>
            <a:ext cx="4429125" cy="226695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p:nvPr/>
        </p:nvSpPr>
        <p:spPr>
          <a:xfrm>
            <a:off x="1928813" y="-7937"/>
            <a:ext cx="9144000" cy="0"/>
          </a:xfrm>
          <a:prstGeom prst="rect">
            <a:avLst/>
          </a:prstGeom>
          <a:noFill/>
          <a:ln w="9525">
            <a:noFill/>
          </a:ln>
        </p:spPr>
        <p:txBody>
          <a:bodyPr>
            <a:spAutoFit/>
          </a:bodyPr>
          <a:p>
            <a:endParaRPr lang="zh-CN" altLang="en-US" dirty="0">
              <a:latin typeface="Arial" panose="020B0604020202020204" pitchFamily="34" charset="0"/>
            </a:endParaRPr>
          </a:p>
        </p:txBody>
      </p:sp>
      <p:sp>
        <p:nvSpPr>
          <p:cNvPr id="18435" name="Rectangle 3"/>
          <p:cNvSpPr>
            <a:spLocks noGrp="1"/>
          </p:cNvSpPr>
          <p:nvPr>
            <p:ph type="title" idx="4294967295"/>
          </p:nvPr>
        </p:nvSpPr>
        <p:spPr>
          <a:xfrm>
            <a:off x="457200" y="457200"/>
            <a:ext cx="1162050" cy="3043238"/>
          </a:xfrm>
        </p:spPr>
        <p:txBody>
          <a:bodyPr vert="horz" wrap="square" lIns="91440" tIns="45720" rIns="91440" bIns="45720" anchor="ctr" anchorCtr="0"/>
          <a:p>
            <a:pPr eaLnBrk="1" hangingPunct="1"/>
            <a:r>
              <a:rPr lang="zh-CN" altLang="zh-CN" dirty="0">
                <a:latin typeface="黑体" panose="02010609060101010101" pitchFamily="49" charset="-122"/>
              </a:rPr>
              <a:t>用例图 </a:t>
            </a:r>
            <a:br>
              <a:rPr lang="zh-CN" altLang="zh-CN" dirty="0">
                <a:latin typeface="黑体" panose="02010609060101010101" pitchFamily="49" charset="-122"/>
              </a:rPr>
            </a:br>
            <a:endParaRPr lang="zh-CN" altLang="zh-CN" dirty="0">
              <a:latin typeface="黑体" panose="02010609060101010101" pitchFamily="49" charset="-122"/>
            </a:endParaRPr>
          </a:p>
        </p:txBody>
      </p:sp>
      <p:pic>
        <p:nvPicPr>
          <p:cNvPr id="18436" name="Picture 4" descr="usecase"/>
          <p:cNvPicPr>
            <a:picLocks noChangeAspect="1"/>
          </p:cNvPicPr>
          <p:nvPr/>
        </p:nvPicPr>
        <p:blipFill>
          <a:blip r:embed="rId1"/>
          <a:stretch>
            <a:fillRect/>
          </a:stretch>
        </p:blipFill>
        <p:spPr>
          <a:xfrm>
            <a:off x="1357313" y="1500188"/>
            <a:ext cx="6686550" cy="4446587"/>
          </a:xfrm>
          <a:prstGeom prst="rect">
            <a:avLst/>
          </a:prstGeom>
          <a:noFill/>
          <a:ln w="9525">
            <a:noFill/>
          </a:ln>
        </p:spPr>
      </p:pic>
      <p:sp>
        <p:nvSpPr>
          <p:cNvPr id="5" name="矩形 4"/>
          <p:cNvSpPr/>
          <p:nvPr/>
        </p:nvSpPr>
        <p:spPr>
          <a:xfrm>
            <a:off x="1500188" y="571500"/>
            <a:ext cx="6572250" cy="646113"/>
          </a:xfrm>
          <a:prstGeom prst="rect">
            <a:avLst/>
          </a:prstGeom>
        </p:spPr>
        <p:style>
          <a:lnRef idx="3">
            <a:schemeClr val="lt1"/>
          </a:lnRef>
          <a:fillRef idx="1">
            <a:schemeClr val="accent4"/>
          </a:fillRef>
          <a:effectRef idx="1">
            <a:schemeClr val="accent4"/>
          </a:effectRef>
          <a:fontRef idx="minor">
            <a:schemeClr val="lt1"/>
          </a:fontRef>
        </p:style>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由参与者（</a:t>
            </a:r>
            <a:r>
              <a:rPr kumimoji="0" lang="en-US" altLang="zh-CN" sz="1800" b="1" i="0" u="none" strike="noStrike" kern="1200" cap="none" spc="0" normalizeH="0" baseline="0" noProof="0" dirty="0">
                <a:ln>
                  <a:noFill/>
                </a:ln>
                <a:solidFill>
                  <a:schemeClr val="lt1"/>
                </a:solidFill>
                <a:effectLst/>
                <a:uLnTx/>
                <a:uFillTx/>
                <a:latin typeface="+mn-lt"/>
                <a:ea typeface="+mn-ea"/>
                <a:cs typeface="+mn-cs"/>
              </a:rPr>
              <a:t>Actor</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）、用例（</a:t>
            </a:r>
            <a:r>
              <a:rPr kumimoji="0" lang="en-US" altLang="zh-CN" sz="1800" b="1" i="0" u="none" strike="noStrike" kern="1200" cap="none" spc="0" normalizeH="0" baseline="0" noProof="0" dirty="0">
                <a:ln>
                  <a:noFill/>
                </a:ln>
                <a:solidFill>
                  <a:schemeClr val="lt1"/>
                </a:solidFill>
                <a:effectLst/>
                <a:uLnTx/>
                <a:uFillTx/>
                <a:latin typeface="+mn-lt"/>
                <a:ea typeface="+mn-ea"/>
                <a:cs typeface="+mn-cs"/>
              </a:rPr>
              <a:t>Use Case</a:t>
            </a:r>
            <a:r>
              <a:rPr kumimoji="0" lang="zh-CN" altLang="en-US" sz="1800" b="1" i="0" u="none" strike="noStrike" kern="1200" cap="none" spc="0" normalizeH="0" baseline="0" noProof="0" dirty="0">
                <a:ln>
                  <a:noFill/>
                </a:ln>
                <a:solidFill>
                  <a:schemeClr val="lt1"/>
                </a:solidFill>
                <a:effectLst/>
                <a:uLnTx/>
                <a:uFillTx/>
                <a:latin typeface="+mn-lt"/>
                <a:ea typeface="+mn-ea"/>
                <a:cs typeface="+mn-cs"/>
              </a:rPr>
              <a:t>）以及它们之间的关系构成的用于描述系统功能的动态视图</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000000"/>
                                          </p:val>
                                        </p:tav>
                                        <p:tav tm="100000">
                                          <p:val>
                                            <p:strVal val="#ppt_w"/>
                                          </p:val>
                                        </p:tav>
                                      </p:tavLst>
                                    </p:anim>
                                    <p:anim calcmode="lin" valueType="num">
                                      <p:cBhvr>
                                        <p:cTn id="8" dur="1000" fill="hold"/>
                                        <p:tgtEl>
                                          <p:spTgt spid="5"/>
                                        </p:tgtEl>
                                        <p:attrNameLst>
                                          <p:attrName>ppt_h</p:attrName>
                                        </p:attrNameLst>
                                      </p:cBhvr>
                                      <p:tavLst>
                                        <p:tav tm="0">
                                          <p:val>
                                            <p:fltVal val="0.000000"/>
                                          </p:val>
                                        </p:tav>
                                        <p:tav tm="100000">
                                          <p:val>
                                            <p:strVal val="#ppt_h"/>
                                          </p:val>
                                        </p:tav>
                                      </p:tavLst>
                                    </p:anim>
                                    <p:anim calcmode="lin" valueType="num">
                                      <p:cBhvr>
                                        <p:cTn id="9" dur="1000" fill="hold"/>
                                        <p:tgtEl>
                                          <p:spTgt spid="5"/>
                                        </p:tgtEl>
                                        <p:attrNameLst>
                                          <p:attrName>style.rotation</p:attrName>
                                        </p:attrNameLst>
                                      </p:cBhvr>
                                      <p:tavLst>
                                        <p:tav tm="0">
                                          <p:val>
                                            <p:fltVal val="90.000000"/>
                                          </p:val>
                                        </p:tav>
                                        <p:tav tm="100000">
                                          <p:val>
                                            <p:fltVal val="0.00000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p:txBody>
          <a:bodyPr vert="horz" wrap="square" lIns="91440" tIns="45720" rIns="91440" bIns="45720" anchor="ctr" anchorCtr="0"/>
          <a:p>
            <a:pPr eaLnBrk="1" hangingPunct="1"/>
            <a:r>
              <a:rPr lang="zh-CN" altLang="en-US" dirty="0"/>
              <a:t>活动图：个人信息管理</a:t>
            </a:r>
            <a:endParaRPr lang="zh-CN" altLang="en-US" dirty="0"/>
          </a:p>
        </p:txBody>
      </p:sp>
      <p:pic>
        <p:nvPicPr>
          <p:cNvPr id="19459" name="Picture 3" descr="activity"/>
          <p:cNvPicPr>
            <a:picLocks noChangeAspect="1"/>
          </p:cNvPicPr>
          <p:nvPr>
            <p:ph idx="1"/>
          </p:nvPr>
        </p:nvPicPr>
        <p:blipFill>
          <a:blip r:embed="rId1"/>
          <a:srcRect/>
          <a:stretch>
            <a:fillRect/>
          </a:stretch>
        </p:blipFill>
        <p:spPr>
          <a:xfrm>
            <a:off x="1981200" y="1557338"/>
            <a:ext cx="5376863" cy="5111750"/>
          </a:xfrm>
        </p:spPr>
      </p:pic>
      <p:sp>
        <p:nvSpPr>
          <p:cNvPr id="4" name="矩形 3"/>
          <p:cNvSpPr/>
          <p:nvPr/>
        </p:nvSpPr>
        <p:spPr>
          <a:xfrm>
            <a:off x="500063" y="6286500"/>
            <a:ext cx="3416300" cy="369888"/>
          </a:xfrm>
          <a:prstGeom prst="rect">
            <a:avLst/>
          </a:prstGeom>
        </p:spPr>
        <p:style>
          <a:lnRef idx="3">
            <a:schemeClr val="lt1"/>
          </a:lnRef>
          <a:fillRef idx="1">
            <a:schemeClr val="accent4"/>
          </a:fillRef>
          <a:effectRef idx="1">
            <a:schemeClr val="accent4"/>
          </a:effectRef>
          <a:fontRef idx="minor">
            <a:schemeClr val="lt1"/>
          </a:fontRef>
        </p:style>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dirty="0">
                <a:ln>
                  <a:noFill/>
                </a:ln>
                <a:solidFill>
                  <a:schemeClr val="lt1"/>
                </a:solidFill>
                <a:effectLst/>
                <a:uLnTx/>
                <a:uFillTx/>
                <a:latin typeface="+mn-lt"/>
                <a:ea typeface="+mn-ea"/>
                <a:cs typeface="+mn-cs"/>
              </a:rPr>
              <a:t>阐明了业务用例实现的工作流程</a:t>
            </a:r>
            <a:endParaRPr kumimoji="0" lang="zh-CN" altLang="en-US" sz="1800" b="1" i="0" u="none" strike="noStrike" kern="1200" cap="none" spc="0" normalizeH="0" baseline="0" noProof="0" dirty="0">
              <a:ln>
                <a:noFill/>
              </a:ln>
              <a:solidFill>
                <a:schemeClr val="lt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2"/>
          <p:cNvSpPr>
            <a:spLocks noGrp="1"/>
          </p:cNvSpPr>
          <p:nvPr>
            <p:ph type="title"/>
          </p:nvPr>
        </p:nvSpPr>
        <p:spPr>
          <a:xfrm>
            <a:off x="468313" y="260350"/>
            <a:ext cx="8229600" cy="1371600"/>
          </a:xfrm>
        </p:spPr>
        <p:txBody>
          <a:bodyPr vert="horz" wrap="square" lIns="91440" tIns="45720" rIns="91440" bIns="45720" anchor="ctr" anchorCtr="0"/>
          <a:p>
            <a:pPr eaLnBrk="1" hangingPunct="1"/>
            <a:r>
              <a:rPr lang="zh-CN" altLang="zh-CN" dirty="0"/>
              <a:t>多线程设计</a:t>
            </a:r>
            <a:endParaRPr lang="zh-CN" altLang="zh-CN" dirty="0"/>
          </a:p>
        </p:txBody>
      </p:sp>
      <p:sp>
        <p:nvSpPr>
          <p:cNvPr id="20483" name="Rectangle 3"/>
          <p:cNvSpPr>
            <a:spLocks noGrp="1"/>
          </p:cNvSpPr>
          <p:nvPr>
            <p:ph idx="1"/>
          </p:nvPr>
        </p:nvSpPr>
        <p:spPr>
          <a:xfrm>
            <a:off x="457200" y="1628775"/>
            <a:ext cx="8291513" cy="4895850"/>
          </a:xfrm>
        </p:spPr>
        <p:txBody>
          <a:bodyPr vert="horz" wrap="square" lIns="91440" tIns="45720" rIns="91440" bIns="45720" anchor="t" anchorCtr="0"/>
          <a:p>
            <a:pPr eaLnBrk="1" hangingPunct="1"/>
            <a:r>
              <a:rPr lang="zh-CN" altLang="zh-CN" dirty="0"/>
              <a:t>本系统使用多线程技术来实现。</a:t>
            </a:r>
            <a:endParaRPr lang="zh-CN" altLang="zh-CN" dirty="0"/>
          </a:p>
          <a:p>
            <a:pPr eaLnBrk="1" hangingPunct="1"/>
            <a:r>
              <a:rPr lang="zh-CN" altLang="zh-CN" dirty="0"/>
              <a:t>Java包提供了相当完善的针对网络通信和I/O相关操作的类库，利用这些类，可以在很短时间内设计出一个网络交互系统。</a:t>
            </a:r>
            <a:endParaRPr lang="zh-CN" altLang="zh-CN" dirty="0"/>
          </a:p>
          <a:p>
            <a:pPr eaLnBrk="1" hangingPunct="1"/>
            <a:r>
              <a:rPr lang="zh-CN" altLang="zh-CN" dirty="0"/>
              <a:t>本系统的多线程设计基于Socket编程和标准的Java包而实现。主要涉及两个方面：</a:t>
            </a:r>
            <a:endParaRPr lang="zh-CN" altLang="zh-CN" dirty="0"/>
          </a:p>
          <a:p>
            <a:pPr lvl="1" eaLnBrk="1" hangingPunct="1"/>
            <a:r>
              <a:rPr lang="zh-CN" altLang="zh-CN" sz="3200" dirty="0"/>
              <a:t>服务器端的多线程</a:t>
            </a:r>
            <a:endParaRPr lang="zh-CN" altLang="zh-CN" sz="3200" dirty="0"/>
          </a:p>
          <a:p>
            <a:pPr lvl="1" eaLnBrk="1" hangingPunct="1"/>
            <a:r>
              <a:rPr lang="zh-CN" altLang="zh-CN" sz="3200" dirty="0"/>
              <a:t>客户端</a:t>
            </a:r>
            <a:endParaRPr lang="zh-CN" altLang="zh-CN"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p:txBody>
          <a:bodyPr vert="horz" wrap="square" lIns="91440" tIns="45720" rIns="91440" bIns="45720" anchor="ctr" anchorCtr="0"/>
          <a:p>
            <a:pPr eaLnBrk="1" hangingPunct="1"/>
            <a:r>
              <a:rPr lang="zh-CN" altLang="zh-CN" dirty="0"/>
              <a:t>服务器端的多线程</a:t>
            </a:r>
            <a:endParaRPr lang="zh-CN" altLang="zh-CN" dirty="0"/>
          </a:p>
        </p:txBody>
      </p:sp>
      <p:sp>
        <p:nvSpPr>
          <p:cNvPr id="28674" name="Rectangle 3"/>
          <p:cNvSpPr>
            <a:spLocks noGrp="1" noChangeArrowheads="1"/>
          </p:cNvSpPr>
          <p:nvPr>
            <p:ph idx="1"/>
          </p:nvPr>
        </p:nvSpPr>
        <p:spPr>
          <a:xfrm>
            <a:off x="468313" y="1773238"/>
            <a:ext cx="8229600" cy="3527425"/>
          </a:xfrm>
        </p:spPr>
        <p:txBody>
          <a:bodyPr vert="horz" wrap="square" lIns="91440" tIns="45720" rIns="91440" bIns="45720" numCol="1" anchor="t" anchorCtr="0" compatLnSpc="1"/>
          <a:lstStyle/>
          <a:p>
            <a:pPr marL="342900" marR="0" lvl="0" indent="-342900" algn="l"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zh-CN" sz="2800" b="1" i="0" u="none" strike="noStrike" kern="0" cap="none" spc="0" normalizeH="0" baseline="0" noProof="0" dirty="0" smtClean="0">
                <a:ln>
                  <a:noFill/>
                </a:ln>
                <a:solidFill>
                  <a:schemeClr val="tx1"/>
                </a:solidFill>
                <a:effectLst/>
                <a:uLnTx/>
                <a:uFillTx/>
                <a:latin typeface="+mn-lt"/>
                <a:ea typeface="+mn-ea"/>
                <a:cs typeface="+mn-cs"/>
              </a:rPr>
              <a:t>服务器端需要和多个客户端同时进行通信，这就是服务器端的多线程。</a:t>
            </a:r>
            <a:endParaRPr kumimoji="0" lang="zh-CN"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zh-CN" sz="2800" b="1" i="0" u="none" strike="noStrike" kern="0" cap="none" spc="0" normalizeH="0" baseline="0" noProof="0" dirty="0" smtClean="0">
                <a:ln>
                  <a:noFill/>
                </a:ln>
                <a:solidFill>
                  <a:schemeClr val="tx1"/>
                </a:solidFill>
                <a:effectLst/>
                <a:uLnTx/>
                <a:uFillTx/>
                <a:latin typeface="+mn-lt"/>
                <a:ea typeface="+mn-ea"/>
                <a:cs typeface="+mn-cs"/>
              </a:rPr>
              <a:t>一旦服务器发现一个新的客户端与之建立了连接，就马上新建一个线程与</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该</a:t>
            </a:r>
            <a:r>
              <a:rPr kumimoji="0" lang="zh-CN" altLang="zh-CN" sz="2800" b="1" i="0" u="none" strike="noStrike" kern="0" cap="none" spc="0" normalizeH="0" baseline="0" noProof="0" dirty="0" smtClean="0">
                <a:ln>
                  <a:noFill/>
                </a:ln>
                <a:solidFill>
                  <a:schemeClr val="tx1"/>
                </a:solidFill>
                <a:effectLst/>
                <a:uLnTx/>
                <a:uFillTx/>
                <a:latin typeface="+mn-lt"/>
                <a:ea typeface="+mn-ea"/>
                <a:cs typeface="+mn-cs"/>
              </a:rPr>
              <a:t>客户端进行通信。服务器为每个连接着的客户建立一个线程</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
                <a:schemeClr val="bg2"/>
              </a:buClr>
              <a:buSzPct val="75000"/>
              <a:buFont typeface="Wingdings" panose="05000000000000000000" pitchFamily="2" charset="2"/>
              <a:buChar char="n"/>
              <a:defRPr/>
            </a:pPr>
            <a:r>
              <a:rPr kumimoji="0" lang="zh-CN" altLang="zh-CN" sz="2800" b="1" i="0" u="none" strike="noStrike" kern="0" cap="none" spc="0" normalizeH="0" baseline="0" noProof="0" dirty="0" smtClean="0">
                <a:ln>
                  <a:noFill/>
                </a:ln>
                <a:solidFill>
                  <a:schemeClr val="tx1"/>
                </a:solidFill>
                <a:effectLst/>
                <a:uLnTx/>
                <a:uFillTx/>
                <a:latin typeface="+mn-lt"/>
                <a:ea typeface="+mn-ea"/>
                <a:cs typeface="+mn-cs"/>
              </a:rPr>
              <a:t>为了同时响应多个客户端，需设计一个主线程来启动服务器端的多线程</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，通过建立</a:t>
            </a:r>
            <a:r>
              <a:rPr kumimoji="0" lang="zh-CN" altLang="en-US" sz="2800" b="1" i="0" u="none" strike="noStrike" kern="0" cap="none" spc="0" normalizeH="0" baseline="0" noProof="0" dirty="0" smtClean="0">
                <a:ln>
                  <a:noFill/>
                </a:ln>
                <a:solidFill>
                  <a:schemeClr val="bg2">
                    <a:lumMod val="60000"/>
                    <a:lumOff val="40000"/>
                  </a:schemeClr>
                </a:solidFill>
                <a:effectLst/>
                <a:uLnTx/>
                <a:uFillTx/>
                <a:latin typeface="+mn-lt"/>
                <a:ea typeface="+mn-ea"/>
                <a:cs typeface="+mn-cs"/>
              </a:rPr>
              <a:t>线程管理池</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维护当前连接的客户端。</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idx="1"/>
          </p:nvPr>
        </p:nvSpPr>
        <p:spPr>
          <a:xfrm>
            <a:off x="457200" y="1125538"/>
            <a:ext cx="8229600" cy="4967287"/>
          </a:xfrm>
        </p:spPr>
        <p:txBody>
          <a:bodyPr vert="horz" wrap="square" lIns="91440" tIns="45720" rIns="91440" bIns="45720" anchor="t" anchorCtr="0"/>
          <a:p>
            <a:pPr marL="342900" lvl="1" indent="-342900" eaLnBrk="1" hangingPunct="1">
              <a:buClr>
                <a:schemeClr val="bg2"/>
              </a:buClr>
              <a:buSzPct val="75000"/>
              <a:buFont typeface="Wingdings" panose="05000000000000000000" pitchFamily="2" charset="2"/>
              <a:buChar char="n"/>
            </a:pPr>
            <a:r>
              <a:rPr lang="zh-CN" altLang="zh-CN" dirty="0"/>
              <a:t>用多线程的好处在于可以同时处理多个通信连接，不会出现由于数据排队等待而发生的延迟或者丢失，可以很好地利用系统的性能。</a:t>
            </a:r>
            <a:endParaRPr lang="en-US" altLang="zh-CN" dirty="0"/>
          </a:p>
          <a:p>
            <a:pPr marL="342900" lvl="1" indent="-342900" eaLnBrk="1" hangingPunct="1">
              <a:buClr>
                <a:schemeClr val="bg2"/>
              </a:buClr>
              <a:buSzPct val="75000"/>
              <a:buFont typeface="Wingdings" panose="05000000000000000000" pitchFamily="2" charset="2"/>
              <a:buChar char="n"/>
            </a:pPr>
            <a:r>
              <a:rPr lang="zh-CN" altLang="zh-CN" dirty="0"/>
              <a:t>主线程与进程结构类似，它在获得新连接时生成一个线程来处理这个连接。线程调度速度快，占用资源少，可共享进程空间中的数据，因此服务器的响应速度快，且I/O吞吐量较大。</a:t>
            </a:r>
            <a:endParaRPr lang="en-US" altLang="zh-CN" dirty="0"/>
          </a:p>
          <a:p>
            <a:pPr marL="342900" lvl="1" indent="-342900" eaLnBrk="1" hangingPunct="1">
              <a:buClr>
                <a:schemeClr val="bg2"/>
              </a:buClr>
              <a:buSzPct val="75000"/>
              <a:buFont typeface="Wingdings" panose="05000000000000000000" pitchFamily="2" charset="2"/>
              <a:buChar char="n"/>
            </a:pPr>
            <a:r>
              <a:rPr lang="zh-CN" altLang="en-US" dirty="0">
                <a:latin typeface="宋体" panose="02010600030101010101" pitchFamily="2" charset="-122"/>
              </a:rPr>
              <a:t>基于</a:t>
            </a:r>
            <a:r>
              <a:rPr lang="en-US" altLang="zh-CN" dirty="0">
                <a:latin typeface="宋体" panose="02010600030101010101" pitchFamily="2" charset="-122"/>
              </a:rPr>
              <a:t>Socket</a:t>
            </a:r>
            <a:r>
              <a:rPr lang="zh-CN" altLang="en-US" dirty="0">
                <a:latin typeface="宋体" panose="02010600030101010101" pitchFamily="2" charset="-122"/>
              </a:rPr>
              <a:t>编程，注意异常处理；所有需要传输的</a:t>
            </a:r>
            <a:r>
              <a:rPr lang="zh-CN" altLang="en-US" dirty="0">
                <a:solidFill>
                  <a:srgbClr val="FF0000"/>
                </a:solidFill>
                <a:latin typeface="宋体" panose="02010600030101010101" pitchFamily="2" charset="-122"/>
              </a:rPr>
              <a:t>对象</a:t>
            </a:r>
            <a:r>
              <a:rPr lang="zh-CN" altLang="en-US" dirty="0">
                <a:latin typeface="宋体" panose="02010600030101010101" pitchFamily="2" charset="-122"/>
              </a:rPr>
              <a:t>必须实现</a:t>
            </a:r>
            <a:r>
              <a:rPr lang="zh-CN" altLang="en-US" dirty="0">
                <a:solidFill>
                  <a:srgbClr val="FF0000"/>
                </a:solidFill>
                <a:latin typeface="宋体" panose="02010600030101010101" pitchFamily="2" charset="-122"/>
              </a:rPr>
              <a:t>可序列化</a:t>
            </a:r>
            <a:r>
              <a:rPr lang="zh-CN" altLang="en-US" dirty="0">
                <a:latin typeface="宋体" panose="02010600030101010101" pitchFamily="2" charset="-122"/>
              </a:rPr>
              <a:t>接口，</a:t>
            </a:r>
            <a:r>
              <a:rPr lang="zh-CN" altLang="en-US" dirty="0">
                <a:solidFill>
                  <a:srgbClr val="FF0000"/>
                </a:solidFill>
                <a:latin typeface="宋体" panose="02010600030101010101" pitchFamily="2" charset="-122"/>
              </a:rPr>
              <a:t>必须保持</a:t>
            </a:r>
            <a:r>
              <a:rPr lang="zh-CN" altLang="en-US" dirty="0">
                <a:solidFill>
                  <a:schemeClr val="tx1"/>
                </a:solidFill>
                <a:latin typeface="宋体" panose="02010600030101010101" pitchFamily="2" charset="-122"/>
              </a:rPr>
              <a:t>客户端与服务器端</a:t>
            </a:r>
            <a:r>
              <a:rPr lang="zh-CN" altLang="en-US" dirty="0">
                <a:solidFill>
                  <a:srgbClr val="FF0000"/>
                </a:solidFill>
                <a:latin typeface="宋体" panose="02010600030101010101" pitchFamily="2" charset="-122"/>
              </a:rPr>
              <a:t>类的一致性</a:t>
            </a:r>
            <a:r>
              <a:rPr lang="zh-CN" altLang="en-US" dirty="0">
                <a:latin typeface="宋体" panose="02010600030101010101" pitchFamily="2" charset="-122"/>
              </a:rPr>
              <a:t>。</a:t>
            </a:r>
            <a:endParaRPr lang="en-US" altLang="zh-CN" dirty="0">
              <a:latin typeface="宋体" panose="02010600030101010101" pitchFamily="2" charset="-122"/>
            </a:endParaRPr>
          </a:p>
          <a:p>
            <a:pPr marL="342900" lvl="1" indent="-342900" eaLnBrk="1" hangingPunct="1">
              <a:buClr>
                <a:schemeClr val="bg2"/>
              </a:buClr>
              <a:buSzPct val="75000"/>
              <a:buFont typeface="Wingdings" panose="05000000000000000000" pitchFamily="2" charset="2"/>
              <a:buChar char="n"/>
            </a:pPr>
            <a:endParaRPr lang="en-US" altLang="zh-CN" dirty="0">
              <a:latin typeface="宋体" panose="02010600030101010101" pitchFamily="2" charset="-122"/>
            </a:endParaRPr>
          </a:p>
          <a:p>
            <a:pPr eaLnBrk="1" hangingPunct="1"/>
            <a:endParaRPr lang="en-US" altLang="zh-CN" sz="2800" dirty="0"/>
          </a:p>
          <a:p>
            <a:pPr eaLnBrk="1" hangingPunct="1"/>
            <a:endParaRPr lang="zh-CN" altLang="zh-CN"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p:txBody>
          <a:bodyPr vert="horz" wrap="square" lIns="91440" tIns="45720" rIns="91440" bIns="45720" anchor="ctr" anchorCtr="0"/>
          <a:p>
            <a:pPr eaLnBrk="1" hangingPunct="1"/>
            <a:r>
              <a:rPr lang="zh-CN" altLang="zh-CN" dirty="0"/>
              <a:t>客户端</a:t>
            </a:r>
            <a:endParaRPr lang="zh-CN" altLang="zh-CN" dirty="0"/>
          </a:p>
        </p:txBody>
      </p:sp>
      <p:sp>
        <p:nvSpPr>
          <p:cNvPr id="25603" name="Rectangle 3"/>
          <p:cNvSpPr>
            <a:spLocks noGrp="1" noChangeArrowheads="1"/>
          </p:cNvSpPr>
          <p:nvPr>
            <p:ph idx="1"/>
          </p:nvPr>
        </p:nvSpPr>
        <p:spPr>
          <a:xfrm>
            <a:off x="457200" y="1981200"/>
            <a:ext cx="8229600" cy="339248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2800" b="1" i="0" u="none" strike="noStrike" kern="0" cap="none" spc="0" normalizeH="0" baseline="0" noProof="0" dirty="0" smtClean="0">
                <a:ln>
                  <a:noFill/>
                </a:ln>
                <a:solidFill>
                  <a:schemeClr val="tx1"/>
                </a:solidFill>
                <a:effectLst/>
                <a:uLnTx/>
                <a:uFillTx/>
                <a:latin typeface="+mn-lt"/>
                <a:ea typeface="+mn-ea"/>
                <a:cs typeface="+mn-cs"/>
              </a:rPr>
              <a:t>客户端能够完成信息的接收和发送操作，这与服务器端的多线程概念不同，可以采用</a:t>
            </a:r>
            <a:r>
              <a:rPr kumimoji="0" lang="zh-CN" sz="2800" b="1" i="0" u="none" strike="noStrike" kern="0" cap="none" spc="0" normalizeH="0" baseline="0" noProof="0" dirty="0" smtClean="0">
                <a:ln>
                  <a:noFill/>
                </a:ln>
                <a:solidFill>
                  <a:schemeClr val="bg2">
                    <a:lumMod val="60000"/>
                    <a:lumOff val="40000"/>
                  </a:schemeClr>
                </a:solidFill>
                <a:effectLst/>
                <a:uLnTx/>
                <a:uFillTx/>
                <a:latin typeface="+mn-lt"/>
                <a:ea typeface="+mn-ea"/>
                <a:cs typeface="+mn-cs"/>
              </a:rPr>
              <a:t>循环等待</a:t>
            </a:r>
            <a:r>
              <a:rPr kumimoji="0" lang="zh-CN" sz="2800" b="1" i="0" u="none" strike="noStrike" kern="0" cap="none" spc="0" normalizeH="0" baseline="0" noProof="0" dirty="0" smtClean="0">
                <a:ln>
                  <a:noFill/>
                </a:ln>
                <a:solidFill>
                  <a:schemeClr val="tx1"/>
                </a:solidFill>
                <a:effectLst/>
                <a:uLnTx/>
                <a:uFillTx/>
                <a:latin typeface="+mn-lt"/>
                <a:ea typeface="+mn-ea"/>
                <a:cs typeface="+mn-cs"/>
              </a:rPr>
              <a:t>的方法来实现客户端。</a:t>
            </a:r>
            <a:endParaRPr kumimoji="0" 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2800" b="1" i="0" u="none" strike="noStrike" kern="0" cap="none" spc="0" normalizeH="0" baseline="0" noProof="0" dirty="0" smtClean="0">
                <a:ln>
                  <a:noFill/>
                </a:ln>
                <a:solidFill>
                  <a:schemeClr val="tx1"/>
                </a:solidFill>
                <a:effectLst/>
                <a:uLnTx/>
                <a:uFillTx/>
                <a:latin typeface="+mn-lt"/>
                <a:ea typeface="+mn-ea"/>
                <a:cs typeface="+mn-cs"/>
              </a:rPr>
              <a:t>利用循环等待的方式，客户端首先接收用户输入的内容并将它们发送到服务器端，然后接收来自服务器端的信息，将其返回给客户端的用户。</a:t>
            </a:r>
            <a:endParaRPr kumimoji="0"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en-US" sz="2800" b="1" i="0" u="none" strike="noStrike" kern="0" cap="none" spc="0" normalizeH="0" baseline="0" noProof="0" dirty="0">
                <a:ln>
                  <a:noFill/>
                </a:ln>
                <a:solidFill>
                  <a:schemeClr val="tx1"/>
                </a:solidFill>
                <a:effectLst/>
                <a:uLnTx/>
                <a:uFillTx/>
                <a:latin typeface="+mn-lt"/>
                <a:ea typeface="+mn-ea"/>
                <a:cs typeface="+mn-cs"/>
              </a:rPr>
              <a:t>客户端的多任务也可采用多线程技术</a:t>
            </a:r>
            <a:r>
              <a:rPr kumimoji="0" lang="zh-CN" altLang="en-US" sz="2800" b="1" i="0" u="none" strike="noStrike" kern="0" cap="none" spc="0" normalizeH="0" baseline="0" noProof="0" dirty="0" smtClean="0">
                <a:ln>
                  <a:noFill/>
                </a:ln>
                <a:solidFill>
                  <a:schemeClr val="tx1"/>
                </a:solidFill>
                <a:effectLst/>
                <a:uLnTx/>
                <a:uFillTx/>
                <a:latin typeface="+mn-lt"/>
                <a:ea typeface="+mn-ea"/>
                <a:cs typeface="+mn-cs"/>
              </a:rPr>
              <a:t>实现。</a:t>
            </a:r>
            <a:endParaRPr kumimoji="0" lang="zh-CN"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noChangeArrowheads="1"/>
          </p:cNvSpPr>
          <p:nvPr>
            <p:ph idx="1"/>
          </p:nvPr>
        </p:nvSpPr>
        <p:spPr>
          <a:xfrm>
            <a:off x="428625" y="1500188"/>
            <a:ext cx="8464550" cy="4681538"/>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3200" b="1" i="0" u="none" strike="noStrike" kern="0" cap="none" spc="0" normalizeH="0" baseline="0" noProof="0" dirty="0" smtClean="0">
                <a:ln>
                  <a:noFill/>
                </a:ln>
                <a:solidFill>
                  <a:schemeClr val="tx1"/>
                </a:solidFill>
                <a:effectLst/>
                <a:uLnTx/>
                <a:uFillTx/>
                <a:latin typeface="黑体" panose="02010609060101010101" pitchFamily="49" charset="-122"/>
                <a:ea typeface="+mn-ea"/>
                <a:cs typeface="+mn-cs"/>
              </a:rPr>
              <a:t>数据库物理模型</a:t>
            </a:r>
            <a:r>
              <a:rPr kumimoji="0" lang="zh-CN" altLang="en-US" sz="3200" b="1" i="0" u="none" strike="noStrike" kern="0" cap="none" spc="0" normalizeH="0" baseline="0" noProof="0" dirty="0" smtClean="0">
                <a:ln>
                  <a:noFill/>
                </a:ln>
                <a:solidFill>
                  <a:schemeClr val="tx1"/>
                </a:solidFill>
                <a:effectLst/>
                <a:uLnTx/>
                <a:uFillTx/>
                <a:latin typeface="黑体" panose="02010609060101010101" pitchFamily="49" charset="-122"/>
                <a:ea typeface="+mn-ea"/>
                <a:cs typeface="+mn-cs"/>
              </a:rPr>
              <a:t>：</a:t>
            </a:r>
            <a:r>
              <a:rPr kumimoji="0" lang="zh-CN" altLang="en-US" sz="3200" b="1" i="0" u="none" strike="noStrike" kern="0" cap="none" spc="0" normalizeH="0" baseline="0" noProof="0" dirty="0" smtClean="0">
                <a:ln>
                  <a:noFill/>
                </a:ln>
                <a:solidFill>
                  <a:schemeClr val="bg2">
                    <a:lumMod val="60000"/>
                    <a:lumOff val="40000"/>
                  </a:schemeClr>
                </a:solidFill>
                <a:effectLst/>
                <a:uLnTx/>
                <a:uFillTx/>
                <a:latin typeface="黑体" panose="02010609060101010101" pitchFamily="49" charset="-122"/>
                <a:ea typeface="+mn-ea"/>
                <a:cs typeface="+mn-cs"/>
              </a:rPr>
              <a:t>关系型数据库</a:t>
            </a:r>
            <a:endParaRPr kumimoji="0" lang="en-US" altLang="zh-CN" sz="3200" b="1" i="0" u="none" strike="noStrike" kern="0" cap="none" spc="0" normalizeH="0" baseline="0" noProof="0" dirty="0" smtClean="0">
              <a:ln>
                <a:noFill/>
              </a:ln>
              <a:solidFill>
                <a:schemeClr val="bg2">
                  <a:lumMod val="60000"/>
                  <a:lumOff val="40000"/>
                </a:schemeClr>
              </a:solidFill>
              <a:effectLst/>
              <a:uLnTx/>
              <a:uFillTx/>
              <a:latin typeface="黑体" panose="02010609060101010101" pitchFamily="49" charset="-122"/>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en-US" sz="3200" b="1" i="0" u="none" strike="noStrike" kern="0" cap="none" spc="0" normalizeH="0" baseline="0" noProof="0" dirty="0">
                <a:ln>
                  <a:noFill/>
                </a:ln>
                <a:solidFill>
                  <a:schemeClr val="tx1"/>
                </a:solidFill>
                <a:effectLst/>
                <a:uLnTx/>
                <a:uFillTx/>
                <a:latin typeface="+mn-lt"/>
                <a:ea typeface="+mn-ea"/>
                <a:cs typeface="+mn-cs"/>
              </a:rPr>
              <a:t>由一系列表格组成</a:t>
            </a:r>
            <a:endParaRPr kumimoji="0" lang="zh-CN" altLang="en-US" sz="32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en-US" sz="3200" b="1" i="0" u="none" strike="noStrike" kern="0" cap="none" spc="0" normalizeH="0" baseline="0" noProof="0" dirty="0">
                <a:ln>
                  <a:noFill/>
                </a:ln>
                <a:solidFill>
                  <a:schemeClr val="bg2">
                    <a:lumMod val="60000"/>
                    <a:lumOff val="40000"/>
                  </a:schemeClr>
                </a:solidFill>
                <a:effectLst/>
                <a:uLnTx/>
                <a:uFillTx/>
                <a:latin typeface="+mn-lt"/>
                <a:ea typeface="+mn-ea"/>
                <a:cs typeface="+mn-cs"/>
              </a:rPr>
              <a:t>模型</a:t>
            </a:r>
            <a:r>
              <a:rPr kumimoji="0" lang="zh-CN" altLang="en-US" sz="3200" b="1" i="0" u="none" strike="noStrike" kern="0" cap="none" spc="0" normalizeH="0" baseline="0" noProof="0" dirty="0">
                <a:ln>
                  <a:noFill/>
                </a:ln>
                <a:solidFill>
                  <a:schemeClr val="tx1"/>
                </a:solidFill>
                <a:effectLst/>
                <a:uLnTx/>
                <a:uFillTx/>
                <a:latin typeface="+mn-lt"/>
                <a:ea typeface="+mn-ea"/>
                <a:cs typeface="+mn-cs"/>
              </a:rPr>
              <a:t>对应数据库中不同的</a:t>
            </a:r>
            <a:r>
              <a:rPr kumimoji="0" lang="zh-CN" altLang="en-US" sz="3200" b="1" i="0" u="none" strike="noStrike" kern="0" cap="none" spc="0" normalizeH="0" baseline="0" noProof="0" dirty="0">
                <a:ln>
                  <a:noFill/>
                </a:ln>
                <a:solidFill>
                  <a:schemeClr val="bg2">
                    <a:lumMod val="60000"/>
                    <a:lumOff val="40000"/>
                  </a:schemeClr>
                </a:solidFill>
                <a:effectLst/>
                <a:uLnTx/>
                <a:uFillTx/>
                <a:latin typeface="+mn-lt"/>
                <a:ea typeface="+mn-ea"/>
                <a:cs typeface="+mn-cs"/>
              </a:rPr>
              <a:t>数据表</a:t>
            </a:r>
            <a:r>
              <a:rPr kumimoji="0" lang="zh-CN" altLang="en-US" sz="3200" b="1" i="0" u="none" strike="noStrike" kern="0" cap="none" spc="0" normalizeH="0" baseline="0" noProof="0" dirty="0">
                <a:ln>
                  <a:noFill/>
                </a:ln>
                <a:solidFill>
                  <a:schemeClr val="tx1"/>
                </a:solidFill>
                <a:effectLst/>
                <a:uLnTx/>
                <a:uFillTx/>
                <a:latin typeface="+mn-lt"/>
                <a:ea typeface="+mn-ea"/>
                <a:cs typeface="+mn-cs"/>
              </a:rPr>
              <a:t>，这些模型将被访问数据库的</a:t>
            </a:r>
            <a:r>
              <a:rPr kumimoji="0" lang="en-US" altLang="zh-CN" sz="3200" b="1" i="0" u="none" strike="noStrike" kern="0" cap="none" spc="0" normalizeH="0" baseline="0" noProof="0" dirty="0">
                <a:ln>
                  <a:noFill/>
                </a:ln>
                <a:solidFill>
                  <a:schemeClr val="tx1"/>
                </a:solidFill>
                <a:effectLst/>
                <a:uLnTx/>
                <a:uFillTx/>
                <a:latin typeface="+mn-lt"/>
                <a:ea typeface="+mn-ea"/>
                <a:cs typeface="+mn-cs"/>
              </a:rPr>
              <a:t>DAO</a:t>
            </a:r>
            <a:r>
              <a:rPr kumimoji="0" lang="zh-CN" altLang="en-US" sz="3200" b="1" i="0" u="none" strike="noStrike" kern="0" cap="none" spc="0" normalizeH="0" baseline="0" noProof="0" dirty="0">
                <a:ln>
                  <a:noFill/>
                </a:ln>
                <a:solidFill>
                  <a:schemeClr val="tx1"/>
                </a:solidFill>
                <a:effectLst/>
                <a:uLnTx/>
                <a:uFillTx/>
                <a:latin typeface="+mn-lt"/>
                <a:ea typeface="+mn-ea"/>
                <a:cs typeface="+mn-cs"/>
              </a:rPr>
              <a:t>类、程序中各个模块及各个</a:t>
            </a:r>
            <a:r>
              <a:rPr kumimoji="0" lang="en-US" altLang="zh-CN" sz="3200" b="1" i="0" u="none" strike="noStrike" kern="0" cap="none" spc="0" normalizeH="0" baseline="0" noProof="0" dirty="0">
                <a:ln>
                  <a:noFill/>
                </a:ln>
                <a:solidFill>
                  <a:schemeClr val="tx1"/>
                </a:solidFill>
                <a:effectLst/>
                <a:uLnTx/>
                <a:uFillTx/>
                <a:latin typeface="+mn-lt"/>
                <a:ea typeface="+mn-ea"/>
                <a:cs typeface="+mn-cs"/>
              </a:rPr>
              <a:t>GUI</a:t>
            </a:r>
            <a:r>
              <a:rPr kumimoji="0" lang="zh-CN" altLang="en-US" sz="3200" b="1" i="0" u="none" strike="noStrike" kern="0" cap="none" spc="0" normalizeH="0" baseline="0" noProof="0" dirty="0">
                <a:ln>
                  <a:noFill/>
                </a:ln>
                <a:solidFill>
                  <a:schemeClr val="tx1"/>
                </a:solidFill>
                <a:effectLst/>
                <a:uLnTx/>
                <a:uFillTx/>
                <a:latin typeface="+mn-lt"/>
                <a:ea typeface="+mn-ea"/>
                <a:cs typeface="+mn-cs"/>
              </a:rPr>
              <a:t>组件所使用。</a:t>
            </a:r>
            <a:endParaRPr kumimoji="0" lang="zh-CN" altLang="en-US" sz="32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en-US" sz="3200" b="1" i="0" u="none" strike="noStrike" kern="0" cap="none" spc="0" normalizeH="0" baseline="0" noProof="0" dirty="0">
                <a:ln>
                  <a:noFill/>
                </a:ln>
                <a:solidFill>
                  <a:schemeClr val="bg2">
                    <a:lumMod val="60000"/>
                    <a:lumOff val="40000"/>
                  </a:schemeClr>
                </a:solidFill>
                <a:effectLst/>
                <a:uLnTx/>
                <a:uFillTx/>
                <a:latin typeface="+mn-lt"/>
                <a:ea typeface="+mn-ea"/>
                <a:cs typeface="+mn-cs"/>
              </a:rPr>
              <a:t>数据模型</a:t>
            </a:r>
            <a:r>
              <a:rPr kumimoji="0" lang="zh-CN" altLang="en-US" sz="3200" b="1" i="0" u="none" strike="noStrike" kern="0" cap="none" spc="0" normalizeH="0" baseline="0" noProof="0" dirty="0">
                <a:ln>
                  <a:noFill/>
                </a:ln>
                <a:solidFill>
                  <a:schemeClr val="tx1"/>
                </a:solidFill>
                <a:effectLst/>
                <a:uLnTx/>
                <a:uFillTx/>
                <a:latin typeface="+mn-lt"/>
                <a:ea typeface="+mn-ea"/>
                <a:cs typeface="+mn-cs"/>
              </a:rPr>
              <a:t>是对数据表中所有字段（属性）的封装，主要用于存储数据。</a:t>
            </a:r>
            <a:endParaRPr kumimoji="0" lang="zh-CN" altLang="en-US" sz="3200" b="1"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endParaRPr kumimoji="0" lang="zh-CN" sz="3200" b="1" i="0" u="none" strike="noStrike" kern="0" cap="none" spc="0" normalizeH="0" baseline="0" noProof="0" dirty="0" smtClean="0">
              <a:ln>
                <a:noFill/>
              </a:ln>
              <a:solidFill>
                <a:schemeClr val="bg2">
                  <a:lumMod val="60000"/>
                  <a:lumOff val="40000"/>
                </a:schemeClr>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defRPr/>
            </a:pPr>
            <a:r>
              <a:rPr kumimoji="0" lang="zh-CN" sz="3200" b="1" i="0" u="none" strike="noStrike" kern="0" cap="none" spc="0" normalizeH="0" baseline="0" noProof="0" dirty="0" smtClean="0">
                <a:ln>
                  <a:noFill/>
                </a:ln>
                <a:solidFill>
                  <a:schemeClr val="tx1"/>
                </a:solidFill>
                <a:effectLst/>
                <a:uLnTx/>
                <a:uFillTx/>
                <a:latin typeface="+mn-lt"/>
                <a:ea typeface="+mn-ea"/>
                <a:cs typeface="+mn-cs"/>
              </a:rPr>
              <a:t>   </a:t>
            </a:r>
            <a:endParaRPr kumimoji="0" lang="zh-CN" sz="2000" b="1" i="0" u="none" strike="noStrike" kern="0" cap="none" spc="0" normalizeH="0" baseline="0" noProof="0" dirty="0" smtClean="0">
              <a:ln>
                <a:noFill/>
              </a:ln>
              <a:solidFill>
                <a:schemeClr val="tx1"/>
              </a:solidFill>
              <a:effectLst/>
              <a:uLnTx/>
              <a:uFillTx/>
              <a:latin typeface="+mn-lt"/>
              <a:ea typeface="+mn-ea"/>
              <a:cs typeface="+mn-cs"/>
            </a:endParaRPr>
          </a:p>
        </p:txBody>
      </p:sp>
      <p:sp>
        <p:nvSpPr>
          <p:cNvPr id="24579" name="Rectangle 3"/>
          <p:cNvSpPr>
            <a:spLocks noGrp="1"/>
          </p:cNvSpPr>
          <p:nvPr>
            <p:ph type="title"/>
          </p:nvPr>
        </p:nvSpPr>
        <p:spPr>
          <a:xfrm>
            <a:off x="457200" y="457200"/>
            <a:ext cx="8229600" cy="1257300"/>
          </a:xfrm>
        </p:spPr>
        <p:txBody>
          <a:bodyPr vert="horz" wrap="square" lIns="91440" tIns="45720" rIns="91440" bIns="45720" anchor="ctr" anchorCtr="0"/>
          <a:p>
            <a:pPr eaLnBrk="1" hangingPunct="1"/>
            <a:r>
              <a:rPr lang="zh-CN" altLang="zh-CN" dirty="0">
                <a:solidFill>
                  <a:srgbClr val="FF0000"/>
                </a:solidFill>
              </a:rPr>
              <a:t>数据库</a:t>
            </a:r>
            <a:r>
              <a:rPr lang="zh-CN" altLang="en-US" dirty="0">
                <a:solidFill>
                  <a:srgbClr val="FF0000"/>
                </a:solidFill>
              </a:rPr>
              <a:t>设计</a:t>
            </a:r>
            <a:endParaRPr lang="zh-CN" altLang="zh-CN"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23850" y="549275"/>
            <a:ext cx="7070725" cy="58420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数据库结构设计：</a:t>
            </a:r>
            <a:r>
              <a:rPr kumimoji="0" lang="en-US" altLang="zh-CN" sz="32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E-R</a:t>
            </a:r>
            <a:r>
              <a:rPr kumimoji="0" lang="zh-CN" altLang="en-US" sz="32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图、数据表设计</a:t>
            </a:r>
            <a:endParaRPr kumimoji="0" lang="zh-CN" altLang="en-US" sz="32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25603" name="Picture 2"/>
          <p:cNvPicPr>
            <a:picLocks noChangeAspect="1"/>
          </p:cNvPicPr>
          <p:nvPr/>
        </p:nvPicPr>
        <p:blipFill>
          <a:blip r:embed="rId1"/>
          <a:stretch>
            <a:fillRect/>
          </a:stretch>
        </p:blipFill>
        <p:spPr>
          <a:xfrm>
            <a:off x="1370013" y="2303463"/>
            <a:ext cx="5699125" cy="3614737"/>
          </a:xfrm>
          <a:prstGeom prst="rect">
            <a:avLst/>
          </a:prstGeom>
          <a:noFill/>
          <a:ln w="9525">
            <a:noFill/>
          </a:ln>
        </p:spPr>
      </p:pic>
      <p:sp>
        <p:nvSpPr>
          <p:cNvPr id="25604" name="TextBox 4"/>
          <p:cNvSpPr txBox="1"/>
          <p:nvPr/>
        </p:nvSpPr>
        <p:spPr>
          <a:xfrm>
            <a:off x="3348038" y="5918200"/>
            <a:ext cx="1744662" cy="369888"/>
          </a:xfrm>
          <a:prstGeom prst="rect">
            <a:avLst/>
          </a:prstGeom>
          <a:noFill/>
          <a:ln w="9525">
            <a:noFill/>
          </a:ln>
        </p:spPr>
        <p:txBody>
          <a:bodyPr wrap="none">
            <a:spAutoFit/>
          </a:bodyPr>
          <a:p>
            <a:r>
              <a:rPr lang="zh-CN" altLang="en-US" dirty="0">
                <a:latin typeface="Arial" panose="020B0604020202020204" pitchFamily="34" charset="0"/>
              </a:rPr>
              <a:t>教务管理</a:t>
            </a:r>
            <a:r>
              <a:rPr lang="en-US" altLang="zh-CN" dirty="0">
                <a:latin typeface="Arial" panose="020B0604020202020204" pitchFamily="34" charset="0"/>
              </a:rPr>
              <a:t>E-R</a:t>
            </a:r>
            <a:r>
              <a:rPr lang="zh-CN" altLang="en-US" dirty="0">
                <a:latin typeface="Arial" panose="020B0604020202020204" pitchFamily="34" charset="0"/>
              </a:rPr>
              <a:t>图</a:t>
            </a:r>
            <a:endParaRPr lang="zh-CN" altLang="en-US" dirty="0">
              <a:latin typeface="Arial" panose="020B0604020202020204" pitchFamily="34" charset="0"/>
            </a:endParaRPr>
          </a:p>
        </p:txBody>
      </p:sp>
      <p:sp>
        <p:nvSpPr>
          <p:cNvPr id="35844" name="矩形 4"/>
          <p:cNvSpPr>
            <a:spLocks noChangeArrowheads="1"/>
          </p:cNvSpPr>
          <p:nvPr/>
        </p:nvSpPr>
        <p:spPr bwMode="auto">
          <a:xfrm>
            <a:off x="392113" y="1268413"/>
            <a:ext cx="84772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E-R </a:t>
            </a:r>
            <a:r>
              <a:rPr kumimoji="0" lang="zh-CN" altLang="en-US"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图（</a:t>
            </a:r>
            <a:r>
              <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Entity Relationship Diagram</a:t>
            </a:r>
            <a:r>
              <a:rPr kumimoji="0" lang="zh-CN" altLang="en-US"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，实体联系图）</a:t>
            </a:r>
            <a:r>
              <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en-US" altLang="zh-CN"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smtClean="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实体</a:t>
            </a:r>
            <a:r>
              <a:rPr kumimoji="0" lang="zh-CN" altLang="en-US"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dirty="0" smtClean="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属性</a:t>
            </a:r>
            <a:r>
              <a:rPr kumimoji="0" lang="zh-CN" altLang="en-US"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a:t>
            </a:r>
            <a:r>
              <a:rPr kumimoji="0" lang="zh-CN" altLang="en-US" sz="2400" b="1" i="0" u="none" strike="noStrike" kern="1200" cap="none" spc="0" normalizeH="0" baseline="0" noProof="0" dirty="0" smtClean="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关系</a:t>
            </a:r>
            <a:r>
              <a:rPr kumimoji="0" lang="zh-CN" altLang="en-US"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rPr>
              <a:t>三要素 </a:t>
            </a:r>
            <a:endParaRPr kumimoji="0" lang="zh-CN" altLang="en-US" sz="2400" b="1" i="0" u="none" strike="noStrike" kern="1200" cap="none" spc="0" normalizeH="0" baseline="0" noProof="0" dirty="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74650" y="2262188"/>
            <a:ext cx="8301038" cy="3108325"/>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数据库的逻辑结构</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是独立于任何一种数据模型的。在实际应用中，一般所用的数据库环境已经给定，如：</a:t>
            </a:r>
            <a:r>
              <a:rPr kumimoji="0" lang="en-US" altLang="zh-CN" sz="2800" b="1"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MySql</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0" lang="en-US" alt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SQL Server</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或</a:t>
            </a:r>
            <a:r>
              <a:rPr kumimoji="0" lang="en-US" altLang="zh-CN" sz="2800" b="1" i="0" u="none" strike="noStrike" kern="1200" cap="none" spc="0" normalizeH="0" baseline="0" noProof="0" dirty="0" err="1">
                <a:ln>
                  <a:noFill/>
                </a:ln>
                <a:solidFill>
                  <a:schemeClr val="tx1"/>
                </a:solidFill>
                <a:effectLst/>
                <a:uLnTx/>
                <a:uFillTx/>
                <a:latin typeface="Arial" panose="020B0604020202020204" pitchFamily="34" charset="0"/>
                <a:ea typeface="宋体" panose="02010600030101010101" pitchFamily="2" charset="-122"/>
                <a:cs typeface="+mn-cs"/>
              </a:rPr>
              <a:t>Oracel</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。由于目前使用的数据库基本上都是关系数据库，因此首先需要将</a:t>
            </a:r>
            <a:r>
              <a:rPr kumimoji="0" lang="en-US" altLang="zh-CN" sz="28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E-R</a:t>
            </a:r>
            <a:r>
              <a:rPr kumimoji="0" lang="zh-CN" altLang="en-US" sz="28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图</a:t>
            </a: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转换为</a:t>
            </a:r>
            <a:r>
              <a:rPr kumimoji="0" lang="zh-CN" altLang="en-US" sz="28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关系模型</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，然后根据具体</a:t>
            </a:r>
            <a:r>
              <a:rPr kumimoji="0" lang="en-US" alt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DBMS</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的特点和限制转换为特定的</a:t>
            </a:r>
            <a:r>
              <a:rPr kumimoji="0" lang="en-US" alt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DBMS</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支持下的数据模型，最后进行优化。</a:t>
            </a:r>
            <a:endPar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矩形 4"/>
          <p:cNvSpPr/>
          <p:nvPr/>
        </p:nvSpPr>
        <p:spPr>
          <a:xfrm>
            <a:off x="395288" y="765175"/>
            <a:ext cx="8353425" cy="1384300"/>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2">
                    <a:lumMod val="60000"/>
                    <a:lumOff val="40000"/>
                  </a:schemeClr>
                </a:solidFill>
                <a:effectLst/>
                <a:uLnTx/>
                <a:uFillTx/>
                <a:latin typeface="Arial" panose="020B0604020202020204" pitchFamily="34" charset="0"/>
                <a:ea typeface="宋体" panose="02010600030101010101" pitchFamily="2" charset="-122"/>
                <a:cs typeface="+mn-cs"/>
              </a:rPr>
              <a:t>数据库的逻辑结构设计：</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就是把</a:t>
            </a: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概念结构</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设计阶段设计好的基本 </a:t>
            </a:r>
            <a:r>
              <a:rPr kumimoji="0" lang="en-US" alt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E-R </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图转换为与选用的 </a:t>
            </a:r>
            <a:r>
              <a:rPr kumimoji="0" lang="en-US" alt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DBMS</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所支持的数据模型相符合的</a:t>
            </a:r>
            <a:r>
              <a:rPr kumimoji="0" lang="zh-CN" altLang="en-US" sz="2800" b="1" i="0" u="none" strike="noStrike" kern="1200" cap="none" spc="0" normalizeH="0" baseline="0" noProof="0" dirty="0">
                <a:ln>
                  <a:noFill/>
                </a:ln>
                <a:solidFill>
                  <a:srgbClr val="FF0000"/>
                </a:solidFill>
                <a:effectLst/>
                <a:uLnTx/>
                <a:uFillTx/>
                <a:latin typeface="Arial" panose="020B0604020202020204" pitchFamily="34" charset="0"/>
                <a:ea typeface="宋体" panose="02010600030101010101" pitchFamily="2" charset="-122"/>
                <a:cs typeface="+mn-cs"/>
              </a:rPr>
              <a:t>逻辑结构</a:t>
            </a: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endPar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idx="1"/>
          </p:nvPr>
        </p:nvSpPr>
        <p:spPr>
          <a:xfrm>
            <a:off x="457200" y="1916113"/>
            <a:ext cx="8362950" cy="4752975"/>
          </a:xfrm>
        </p:spPr>
        <p:txBody>
          <a:bodyPr vert="horz" wrap="square" lIns="91440" tIns="45720" rIns="91440" bIns="45720" anchor="t" anchorCtr="0"/>
          <a:p>
            <a:pPr eaLnBrk="1" hangingPunct="1"/>
            <a:r>
              <a:rPr lang="zh-CN" altLang="en-US" dirty="0"/>
              <a:t>服务器端：</a:t>
            </a:r>
            <a:endParaRPr lang="zh-CN" altLang="en-US" dirty="0"/>
          </a:p>
          <a:p>
            <a:pPr lvl="1" eaLnBrk="1" hangingPunct="1"/>
            <a:r>
              <a:rPr lang="zh-CN" altLang="en-US" dirty="0"/>
              <a:t>创建Server类监听客户端请求，并为客户端创建服务线程</a:t>
            </a:r>
            <a:endParaRPr lang="zh-CN" altLang="en-US" dirty="0"/>
          </a:p>
          <a:p>
            <a:pPr lvl="1" eaLnBrk="1" hangingPunct="1"/>
            <a:r>
              <a:rPr lang="zh-CN" altLang="en-US" dirty="0"/>
              <a:t>创建服务线程类ServerThread提供服务功能，包括：</a:t>
            </a:r>
            <a:endParaRPr lang="zh-CN" altLang="en-US" dirty="0"/>
          </a:p>
          <a:p>
            <a:pPr lvl="2" eaLnBrk="1" hangingPunct="1"/>
            <a:r>
              <a:rPr lang="zh-CN" altLang="en-US" dirty="0"/>
              <a:t>登录验证(登录线程)</a:t>
            </a:r>
            <a:endParaRPr lang="zh-CN" altLang="en-US" dirty="0"/>
          </a:p>
          <a:p>
            <a:pPr lvl="2" eaLnBrk="1" hangingPunct="1"/>
            <a:r>
              <a:rPr lang="zh-CN" altLang="en-US" dirty="0">
                <a:sym typeface="+mn-ea"/>
              </a:rPr>
              <a:t>应用服务</a:t>
            </a:r>
            <a:endParaRPr lang="zh-CN" altLang="en-US" dirty="0"/>
          </a:p>
          <a:p>
            <a:pPr lvl="2" eaLnBrk="1" hangingPunct="1"/>
            <a:r>
              <a:rPr lang="zh-CN" altLang="en-US" dirty="0">
                <a:sym typeface="+mn-ea"/>
              </a:rPr>
              <a:t>退出下线</a:t>
            </a:r>
            <a:endParaRPr lang="zh-CN" altLang="en-US" dirty="0">
              <a:sym typeface="+mn-ea"/>
            </a:endParaRPr>
          </a:p>
        </p:txBody>
      </p:sp>
      <p:sp>
        <p:nvSpPr>
          <p:cNvPr id="27651" name="Rectangle 3"/>
          <p:cNvSpPr>
            <a:spLocks noGrp="1"/>
          </p:cNvSpPr>
          <p:nvPr>
            <p:ph type="title"/>
          </p:nvPr>
        </p:nvSpPr>
        <p:spPr/>
        <p:txBody>
          <a:bodyPr vert="horz" wrap="square" lIns="91440" tIns="45720" rIns="91440" bIns="45720" anchor="ctr" anchorCtr="0"/>
          <a:p>
            <a:pPr eaLnBrk="1" hangingPunct="1"/>
            <a:r>
              <a:rPr lang="zh-CN" altLang="zh-CN" dirty="0"/>
              <a:t>四、详细设计</a:t>
            </a:r>
            <a:endParaRPr lang="zh-CN"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468313" y="188913"/>
            <a:ext cx="8229600" cy="1371600"/>
          </a:xfrm>
        </p:spPr>
        <p:txBody>
          <a:bodyPr vert="horz" wrap="square" lIns="91440" tIns="45720" rIns="91440" bIns="45720" anchor="ctr" anchorCtr="0"/>
          <a:p>
            <a:pPr eaLnBrk="1" hangingPunct="1"/>
            <a:r>
              <a:rPr lang="zh-CN" altLang="zh-CN" dirty="0"/>
              <a:t>详细设计——客户端</a:t>
            </a:r>
            <a:endParaRPr lang="zh-CN" altLang="zh-CN" dirty="0"/>
          </a:p>
        </p:txBody>
      </p:sp>
      <p:sp>
        <p:nvSpPr>
          <p:cNvPr id="28675" name="Rectangle 3"/>
          <p:cNvSpPr>
            <a:spLocks noGrp="1"/>
          </p:cNvSpPr>
          <p:nvPr>
            <p:ph idx="1"/>
          </p:nvPr>
        </p:nvSpPr>
        <p:spPr>
          <a:xfrm>
            <a:off x="395288" y="1844675"/>
            <a:ext cx="8435975" cy="4184650"/>
          </a:xfrm>
        </p:spPr>
        <p:txBody>
          <a:bodyPr vert="horz" wrap="square" lIns="91440" tIns="45720" rIns="91440" bIns="45720" anchor="t" anchorCtr="0"/>
          <a:p>
            <a:pPr eaLnBrk="1" hangingPunct="1"/>
            <a:r>
              <a:rPr lang="zh-CN" altLang="zh-CN" dirty="0"/>
              <a:t>客户端设计</a:t>
            </a:r>
            <a:endParaRPr lang="zh-CN" altLang="zh-CN" dirty="0"/>
          </a:p>
          <a:p>
            <a:pPr lvl="1" eaLnBrk="1" hangingPunct="1"/>
            <a:r>
              <a:rPr lang="en-US" altLang="zh-CN" sz="3200" dirty="0"/>
              <a:t> </a:t>
            </a:r>
            <a:r>
              <a:rPr lang="zh-CN" altLang="zh-CN" sz="3200" dirty="0"/>
              <a:t>用户注册（界面设计及注册事件处理）</a:t>
            </a:r>
            <a:endParaRPr lang="zh-CN" altLang="zh-CN" sz="3200" dirty="0"/>
          </a:p>
          <a:p>
            <a:pPr lvl="1" eaLnBrk="1" hangingPunct="1"/>
            <a:r>
              <a:rPr lang="en-US" altLang="zh-CN" sz="3200" dirty="0"/>
              <a:t> </a:t>
            </a:r>
            <a:r>
              <a:rPr lang="zh-CN" altLang="zh-CN" sz="3200" dirty="0"/>
              <a:t>用户登录</a:t>
            </a:r>
            <a:endParaRPr lang="zh-CN" altLang="zh-CN" sz="3200" dirty="0"/>
          </a:p>
          <a:p>
            <a:pPr lvl="2" eaLnBrk="1" hangingPunct="1"/>
            <a:r>
              <a:rPr lang="zh-CN" altLang="zh-CN" sz="3200" dirty="0"/>
              <a:t>监听登录事件</a:t>
            </a:r>
            <a:endParaRPr lang="zh-CN" altLang="zh-CN" sz="3200" dirty="0"/>
          </a:p>
          <a:p>
            <a:pPr lvl="2" eaLnBrk="1" hangingPunct="1"/>
            <a:r>
              <a:rPr lang="zh-CN" altLang="zh-CN" sz="3200" dirty="0"/>
              <a:t>登录事件处理</a:t>
            </a:r>
            <a:endParaRPr lang="zh-CN" altLang="zh-CN" sz="3200" dirty="0"/>
          </a:p>
          <a:p>
            <a:pPr lvl="2" eaLnBrk="1" hangingPunct="1"/>
            <a:r>
              <a:rPr lang="zh-CN" altLang="zh-CN" sz="3200" dirty="0"/>
              <a:t>退出</a:t>
            </a:r>
            <a:endParaRPr lang="zh-CN" altLang="zh-CN" sz="3200" dirty="0"/>
          </a:p>
          <a:p>
            <a:pPr lvl="2" eaLnBrk="1" hangingPunct="1"/>
            <a:r>
              <a:rPr lang="zh-CN" altLang="zh-CN" sz="3200" dirty="0"/>
              <a:t>界面设计</a:t>
            </a:r>
            <a:endParaRPr lang="zh-CN" altLang="zh-CN" sz="3200" dirty="0"/>
          </a:p>
          <a:p>
            <a:pPr lvl="1" eaLnBrk="1" hangingPunct="1"/>
            <a:endParaRPr lang="zh-CN" altLang="zh-CN"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idx="1"/>
          </p:nvPr>
        </p:nvSpPr>
        <p:spPr>
          <a:xfrm>
            <a:off x="468313" y="504825"/>
            <a:ext cx="8435975" cy="6237288"/>
          </a:xfrm>
        </p:spPr>
        <p:txBody>
          <a:bodyPr vert="horz" wrap="square" lIns="91440" tIns="45720" rIns="91440" bIns="45720" anchor="t" anchorCtr="0"/>
          <a:p>
            <a:pPr eaLnBrk="1" hangingPunct="1">
              <a:lnSpc>
                <a:spcPct val="80000"/>
              </a:lnSpc>
            </a:pPr>
            <a:r>
              <a:rPr lang="zh-CN" altLang="en-US" sz="3600" dirty="0"/>
              <a:t>客户端设计</a:t>
            </a:r>
            <a:endParaRPr lang="zh-CN" altLang="en-US" sz="3600" dirty="0"/>
          </a:p>
          <a:p>
            <a:pPr lvl="1" eaLnBrk="1" hangingPunct="1">
              <a:lnSpc>
                <a:spcPct val="80000"/>
              </a:lnSpc>
            </a:pPr>
            <a:r>
              <a:rPr lang="zh-CN" altLang="en-US" sz="3200" dirty="0"/>
              <a:t> 主程序设计</a:t>
            </a:r>
            <a:endParaRPr lang="zh-CN" altLang="en-US" sz="3200" dirty="0"/>
          </a:p>
          <a:p>
            <a:pPr lvl="2" eaLnBrk="1" hangingPunct="1">
              <a:lnSpc>
                <a:spcPct val="80000"/>
              </a:lnSpc>
            </a:pPr>
            <a:r>
              <a:rPr lang="zh-CN" altLang="en-US" sz="2800" dirty="0"/>
              <a:t>窗口设计及事件处理</a:t>
            </a:r>
            <a:endParaRPr lang="zh-CN" altLang="en-US" sz="2800" dirty="0"/>
          </a:p>
          <a:p>
            <a:pPr lvl="2" eaLnBrk="1" hangingPunct="1">
              <a:lnSpc>
                <a:spcPct val="80000"/>
              </a:lnSpc>
            </a:pPr>
            <a:r>
              <a:rPr lang="zh-CN" altLang="en-US" sz="2800" dirty="0"/>
              <a:t>服务器连接</a:t>
            </a:r>
            <a:endParaRPr lang="zh-CN" altLang="en-US" sz="2800" dirty="0"/>
          </a:p>
          <a:p>
            <a:pPr lvl="1" eaLnBrk="1" hangingPunct="1">
              <a:lnSpc>
                <a:spcPct val="80000"/>
              </a:lnSpc>
            </a:pPr>
            <a:r>
              <a:rPr lang="zh-CN" altLang="en-US" sz="3200" dirty="0"/>
              <a:t> 消息通信的设计</a:t>
            </a:r>
            <a:endParaRPr lang="zh-CN" altLang="en-US" sz="3200" dirty="0"/>
          </a:p>
          <a:p>
            <a:pPr lvl="2" eaLnBrk="1" hangingPunct="1">
              <a:lnSpc>
                <a:spcPct val="80000"/>
              </a:lnSpc>
            </a:pPr>
            <a:r>
              <a:rPr lang="zh-CN" altLang="en-US" sz="2800" dirty="0"/>
              <a:t>创建数据报</a:t>
            </a:r>
            <a:endParaRPr lang="zh-CN" altLang="en-US" sz="2800" dirty="0"/>
          </a:p>
          <a:p>
            <a:pPr lvl="2" eaLnBrk="1" hangingPunct="1">
              <a:lnSpc>
                <a:spcPct val="80000"/>
              </a:lnSpc>
            </a:pPr>
            <a:r>
              <a:rPr lang="zh-CN" altLang="en-US" sz="2800" dirty="0"/>
              <a:t>发送消息</a:t>
            </a:r>
            <a:endParaRPr lang="zh-CN" altLang="en-US" sz="2800" dirty="0"/>
          </a:p>
          <a:p>
            <a:pPr lvl="2" eaLnBrk="1" hangingPunct="1">
              <a:lnSpc>
                <a:spcPct val="80000"/>
              </a:lnSpc>
            </a:pPr>
            <a:r>
              <a:rPr lang="zh-CN" altLang="en-US" sz="2800" dirty="0"/>
              <a:t>接收消息</a:t>
            </a:r>
            <a:endParaRPr lang="zh-CN" altLang="en-US" sz="2800" dirty="0"/>
          </a:p>
          <a:p>
            <a:pPr lvl="1" eaLnBrk="1" hangingPunct="1">
              <a:lnSpc>
                <a:spcPct val="80000"/>
              </a:lnSpc>
            </a:pPr>
            <a:r>
              <a:rPr lang="zh-CN" altLang="en-US" sz="3200" dirty="0"/>
              <a:t> 应用服务</a:t>
            </a:r>
            <a:endParaRPr lang="zh-CN" altLang="en-US" sz="3200" dirty="0"/>
          </a:p>
          <a:p>
            <a:pPr lvl="2" eaLnBrk="1" hangingPunct="1">
              <a:lnSpc>
                <a:spcPct val="80000"/>
              </a:lnSpc>
            </a:pPr>
            <a:r>
              <a:rPr lang="zh-CN" altLang="en-US" sz="2700" dirty="0"/>
              <a:t>个人信息管理</a:t>
            </a:r>
            <a:endParaRPr lang="zh-CN" altLang="en-US" sz="2700" dirty="0"/>
          </a:p>
          <a:p>
            <a:pPr lvl="2" eaLnBrk="1" hangingPunct="1">
              <a:lnSpc>
                <a:spcPct val="80000"/>
              </a:lnSpc>
            </a:pPr>
            <a:r>
              <a:rPr lang="zh-CN" altLang="en-US" sz="2700" dirty="0"/>
              <a:t>学籍管理</a:t>
            </a:r>
            <a:endParaRPr lang="zh-CN" altLang="en-US" sz="2700" dirty="0"/>
          </a:p>
          <a:p>
            <a:pPr lvl="2" eaLnBrk="1" hangingPunct="1">
              <a:lnSpc>
                <a:spcPct val="80000"/>
              </a:lnSpc>
            </a:pPr>
            <a:r>
              <a:rPr lang="zh-CN" altLang="en-US" sz="2700" dirty="0"/>
              <a:t>课程管理</a:t>
            </a:r>
            <a:endParaRPr lang="en-US" altLang="zh-CN" sz="2700" dirty="0"/>
          </a:p>
          <a:p>
            <a:pPr lvl="2" eaLnBrk="1" hangingPunct="1">
              <a:lnSpc>
                <a:spcPct val="80000"/>
              </a:lnSpc>
            </a:pPr>
            <a:r>
              <a:rPr lang="zh-CN" altLang="en-US" sz="2700" dirty="0"/>
              <a:t>虚拟图书馆</a:t>
            </a:r>
            <a:endParaRPr lang="zh-CN" altLang="en-US" sz="2700" dirty="0"/>
          </a:p>
          <a:p>
            <a:pPr lvl="2" eaLnBrk="1" hangingPunct="1">
              <a:lnSpc>
                <a:spcPct val="80000"/>
              </a:lnSpc>
            </a:pPr>
            <a:r>
              <a:rPr lang="zh-CN" altLang="en-US" sz="2700" dirty="0"/>
              <a:t>虚拟商店</a:t>
            </a:r>
            <a:endParaRPr lang="zh-CN" altLang="en-US" sz="2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p:txBody>
          <a:bodyPr vert="horz" wrap="square" lIns="91440" tIns="45720" rIns="91440" bIns="45720" anchor="ctr" anchorCtr="0"/>
          <a:p>
            <a:pPr eaLnBrk="1" hangingPunct="1"/>
            <a:r>
              <a:rPr lang="zh-CN" altLang="zh-CN" dirty="0"/>
              <a:t>客户端设计</a:t>
            </a:r>
            <a:endParaRPr lang="zh-CN" altLang="zh-CN" dirty="0"/>
          </a:p>
        </p:txBody>
      </p:sp>
      <p:sp>
        <p:nvSpPr>
          <p:cNvPr id="30723" name="Rectangle 3"/>
          <p:cNvSpPr>
            <a:spLocks noGrp="1"/>
          </p:cNvSpPr>
          <p:nvPr>
            <p:ph idx="1"/>
          </p:nvPr>
        </p:nvSpPr>
        <p:spPr>
          <a:xfrm>
            <a:off x="457200" y="1981200"/>
            <a:ext cx="8229600" cy="4256088"/>
          </a:xfrm>
        </p:spPr>
        <p:txBody>
          <a:bodyPr vert="horz" wrap="square" lIns="91440" tIns="45720" rIns="91440" bIns="45720" anchor="t" anchorCtr="0"/>
          <a:p>
            <a:pPr eaLnBrk="1" hangingPunct="1"/>
            <a:r>
              <a:rPr lang="zh-CN" altLang="en-US" sz="2800" dirty="0"/>
              <a:t>客户端通过Socket与服务器建立连接。服务器与客户端都构造 (</a:t>
            </a:r>
            <a:r>
              <a:rPr lang="en-US" altLang="zh-CN" sz="2800" dirty="0"/>
              <a:t>BufferedReader</a:t>
            </a:r>
            <a:r>
              <a:rPr lang="zh-CN" altLang="en-US" sz="2800" dirty="0"/>
              <a:t>、</a:t>
            </a:r>
            <a:r>
              <a:rPr lang="en-US" altLang="zh-CN" sz="2800" dirty="0"/>
              <a:t>PrintWriter</a:t>
            </a:r>
            <a:r>
              <a:rPr lang="zh-CN" altLang="en-US" sz="2800" dirty="0"/>
              <a:t>)来建立输入输出流，双方通过输入输出流来相互传递信息。一旦收到客户端的连接请求，服务器利用accept()函数返回一个新建的Socket对象，随后客户端向服务器发送消息(比如注册、登录、查找课程等请求)，服务器接收到请求后，针对不同的消息处理请求。在这一过程中，服务器端与客户端采用TCP/IP协议通信。</a:t>
            </a:r>
            <a:endParaRPr lang="zh-CN" altLang="en-US" sz="2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p:txBody>
          <a:bodyPr vert="horz" wrap="square" lIns="91440" tIns="45720" rIns="91440" bIns="45720" anchor="ctr" anchorCtr="0"/>
          <a:p>
            <a:pPr eaLnBrk="1" hangingPunct="1"/>
            <a:r>
              <a:rPr lang="zh-CN" altLang="zh-CN" dirty="0"/>
              <a:t>服务器连接</a:t>
            </a:r>
            <a:endParaRPr lang="zh-CN" altLang="zh-CN" dirty="0"/>
          </a:p>
        </p:txBody>
      </p:sp>
      <p:sp>
        <p:nvSpPr>
          <p:cNvPr id="31747" name="Rectangle 3"/>
          <p:cNvSpPr>
            <a:spLocks noGrp="1"/>
          </p:cNvSpPr>
          <p:nvPr>
            <p:ph idx="1"/>
          </p:nvPr>
        </p:nvSpPr>
        <p:spPr>
          <a:xfrm>
            <a:off x="428625" y="1643063"/>
            <a:ext cx="4475163" cy="4876800"/>
          </a:xfrm>
        </p:spPr>
        <p:txBody>
          <a:bodyPr vert="horz" wrap="square" lIns="91440" tIns="45720" rIns="91440" bIns="45720" anchor="t" anchorCtr="0"/>
          <a:p>
            <a:pPr eaLnBrk="1" hangingPunct="1"/>
            <a:r>
              <a:rPr lang="zh-CN" altLang="zh-CN" sz="2800" dirty="0"/>
              <a:t>服务器端：</a:t>
            </a:r>
            <a:endParaRPr lang="zh-CN" altLang="zh-CN" sz="2800" dirty="0"/>
          </a:p>
          <a:p>
            <a:pPr lvl="1" eaLnBrk="1" hangingPunct="1"/>
            <a:r>
              <a:rPr lang="zh-CN" altLang="zh-CN" sz="2400" dirty="0"/>
              <a:t>程序初始化</a:t>
            </a:r>
            <a:endParaRPr lang="zh-CN" altLang="zh-CN" sz="2400" dirty="0"/>
          </a:p>
          <a:p>
            <a:pPr lvl="1" eaLnBrk="1" hangingPunct="1"/>
            <a:r>
              <a:rPr lang="zh-CN" altLang="zh-CN" sz="2400" dirty="0"/>
              <a:t>填写本机地址信息</a:t>
            </a:r>
            <a:endParaRPr lang="zh-CN" altLang="zh-CN" sz="2400" dirty="0"/>
          </a:p>
          <a:p>
            <a:pPr lvl="1" eaLnBrk="1" hangingPunct="1"/>
            <a:r>
              <a:rPr lang="zh-CN" altLang="en-US" sz="2400" dirty="0"/>
              <a:t>创建一个</a:t>
            </a:r>
            <a:r>
              <a:rPr lang="en-US" altLang="zh-CN" sz="2400" dirty="0"/>
              <a:t>Server</a:t>
            </a:r>
            <a:r>
              <a:rPr lang="zh-CN" altLang="zh-CN" sz="2400" dirty="0"/>
              <a:t>Socket</a:t>
            </a:r>
            <a:r>
              <a:rPr lang="zh-CN" altLang="en-US" sz="2400" dirty="0"/>
              <a:t>套接字，</a:t>
            </a:r>
            <a:r>
              <a:rPr lang="zh-CN" altLang="zh-CN" sz="2400" dirty="0"/>
              <a:t>绑定并监听一个固定端口</a:t>
            </a:r>
            <a:endParaRPr lang="zh-CN" altLang="zh-CN" sz="2400" dirty="0"/>
          </a:p>
          <a:p>
            <a:pPr lvl="1" eaLnBrk="1" hangingPunct="1"/>
            <a:r>
              <a:rPr lang="zh-CN" altLang="zh-CN" sz="2400" dirty="0"/>
              <a:t>收到客户端的连接后建立一个Socket连接</a:t>
            </a:r>
            <a:endParaRPr lang="zh-CN" altLang="zh-CN" sz="2400" dirty="0"/>
          </a:p>
          <a:p>
            <a:pPr lvl="1" eaLnBrk="1" hangingPunct="1"/>
            <a:r>
              <a:rPr lang="zh-CN" altLang="zh-CN" sz="2400" dirty="0"/>
              <a:t>创建服务线程与客户端进行通信和信息处理</a:t>
            </a:r>
            <a:endParaRPr lang="zh-CN" altLang="zh-CN" sz="2400" dirty="0"/>
          </a:p>
          <a:p>
            <a:pPr lvl="1" eaLnBrk="1" hangingPunct="1"/>
            <a:r>
              <a:rPr lang="zh-CN" altLang="zh-CN" sz="2400" dirty="0"/>
              <a:t>子通信结束后中断与客户端的连接。</a:t>
            </a:r>
            <a:endParaRPr lang="zh-CN" altLang="zh-CN" sz="2400" dirty="0"/>
          </a:p>
        </p:txBody>
      </p:sp>
      <p:sp>
        <p:nvSpPr>
          <p:cNvPr id="30724" name="Rectangle 4"/>
          <p:cNvSpPr>
            <a:spLocks noChangeArrowheads="1"/>
          </p:cNvSpPr>
          <p:nvPr/>
        </p:nvSpPr>
        <p:spPr bwMode="auto">
          <a:xfrm>
            <a:off x="4929188" y="1714500"/>
            <a:ext cx="4000500" cy="4616450"/>
          </a:xfrm>
          <a:prstGeom prst="rect">
            <a:avLst/>
          </a:prstGeom>
          <a:noFill/>
          <a:ln w="9525">
            <a:noFill/>
            <a:miter lim="800000"/>
          </a:ln>
        </p:spPr>
        <p:txBody>
          <a:bodyPr/>
          <a:lstStyle/>
          <a:p>
            <a:pPr marL="342900" marR="0" lvl="0" indent="-342900" algn="l"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Char char="n"/>
              <a:defRPr/>
            </a:pPr>
            <a:r>
              <a:rPr kumimoji="0" 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客户端：</a:t>
            </a:r>
            <a:endParaRPr kumimoji="0" lang="zh-CN" sz="2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sz="2400" b="1" i="0" u="none" strike="noStrike" kern="1200" cap="none" spc="0" normalizeH="0" baseline="0" noProof="0" dirty="0">
                <a:ln>
                  <a:noFill/>
                </a:ln>
                <a:solidFill>
                  <a:schemeClr val="tx1"/>
                </a:solidFill>
                <a:effectLst/>
                <a:uLnTx/>
                <a:uFillTx/>
                <a:latin typeface="+mn-lt"/>
                <a:ea typeface="+mn-ea"/>
                <a:cs typeface="+mn-cs"/>
              </a:rPr>
              <a:t>程序初始化</a:t>
            </a:r>
            <a:endParaRPr kumimoji="0" lang="zh-CN" sz="24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sz="2400" b="1" i="0" u="none" strike="noStrike" kern="1200" cap="none" spc="0" normalizeH="0" baseline="0" noProof="0" dirty="0">
                <a:ln>
                  <a:noFill/>
                </a:ln>
                <a:solidFill>
                  <a:schemeClr val="tx1"/>
                </a:solidFill>
                <a:effectLst/>
                <a:uLnTx/>
                <a:uFillTx/>
                <a:latin typeface="+mn-lt"/>
                <a:ea typeface="+mn-ea"/>
                <a:cs typeface="+mn-cs"/>
              </a:rPr>
              <a:t>填写服务器地址信息</a:t>
            </a:r>
            <a:endParaRPr kumimoji="0" lang="zh-CN" sz="24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mn-lt"/>
                <a:ea typeface="+mn-ea"/>
                <a:cs typeface="+mn-cs"/>
              </a:rPr>
              <a:t>创建一个</a:t>
            </a:r>
            <a:r>
              <a:rPr kumimoji="0" lang="zh-CN" altLang="zh-CN"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Socket</a:t>
            </a:r>
            <a:r>
              <a:rPr kumimoji="0" lang="zh-CN" altLang="en-US" sz="24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套接字，</a:t>
            </a:r>
            <a:r>
              <a:rPr kumimoji="0" lang="zh-CN" sz="2400" b="1" i="0" u="none" strike="noStrike" kern="1200" cap="none" spc="0" normalizeH="0" baseline="0" noProof="0" dirty="0">
                <a:ln>
                  <a:noFill/>
                </a:ln>
                <a:solidFill>
                  <a:schemeClr val="tx1"/>
                </a:solidFill>
                <a:effectLst/>
                <a:uLnTx/>
                <a:uFillTx/>
                <a:latin typeface="+mn-lt"/>
                <a:ea typeface="+mn-ea"/>
                <a:cs typeface="+mn-cs"/>
              </a:rPr>
              <a:t>连接服务器</a:t>
            </a:r>
            <a:endParaRPr kumimoji="0" lang="zh-CN" sz="24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sz="2400" b="1" i="0" u="none" strike="noStrike" kern="1200" cap="none" spc="0" normalizeH="0" baseline="0" noProof="0" dirty="0">
                <a:ln>
                  <a:noFill/>
                </a:ln>
                <a:solidFill>
                  <a:schemeClr val="tx1"/>
                </a:solidFill>
                <a:effectLst/>
                <a:uLnTx/>
                <a:uFillTx/>
                <a:latin typeface="+mn-lt"/>
                <a:ea typeface="+mn-ea"/>
                <a:cs typeface="+mn-cs"/>
              </a:rPr>
              <a:t>与服务器进行通信和信息处理</a:t>
            </a:r>
            <a:endParaRPr kumimoji="0" lang="zh-CN" sz="24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sz="2400" b="1" i="0" u="none" strike="noStrike" kern="1200" cap="none" spc="0" normalizeH="0" baseline="0" noProof="0" dirty="0">
                <a:ln>
                  <a:noFill/>
                </a:ln>
                <a:solidFill>
                  <a:schemeClr val="tx1"/>
                </a:solidFill>
                <a:effectLst/>
                <a:uLnTx/>
                <a:uFillTx/>
                <a:latin typeface="+mn-lt"/>
                <a:ea typeface="+mn-ea"/>
                <a:cs typeface="+mn-cs"/>
              </a:rPr>
              <a:t>通信结束后断开连接。</a:t>
            </a:r>
            <a:endParaRPr kumimoji="0" lang="zh-CN" sz="2400" b="1"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noChangeArrowheads="1"/>
          </p:cNvSpPr>
          <p:nvPr>
            <p:ph type="title"/>
          </p:nvPr>
        </p:nvSpPr>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4400" b="1" i="0" u="none" strike="noStrike" kern="0" cap="none" spc="0" normalizeH="0" baseline="0" noProof="0" dirty="0" smtClean="0">
                <a:ln>
                  <a:noFill/>
                </a:ln>
                <a:solidFill>
                  <a:schemeClr val="bg2">
                    <a:lumMod val="60000"/>
                    <a:lumOff val="40000"/>
                  </a:schemeClr>
                </a:solidFill>
                <a:effectLst/>
                <a:uLnTx/>
                <a:uFillTx/>
                <a:latin typeface="+mj-lt"/>
                <a:ea typeface="+mj-ea"/>
                <a:cs typeface="+mj-cs"/>
              </a:rPr>
              <a:t>消息通信的设计</a:t>
            </a:r>
            <a:endParaRPr kumimoji="0" lang="zh-CN" altLang="zh-CN" sz="4400" b="1" i="0" u="none" strike="noStrike" kern="0" cap="none" spc="0" normalizeH="0" baseline="0" noProof="0" dirty="0" smtClean="0">
              <a:ln>
                <a:noFill/>
              </a:ln>
              <a:solidFill>
                <a:schemeClr val="bg2">
                  <a:lumMod val="60000"/>
                  <a:lumOff val="40000"/>
                </a:schemeClr>
              </a:solidFill>
              <a:effectLst/>
              <a:uLnTx/>
              <a:uFillTx/>
              <a:latin typeface="+mj-lt"/>
              <a:ea typeface="+mj-ea"/>
              <a:cs typeface="+mj-cs"/>
            </a:endParaRPr>
          </a:p>
        </p:txBody>
      </p:sp>
      <p:sp>
        <p:nvSpPr>
          <p:cNvPr id="32771" name="Rectangle 3"/>
          <p:cNvSpPr>
            <a:spLocks noGrp="1"/>
          </p:cNvSpPr>
          <p:nvPr>
            <p:ph type="body" sz="half" idx="1"/>
          </p:nvPr>
        </p:nvSpPr>
        <p:spPr>
          <a:xfrm>
            <a:off x="457200" y="1981200"/>
            <a:ext cx="4330700" cy="4616450"/>
          </a:xfrm>
        </p:spPr>
        <p:txBody>
          <a:bodyPr vert="horz" wrap="square" lIns="91440" tIns="45720" rIns="91440" bIns="45720" anchor="t" anchorCtr="0"/>
          <a:p>
            <a:pPr eaLnBrk="1" hangingPunct="1">
              <a:buClr>
                <a:schemeClr val="bg2"/>
              </a:buClr>
              <a:buSzPct val="75000"/>
              <a:buFont typeface="Wingdings" panose="05000000000000000000" pitchFamily="2" charset="2"/>
            </a:pPr>
            <a:r>
              <a:rPr lang="zh-CN" altLang="en-US" sz="2800" dirty="0"/>
              <a:t>创建数据报Message</a:t>
            </a:r>
            <a:endParaRPr lang="zh-CN" altLang="en-US" sz="2800" dirty="0"/>
          </a:p>
          <a:p>
            <a:pPr lvl="1" eaLnBrk="1" hangingPunct="1">
              <a:buClr>
                <a:schemeClr val="accent2"/>
              </a:buClr>
              <a:buSzPct val="80000"/>
              <a:buFont typeface="Wingdings" panose="05000000000000000000" pitchFamily="2" charset="2"/>
            </a:pPr>
            <a:r>
              <a:rPr lang="zh-CN" altLang="en-US" sz="2400" dirty="0"/>
              <a:t>Header</a:t>
            </a:r>
            <a:endParaRPr lang="zh-CN" altLang="en-US" sz="2400" dirty="0"/>
          </a:p>
          <a:p>
            <a:pPr lvl="2" eaLnBrk="1" hangingPunct="1">
              <a:buClr>
                <a:schemeClr val="bg2"/>
              </a:buClr>
              <a:buSzPct val="65000"/>
              <a:buFont typeface="Wingdings" panose="05000000000000000000" pitchFamily="2" charset="2"/>
            </a:pPr>
            <a:r>
              <a:rPr lang="zh-CN" altLang="en-US" sz="2000" dirty="0"/>
              <a:t>uid // 标志号</a:t>
            </a:r>
            <a:endParaRPr lang="zh-CN" altLang="en-US" sz="2000" dirty="0"/>
          </a:p>
          <a:p>
            <a:pPr lvl="2" eaLnBrk="1" hangingPunct="1">
              <a:buClr>
                <a:schemeClr val="bg2"/>
              </a:buClr>
              <a:buSzPct val="65000"/>
              <a:buFont typeface="Wingdings" panose="05000000000000000000" pitchFamily="2" charset="2"/>
            </a:pPr>
            <a:r>
              <a:rPr lang="zh-CN" altLang="en-US" sz="2000" dirty="0"/>
              <a:t>type	// 类型</a:t>
            </a:r>
            <a:endParaRPr lang="zh-CN" altLang="en-US" sz="2000" dirty="0"/>
          </a:p>
          <a:p>
            <a:pPr lvl="2" eaLnBrk="1" hangingPunct="1">
              <a:buClr>
                <a:schemeClr val="bg2"/>
              </a:buClr>
              <a:buSzPct val="65000"/>
              <a:buFont typeface="Wingdings" panose="05000000000000000000" pitchFamily="2" charset="2"/>
            </a:pPr>
            <a:r>
              <a:rPr lang="zh-CN" altLang="en-US" sz="2000" dirty="0"/>
              <a:t>code // 状态码</a:t>
            </a:r>
            <a:endParaRPr lang="zh-CN" altLang="en-US" sz="2000" dirty="0"/>
          </a:p>
          <a:p>
            <a:pPr lvl="1" eaLnBrk="1" hangingPunct="1">
              <a:buClr>
                <a:schemeClr val="accent2"/>
              </a:buClr>
              <a:buSzPct val="80000"/>
              <a:buFont typeface="Wingdings" panose="05000000000000000000" pitchFamily="2" charset="2"/>
            </a:pPr>
            <a:r>
              <a:rPr lang="zh-CN" altLang="en-US" sz="2400" dirty="0"/>
              <a:t>Body</a:t>
            </a:r>
            <a:endParaRPr lang="zh-CN" altLang="en-US" sz="2400" dirty="0"/>
          </a:p>
          <a:p>
            <a:pPr lvl="2" eaLnBrk="1" hangingPunct="1">
              <a:buClr>
                <a:schemeClr val="bg2"/>
              </a:buClr>
              <a:buSzPct val="65000"/>
              <a:buFont typeface="Wingdings" panose="05000000000000000000" pitchFamily="2" charset="2"/>
            </a:pPr>
            <a:r>
              <a:rPr lang="zh-CN" altLang="en-US" sz="2000" dirty="0"/>
              <a:t>Object</a:t>
            </a:r>
            <a:endParaRPr lang="en-US" altLang="zh-CN" sz="2000" dirty="0"/>
          </a:p>
          <a:p>
            <a:pPr lvl="1" eaLnBrk="1" hangingPunct="1">
              <a:buClr>
                <a:schemeClr val="accent2"/>
              </a:buClr>
              <a:buSzPct val="80000"/>
              <a:buFont typeface="Wingdings" panose="05000000000000000000" pitchFamily="2" charset="2"/>
            </a:pPr>
            <a:r>
              <a:rPr lang="zh-CN" altLang="en-US" dirty="0"/>
              <a:t>需实现序列化接口：</a:t>
            </a:r>
            <a:r>
              <a:rPr lang="en-US" altLang="zh-CN" dirty="0"/>
              <a:t>java.io.Serializable</a:t>
            </a:r>
            <a:endParaRPr lang="zh-CN" altLang="en-US" dirty="0"/>
          </a:p>
          <a:p>
            <a:pPr eaLnBrk="1" hangingPunct="1">
              <a:buClr>
                <a:schemeClr val="bg2"/>
              </a:buClr>
              <a:buSzPct val="75000"/>
              <a:buFont typeface="Wingdings" panose="05000000000000000000" pitchFamily="2" charset="2"/>
            </a:pPr>
            <a:r>
              <a:rPr lang="zh-CN" altLang="en-US" sz="2800" dirty="0"/>
              <a:t>发送消息、接收消息</a:t>
            </a:r>
            <a:endParaRPr lang="zh-CN" altLang="en-US" sz="2800" dirty="0"/>
          </a:p>
          <a:p>
            <a:pPr eaLnBrk="1" hangingPunct="1">
              <a:buClr>
                <a:schemeClr val="bg2"/>
              </a:buClr>
              <a:buSzPct val="75000"/>
              <a:buFont typeface="Wingdings" panose="05000000000000000000" pitchFamily="2" charset="2"/>
            </a:pPr>
            <a:endParaRPr lang="zh-CN" altLang="en-US" sz="2800" dirty="0"/>
          </a:p>
        </p:txBody>
      </p:sp>
      <p:grpSp>
        <p:nvGrpSpPr>
          <p:cNvPr id="32772" name="组合 12"/>
          <p:cNvGrpSpPr/>
          <p:nvPr/>
        </p:nvGrpSpPr>
        <p:grpSpPr>
          <a:xfrm>
            <a:off x="5148263" y="1381125"/>
            <a:ext cx="2952750" cy="4064000"/>
            <a:chOff x="5148064" y="1381418"/>
            <a:chExt cx="2952328" cy="4063806"/>
          </a:xfrm>
        </p:grpSpPr>
        <p:sp>
          <p:nvSpPr>
            <p:cNvPr id="2" name="矩形 1"/>
            <p:cNvSpPr/>
            <p:nvPr/>
          </p:nvSpPr>
          <p:spPr bwMode="auto">
            <a:xfrm>
              <a:off x="5148064" y="2276725"/>
              <a:ext cx="2952328" cy="3168499"/>
            </a:xfrm>
            <a:prstGeom prst="rect">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Message</a:t>
              </a:r>
              <a:endPar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endParaRPr>
            </a:p>
          </p:txBody>
        </p:sp>
        <p:cxnSp>
          <p:nvCxnSpPr>
            <p:cNvPr id="32774" name="直接连接符 5"/>
            <p:cNvCxnSpPr/>
            <p:nvPr/>
          </p:nvCxnSpPr>
          <p:spPr>
            <a:xfrm>
              <a:off x="5148064" y="2780928"/>
              <a:ext cx="2952328" cy="0"/>
            </a:xfrm>
            <a:prstGeom prst="line">
              <a:avLst/>
            </a:prstGeom>
            <a:ln w="9525" cap="flat" cmpd="sng">
              <a:solidFill>
                <a:schemeClr val="tx1"/>
              </a:solidFill>
              <a:prstDash val="solid"/>
              <a:headEnd type="none" w="med" len="med"/>
              <a:tailEnd type="none" w="med" len="med"/>
            </a:ln>
          </p:spPr>
        </p:cxnSp>
        <p:sp>
          <p:nvSpPr>
            <p:cNvPr id="32775" name="TextBox 6"/>
            <p:cNvSpPr txBox="1"/>
            <p:nvPr/>
          </p:nvSpPr>
          <p:spPr>
            <a:xfrm>
              <a:off x="5292080" y="3068960"/>
              <a:ext cx="2664296" cy="1323439"/>
            </a:xfrm>
            <a:prstGeom prst="rect">
              <a:avLst/>
            </a:prstGeom>
            <a:noFill/>
            <a:ln w="9525">
              <a:noFill/>
            </a:ln>
          </p:spPr>
          <p:txBody>
            <a:bodyPr>
              <a:spAutoFit/>
            </a:bodyPr>
            <a:p>
              <a:r>
                <a:rPr lang="zh-CN" altLang="en-US" sz="2000" dirty="0">
                  <a:latin typeface="Arial" panose="020B0604020202020204" pitchFamily="34" charset="0"/>
                </a:rPr>
                <a:t>uid </a:t>
              </a:r>
              <a:r>
                <a:rPr lang="en-US" altLang="zh-CN" sz="2000" dirty="0">
                  <a:latin typeface="Arial" panose="020B0604020202020204" pitchFamily="34" charset="0"/>
                </a:rPr>
                <a:t>: String </a:t>
              </a:r>
              <a:r>
                <a:rPr lang="zh-CN" altLang="en-US" sz="2000" dirty="0">
                  <a:latin typeface="Arial" panose="020B0604020202020204" pitchFamily="34" charset="0"/>
                </a:rPr>
                <a:t>// 标志号</a:t>
              </a:r>
              <a:endParaRPr lang="zh-CN" altLang="en-US" sz="2000" dirty="0">
                <a:latin typeface="Arial" panose="020B0604020202020204" pitchFamily="34" charset="0"/>
              </a:endParaRPr>
            </a:p>
            <a:p>
              <a:r>
                <a:rPr lang="zh-CN" altLang="en-US" sz="2000" dirty="0">
                  <a:latin typeface="Arial" panose="020B0604020202020204" pitchFamily="34" charset="0"/>
                </a:rPr>
                <a:t>type</a:t>
              </a:r>
              <a:r>
                <a:rPr lang="en-US" altLang="zh-CN" sz="2000" dirty="0">
                  <a:latin typeface="Arial" panose="020B0604020202020204" pitchFamily="34" charset="0"/>
                </a:rPr>
                <a:t>: Type  </a:t>
              </a:r>
              <a:r>
                <a:rPr lang="zh-CN" altLang="en-US" sz="2000" dirty="0">
                  <a:latin typeface="Arial" panose="020B0604020202020204" pitchFamily="34" charset="0"/>
                </a:rPr>
                <a:t>// 类型</a:t>
              </a:r>
              <a:endParaRPr lang="en-US" altLang="zh-CN" sz="2000" dirty="0">
                <a:latin typeface="Arial" panose="020B0604020202020204" pitchFamily="34" charset="0"/>
              </a:endParaRPr>
            </a:p>
            <a:p>
              <a:r>
                <a:rPr lang="zh-CN" altLang="en-US" sz="2000" dirty="0">
                  <a:latin typeface="Arial" panose="020B0604020202020204" pitchFamily="34" charset="0"/>
                </a:rPr>
                <a:t>code</a:t>
              </a:r>
              <a:r>
                <a:rPr lang="en-US" altLang="zh-CN" sz="2000" dirty="0">
                  <a:latin typeface="Arial" panose="020B0604020202020204" pitchFamily="34" charset="0"/>
                </a:rPr>
                <a:t>: Code </a:t>
              </a:r>
              <a:r>
                <a:rPr lang="zh-CN" altLang="en-US" sz="2000" dirty="0">
                  <a:latin typeface="Arial" panose="020B0604020202020204" pitchFamily="34" charset="0"/>
                </a:rPr>
                <a:t>// 状态码</a:t>
              </a:r>
              <a:endParaRPr lang="en-US" altLang="zh-CN" sz="2000" dirty="0">
                <a:latin typeface="Arial" panose="020B0604020202020204" pitchFamily="34" charset="0"/>
              </a:endParaRPr>
            </a:p>
            <a:p>
              <a:r>
                <a:rPr lang="en-US" altLang="zh-CN" sz="2000" dirty="0">
                  <a:latin typeface="Arial" panose="020B0604020202020204" pitchFamily="34" charset="0"/>
                </a:rPr>
                <a:t>data:  Object // </a:t>
              </a:r>
              <a:r>
                <a:rPr lang="zh-CN" altLang="en-US" sz="2000" dirty="0">
                  <a:latin typeface="Arial" panose="020B0604020202020204" pitchFamily="34" charset="0"/>
                </a:rPr>
                <a:t>数据</a:t>
              </a:r>
              <a:endParaRPr lang="zh-CN" altLang="en-US" sz="2000" dirty="0">
                <a:latin typeface="Arial" panose="020B0604020202020204" pitchFamily="34" charset="0"/>
              </a:endParaRPr>
            </a:p>
          </p:txBody>
        </p:sp>
        <p:cxnSp>
          <p:nvCxnSpPr>
            <p:cNvPr id="32776" name="直接连接符 9"/>
            <p:cNvCxnSpPr/>
            <p:nvPr/>
          </p:nvCxnSpPr>
          <p:spPr>
            <a:xfrm>
              <a:off x="5148064" y="4509120"/>
              <a:ext cx="2952328" cy="0"/>
            </a:xfrm>
            <a:prstGeom prst="line">
              <a:avLst/>
            </a:prstGeom>
            <a:ln w="9525" cap="flat" cmpd="sng">
              <a:solidFill>
                <a:schemeClr val="tx1"/>
              </a:solidFill>
              <a:prstDash val="solid"/>
              <a:headEnd type="none" w="med" len="med"/>
              <a:tailEnd type="none" w="med" len="med"/>
            </a:ln>
          </p:spPr>
        </p:cxnSp>
        <p:sp>
          <p:nvSpPr>
            <p:cNvPr id="32777" name="TextBox 7"/>
            <p:cNvSpPr txBox="1"/>
            <p:nvPr/>
          </p:nvSpPr>
          <p:spPr>
            <a:xfrm>
              <a:off x="5292080" y="4725144"/>
              <a:ext cx="2664296" cy="646331"/>
            </a:xfrm>
            <a:prstGeom prst="rect">
              <a:avLst/>
            </a:prstGeom>
            <a:noFill/>
            <a:ln w="9525">
              <a:noFill/>
            </a:ln>
          </p:spPr>
          <p:txBody>
            <a:bodyPr>
              <a:spAutoFit/>
            </a:bodyPr>
            <a:p>
              <a:r>
                <a:rPr lang="en-US" altLang="zh-CN" dirty="0">
                  <a:latin typeface="Arial" panose="020B0604020202020204" pitchFamily="34" charset="0"/>
                </a:rPr>
                <a:t>getter</a:t>
              </a:r>
              <a:endParaRPr lang="en-US" altLang="zh-CN" dirty="0">
                <a:latin typeface="Arial" panose="020B0604020202020204" pitchFamily="34" charset="0"/>
              </a:endParaRPr>
            </a:p>
            <a:p>
              <a:r>
                <a:rPr lang="en-US" altLang="zh-CN" dirty="0">
                  <a:latin typeface="Arial" panose="020B0604020202020204" pitchFamily="34" charset="0"/>
                </a:rPr>
                <a:t>setter</a:t>
              </a:r>
              <a:endParaRPr lang="zh-CN" altLang="en-US" dirty="0">
                <a:latin typeface="Arial" panose="020B0604020202020204" pitchFamily="34" charset="0"/>
              </a:endParaRPr>
            </a:p>
          </p:txBody>
        </p:sp>
        <p:cxnSp>
          <p:nvCxnSpPr>
            <p:cNvPr id="32778" name="直接箭头连接符 10"/>
            <p:cNvCxnSpPr>
              <a:stCxn id="2" idx="0"/>
            </p:cNvCxnSpPr>
            <p:nvPr/>
          </p:nvCxnSpPr>
          <p:spPr>
            <a:xfrm flipV="1">
              <a:off x="6624228" y="1772816"/>
              <a:ext cx="0" cy="504056"/>
            </a:xfrm>
            <a:prstGeom prst="straightConnector1">
              <a:avLst/>
            </a:prstGeom>
            <a:ln w="9525" cap="flat" cmpd="sng">
              <a:solidFill>
                <a:schemeClr val="tx1"/>
              </a:solidFill>
              <a:prstDash val="solid"/>
              <a:headEnd type="none" w="med" len="med"/>
              <a:tailEnd type="arrow" w="med" len="med"/>
            </a:ln>
          </p:spPr>
        </p:cxnSp>
        <p:sp>
          <p:nvSpPr>
            <p:cNvPr id="12" name="TextBox 11"/>
            <p:cNvSpPr txBox="1"/>
            <p:nvPr/>
          </p:nvSpPr>
          <p:spPr>
            <a:xfrm>
              <a:off x="5363933" y="1381418"/>
              <a:ext cx="2520590" cy="369870"/>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dirty="0" err="1">
                  <a:ln>
                    <a:noFill/>
                  </a:ln>
                  <a:solidFill>
                    <a:srgbClr val="FF0000"/>
                  </a:solidFill>
                  <a:effectLst/>
                  <a:uLnTx/>
                  <a:uFillTx/>
                  <a:latin typeface="+mn-lt"/>
                  <a:ea typeface="+mn-ea"/>
                  <a:cs typeface="+mn-cs"/>
                </a:rPr>
                <a:t>java.io.Serializable</a:t>
              </a:r>
              <a:endParaRPr kumimoji="0" lang="zh-CN" altLang="en-US" sz="1800" b="1" i="0" u="none" strike="noStrike" kern="1200" cap="none" spc="0" normalizeH="0" baseline="0" noProof="0" dirty="0">
                <a:ln>
                  <a:noFill/>
                </a:ln>
                <a:solidFill>
                  <a:srgbClr val="FF0000"/>
                </a:solidFill>
                <a:effectLst/>
                <a:uLnTx/>
                <a:uFillTx/>
                <a:latin typeface="+mn-lt"/>
                <a:ea typeface="+mn-ea"/>
                <a:cs typeface="+mn-c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p:txBody>
          <a:bodyPr vert="horz" wrap="square" lIns="91440" tIns="45720" rIns="91440" bIns="45720" anchor="ctr" anchorCtr="0"/>
          <a:p>
            <a:pPr eaLnBrk="1" hangingPunct="1"/>
            <a:r>
              <a:rPr lang="zh-CN" altLang="zh-CN" dirty="0"/>
              <a:t>五、项目编码与测试</a:t>
            </a:r>
            <a:endParaRPr lang="zh-CN" altLang="zh-CN" dirty="0"/>
          </a:p>
        </p:txBody>
      </p:sp>
      <p:sp>
        <p:nvSpPr>
          <p:cNvPr id="33795" name="Rectangle 3"/>
          <p:cNvSpPr>
            <a:spLocks noGrp="1"/>
          </p:cNvSpPr>
          <p:nvPr>
            <p:ph idx="1"/>
          </p:nvPr>
        </p:nvSpPr>
        <p:spPr/>
        <p:txBody>
          <a:bodyPr vert="horz" wrap="square" lIns="91440" tIns="45720" rIns="91440" bIns="45720" anchor="t" anchorCtr="0"/>
          <a:p>
            <a:pPr eaLnBrk="1" hangingPunct="1"/>
            <a:r>
              <a:rPr lang="zh-CN" altLang="zh-CN" dirty="0"/>
              <a:t>编程规范</a:t>
            </a:r>
            <a:endParaRPr lang="zh-CN" altLang="zh-CN" dirty="0"/>
          </a:p>
          <a:p>
            <a:pPr eaLnBrk="1" hangingPunct="1"/>
            <a:r>
              <a:rPr lang="zh-CN" altLang="zh-CN" dirty="0"/>
              <a:t>项目编码实现</a:t>
            </a:r>
            <a:endParaRPr lang="zh-CN" altLang="zh-CN" dirty="0"/>
          </a:p>
          <a:p>
            <a:pPr eaLnBrk="1" hangingPunct="1"/>
            <a:r>
              <a:rPr lang="zh-CN" altLang="zh-CN" dirty="0"/>
              <a:t>测试</a:t>
            </a:r>
            <a:endParaRPr lang="zh-CN"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p:txBody>
          <a:bodyPr vert="horz" wrap="square" lIns="91440" tIns="45720" rIns="91440" bIns="45720" anchor="ctr" anchorCtr="0"/>
          <a:p>
            <a:pPr eaLnBrk="1" hangingPunct="1"/>
            <a:r>
              <a:rPr lang="zh-CN" altLang="zh-CN" dirty="0"/>
              <a:t>5.1 编程规范</a:t>
            </a:r>
            <a:endParaRPr lang="zh-CN" altLang="zh-CN" dirty="0"/>
          </a:p>
        </p:txBody>
      </p:sp>
      <p:sp>
        <p:nvSpPr>
          <p:cNvPr id="34819" name="Rectangle 3"/>
          <p:cNvSpPr>
            <a:spLocks noGrp="1"/>
          </p:cNvSpPr>
          <p:nvPr>
            <p:ph idx="1"/>
          </p:nvPr>
        </p:nvSpPr>
        <p:spPr/>
        <p:txBody>
          <a:bodyPr vert="horz" wrap="square" lIns="91440" tIns="45720" rIns="91440" bIns="45720" anchor="t" anchorCtr="0"/>
          <a:p>
            <a:pPr eaLnBrk="1" hangingPunct="1">
              <a:buClr>
                <a:srgbClr val="00CCFF"/>
              </a:buClr>
              <a:buNone/>
            </a:pPr>
            <a:r>
              <a:rPr lang="zh-CN" altLang="zh-CN" sz="3500" dirty="0"/>
              <a:t>1、目的</a:t>
            </a:r>
            <a:endParaRPr lang="zh-CN" altLang="zh-CN" sz="3500" dirty="0"/>
          </a:p>
          <a:p>
            <a:pPr eaLnBrk="1" hangingPunct="1">
              <a:buClr>
                <a:srgbClr val="00CCFF"/>
              </a:buClr>
              <a:buNone/>
            </a:pPr>
            <a:r>
              <a:rPr lang="zh-CN" altLang="zh-CN" sz="3500" dirty="0"/>
              <a:t>   提高程序的可靠性、可读性、可修改性、可维护性、可继承性和一致性，可以保证程序代码的质量，继承软件开发成果，充分利用资源，使开发人员之间的工作成果可以共享</a:t>
            </a:r>
            <a:r>
              <a:rPr lang="zh-CN" altLang="zh-CN" sz="4000" dirty="0"/>
              <a:t> 。</a:t>
            </a:r>
            <a:endParaRPr lang="zh-CN" altLang="zh-CN"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noChangeArrowheads="1"/>
          </p:cNvSpPr>
          <p:nvPr>
            <p:ph idx="1"/>
          </p:nvPr>
        </p:nvSpPr>
        <p:spPr>
          <a:xfrm>
            <a:off x="457200" y="765175"/>
            <a:ext cx="8291513" cy="58324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00CCFF"/>
              </a:buClr>
              <a:buSzPct val="75000"/>
              <a:buFont typeface="Wingdings" panose="05000000000000000000" pitchFamily="2" charset="2"/>
              <a:buNone/>
              <a:defRPr/>
            </a:pP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2、命名</a:t>
            </a:r>
            <a:r>
              <a:rPr kumimoji="0" lang="zh-CN" altLang="en-US" sz="3100" b="1" i="0" u="none" strike="noStrike" kern="0" cap="none" spc="0" normalizeH="0" baseline="0" noProof="0" dirty="0" smtClean="0">
                <a:ln>
                  <a:noFill/>
                </a:ln>
                <a:solidFill>
                  <a:srgbClr val="990000"/>
                </a:solidFill>
                <a:effectLst/>
                <a:uLnTx/>
                <a:uFillTx/>
                <a:latin typeface="+mn-lt"/>
                <a:ea typeface="+mn-ea"/>
                <a:cs typeface="+mn-cs"/>
              </a:rPr>
              <a:t>    </a:t>
            </a:r>
            <a:endParaRPr kumimoji="0" lang="zh-CN" altLang="en-US" sz="3100" b="1" i="0" u="none" strike="noStrike" kern="0" cap="none" spc="0" normalizeH="0" baseline="0" noProof="0" dirty="0" smtClean="0">
              <a:ln>
                <a:noFill/>
              </a:ln>
              <a:solidFill>
                <a:srgbClr val="990000"/>
              </a:solidFill>
              <a:effectLst/>
              <a:uLnTx/>
              <a:uFillTx/>
              <a:latin typeface="+mn-lt"/>
              <a:ea typeface="+mn-ea"/>
              <a:cs typeface="+mn-cs"/>
            </a:endParaRPr>
          </a:p>
          <a:p>
            <a:pPr marL="0" marR="0" lvl="0" indent="-342900" algn="l" defTabSz="914400" rtl="0" eaLnBrk="1" fontAlgn="base" latinLnBrk="0" hangingPunct="1">
              <a:lnSpc>
                <a:spcPct val="100000"/>
              </a:lnSpc>
              <a:spcBef>
                <a:spcPct val="20000"/>
              </a:spcBef>
              <a:spcAft>
                <a:spcPct val="0"/>
              </a:spcAft>
              <a:buClr>
                <a:srgbClr val="00CCFF"/>
              </a:buClr>
              <a:buSzPct val="75000"/>
              <a:buFont typeface="Wingdings" panose="05000000000000000000" pitchFamily="2" charset="2"/>
              <a:buNone/>
              <a:defRPr/>
            </a:pPr>
            <a:r>
              <a:rPr kumimoji="0" lang="zh-CN" altLang="en-US" sz="3100" b="1" i="0" u="none" strike="noStrike" kern="0" cap="none" spc="0" normalizeH="0" baseline="0" noProof="0" dirty="0" smtClean="0">
                <a:ln>
                  <a:noFill/>
                </a:ln>
                <a:solidFill>
                  <a:srgbClr val="990000"/>
                </a:solidFill>
                <a:effectLst/>
                <a:uLnTx/>
                <a:uFillTx/>
                <a:latin typeface="+mn-lt"/>
                <a:ea typeface="+mn-ea"/>
                <a:cs typeface="+mn-cs"/>
              </a:rPr>
              <a:t>    类、接口</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3100" b="1" i="0" u="none" strike="noStrike" kern="0" cap="none" spc="0" normalizeH="0" baseline="0" noProof="0" dirty="0" smtClean="0">
                <a:ln>
                  <a:noFill/>
                </a:ln>
                <a:solidFill>
                  <a:srgbClr val="FF3300"/>
                </a:solidFill>
                <a:effectLst/>
                <a:uLnTx/>
                <a:uFillTx/>
                <a:latin typeface="宋体" panose="02010600030101010101" pitchFamily="2" charset="-122"/>
                <a:ea typeface="+mn-ea"/>
                <a:cs typeface="+mn-cs"/>
              </a:rPr>
              <a:t>☆</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应该使用名词 。 </a:t>
            </a:r>
            <a:r>
              <a:rPr kumimoji="0" lang="zh-CN" altLang="en-US" sz="3100" b="1" i="0" u="none" strike="noStrike" kern="0" cap="none" spc="0" normalizeH="0" baseline="0" noProof="0" dirty="0" smtClean="0">
                <a:ln>
                  <a:noFill/>
                </a:ln>
                <a:solidFill>
                  <a:srgbClr val="FF3300"/>
                </a:solidFill>
                <a:effectLst/>
                <a:uLnTx/>
                <a:uFillTx/>
                <a:latin typeface="宋体" panose="02010600030101010101" pitchFamily="2" charset="-122"/>
                <a:ea typeface="+mn-ea"/>
                <a:cs typeface="+mn-cs"/>
              </a:rPr>
              <a:t>☆</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每个单词第一个字母应该大写。 </a:t>
            </a:r>
            <a:r>
              <a:rPr kumimoji="0" lang="zh-CN" altLang="en-US" sz="3100" b="1" i="0" u="none" strike="noStrike" kern="0" cap="none" spc="0" normalizeH="0" baseline="0" noProof="0" dirty="0" smtClean="0">
                <a:ln>
                  <a:noFill/>
                </a:ln>
                <a:solidFill>
                  <a:srgbClr val="FF3300"/>
                </a:solidFill>
                <a:effectLst/>
                <a:uLnTx/>
                <a:uFillTx/>
                <a:latin typeface="宋体" panose="02010600030101010101" pitchFamily="2" charset="-122"/>
                <a:ea typeface="+mn-ea"/>
                <a:cs typeface="+mn-cs"/>
              </a:rPr>
              <a:t>☆</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避免使用单词的缩写，除非它的缩写已经广为人知，如HTTP。例如：AddingReader, DeletingReader</a:t>
            </a:r>
            <a:endParaRPr kumimoji="0" lang="zh-CN" altLang="en-US" sz="31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342900" algn="l" defTabSz="914400" rtl="0" eaLnBrk="1" fontAlgn="base" latinLnBrk="0" hangingPunct="1">
              <a:lnSpc>
                <a:spcPct val="100000"/>
              </a:lnSpc>
              <a:spcBef>
                <a:spcPct val="20000"/>
              </a:spcBef>
              <a:spcAft>
                <a:spcPct val="0"/>
              </a:spcAft>
              <a:buClr>
                <a:srgbClr val="00CCFF"/>
              </a:buClr>
              <a:buSzPct val="75000"/>
              <a:buFont typeface="Wingdings" panose="05000000000000000000" pitchFamily="2" charset="2"/>
              <a:buNone/>
              <a:defRPr/>
            </a:pP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3100" b="1" i="0" u="none" strike="noStrike" kern="0" cap="none" spc="0" normalizeH="0" baseline="0" noProof="0" dirty="0" smtClean="0">
                <a:ln>
                  <a:noFill/>
                </a:ln>
                <a:solidFill>
                  <a:srgbClr val="990000"/>
                </a:solidFill>
                <a:effectLst/>
                <a:uLnTx/>
                <a:uFillTx/>
                <a:latin typeface="+mn-lt"/>
                <a:ea typeface="+mn-ea"/>
                <a:cs typeface="+mn-cs"/>
              </a:rPr>
              <a:t>包名</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a:t>
            </a:r>
            <a:r>
              <a:rPr kumimoji="0" lang="zh-CN" altLang="en-US" sz="3100" b="1" i="0" u="none" strike="noStrike" kern="0" cap="none" spc="0" normalizeH="0" baseline="0" noProof="0" dirty="0" smtClean="0">
                <a:ln>
                  <a:noFill/>
                </a:ln>
                <a:solidFill>
                  <a:srgbClr val="FF3300"/>
                </a:solidFill>
                <a:effectLst/>
                <a:uLnTx/>
                <a:uFillTx/>
                <a:latin typeface="宋体" panose="02010600030101010101" pitchFamily="2" charset="-122"/>
                <a:ea typeface="+mn-ea"/>
                <a:cs typeface="+mn-cs"/>
              </a:rPr>
              <a:t>☆</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全部小写</a:t>
            </a:r>
            <a:r>
              <a:rPr kumimoji="0" lang="zh-CN" altLang="en-US" sz="36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3100" b="1" i="0" u="none" strike="noStrike" kern="0" cap="none" spc="0" normalizeH="0" baseline="0" noProof="0" dirty="0" smtClean="0">
                <a:ln>
                  <a:noFill/>
                </a:ln>
                <a:solidFill>
                  <a:srgbClr val="FF3300"/>
                </a:solidFill>
                <a:effectLst/>
                <a:uLnTx/>
                <a:uFillTx/>
                <a:latin typeface="宋体" panose="02010600030101010101" pitchFamily="2" charset="-122"/>
                <a:ea typeface="+mn-ea"/>
                <a:cs typeface="+mn-cs"/>
              </a:rPr>
              <a:t>☆</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标识符用点号分隔开来。</a:t>
            </a:r>
            <a:r>
              <a:rPr kumimoji="0" lang="zh-CN" altLang="en-US" sz="3100" b="1" i="0" u="none" strike="noStrike" kern="0" cap="none" spc="0" normalizeH="0" baseline="0" noProof="0" dirty="0" smtClean="0">
                <a:ln>
                  <a:noFill/>
                </a:ln>
                <a:solidFill>
                  <a:srgbClr val="FF3300"/>
                </a:solidFill>
                <a:effectLst/>
                <a:uLnTx/>
                <a:uFillTx/>
                <a:latin typeface="宋体" panose="02010600030101010101" pitchFamily="2" charset="-122"/>
                <a:ea typeface="+mn-ea"/>
                <a:cs typeface="+mn-cs"/>
              </a:rPr>
              <a:t>☆</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一般均以顶级域名开始，其它部分根据组织自身的内部命名规则而不同，可能是根据目录、部门、项目、机器名甚至是登录名的层次来确定 。</a:t>
            </a:r>
            <a:endParaRPr kumimoji="0" lang="zh-CN" altLang="en-US" sz="3100" b="1" i="0" u="none" strike="noStrike" kern="0" cap="none" spc="0" normalizeH="0" baseline="0" noProof="0" dirty="0" smtClean="0">
              <a:ln>
                <a:noFill/>
              </a:ln>
              <a:solidFill>
                <a:schemeClr val="tx1"/>
              </a:solidFill>
              <a:effectLst/>
              <a:uLnTx/>
              <a:uFillTx/>
              <a:latin typeface="+mn-lt"/>
              <a:ea typeface="+mn-ea"/>
              <a:cs typeface="+mn-cs"/>
            </a:endParaRPr>
          </a:p>
          <a:p>
            <a:pPr marL="0" marR="0" lvl="0" indent="-342900" algn="l" defTabSz="914400" rtl="0" eaLnBrk="1" fontAlgn="base" latinLnBrk="0" hangingPunct="1">
              <a:lnSpc>
                <a:spcPct val="100000"/>
              </a:lnSpc>
              <a:spcBef>
                <a:spcPct val="20000"/>
              </a:spcBef>
              <a:spcAft>
                <a:spcPct val="0"/>
              </a:spcAft>
              <a:buClr>
                <a:srgbClr val="00CCFF"/>
              </a:buClr>
              <a:buSzPct val="75000"/>
              <a:buFont typeface="Wingdings" panose="05000000000000000000" pitchFamily="2" charset="2"/>
              <a:buNone/>
              <a:defRPr/>
            </a:pP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      如，</a:t>
            </a:r>
            <a:r>
              <a:rPr kumimoji="0" lang="zh-CN" altLang="en-US" sz="28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com.seu.library,</a:t>
            </a:r>
            <a:r>
              <a:rPr kumimoji="0" lang="zh-CN" altLang="en-US" sz="3100" b="1" i="0" u="none" strike="noStrike" kern="0" cap="none" spc="0" normalizeH="0" baseline="0" noProof="0" dirty="0" smtClean="0">
                <a:ln>
                  <a:noFill/>
                </a:ln>
                <a:solidFill>
                  <a:schemeClr val="tx1"/>
                </a:solidFill>
                <a:effectLst/>
                <a:uLnTx/>
                <a:uFillTx/>
                <a:latin typeface="+mn-lt"/>
                <a:ea typeface="+mn-ea"/>
                <a:cs typeface="+mn-cs"/>
              </a:rPr>
              <a:t> </a:t>
            </a:r>
            <a:r>
              <a:rPr kumimoji="0" lang="zh-CN" altLang="en-US" sz="3100" b="1" i="0" u="none" strike="noStrike" kern="0" cap="none" spc="0" normalizeH="0" baseline="0" noProof="0" dirty="0" smtClean="0">
                <a:ln>
                  <a:noFill/>
                </a:ln>
                <a:solidFill>
                  <a:schemeClr val="tx1"/>
                </a:solidFill>
                <a:effectLst/>
                <a:uLnTx/>
                <a:uFillTx/>
                <a:latin typeface="Times New Roman" panose="02020603050405020304" pitchFamily="18" charset="0"/>
                <a:ea typeface="+mn-ea"/>
                <a:cs typeface="+mn-cs"/>
              </a:rPr>
              <a:t> com.seu.library.client</a:t>
            </a:r>
            <a:endParaRPr kumimoji="0" lang="zh-CN" altLang="en-US" sz="28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idx="1"/>
          </p:nvPr>
        </p:nvSpPr>
        <p:spPr>
          <a:xfrm>
            <a:off x="457200" y="765175"/>
            <a:ext cx="8229600" cy="5878513"/>
          </a:xfrm>
        </p:spPr>
        <p:txBody>
          <a:bodyPr vert="horz" wrap="square" lIns="91440" tIns="45720" rIns="91440" bIns="45720" anchor="t" anchorCtr="0"/>
          <a:p>
            <a:pPr eaLnBrk="1" hangingPunct="1">
              <a:buClr>
                <a:srgbClr val="00CCFF"/>
              </a:buClr>
              <a:buNone/>
            </a:pPr>
            <a:r>
              <a:rPr lang="zh-CN" altLang="zh-CN" sz="3100" dirty="0">
                <a:solidFill>
                  <a:srgbClr val="990000"/>
                </a:solidFill>
              </a:rPr>
              <a:t>方法：</a:t>
            </a:r>
            <a:r>
              <a:rPr lang="zh-CN" altLang="zh-CN" sz="3100" dirty="0"/>
              <a:t>大小写混合使用：所有中间单词的第一个字母大写。方法名称的第一个单词常常采用一个有强烈动作色彩的动词。如，</a:t>
            </a:r>
            <a:r>
              <a:rPr lang="zh-CN" altLang="zh-CN" sz="3100" dirty="0">
                <a:latin typeface="Times New Roman" panose="02020603050405020304" pitchFamily="18" charset="0"/>
              </a:rPr>
              <a:t>getConnection（），isRightNameAndPassword（）</a:t>
            </a:r>
            <a:endParaRPr lang="zh-CN" altLang="zh-CN" sz="3100" dirty="0">
              <a:latin typeface="Times New Roman" panose="02020603050405020304" pitchFamily="18" charset="0"/>
            </a:endParaRPr>
          </a:p>
          <a:p>
            <a:pPr eaLnBrk="1" hangingPunct="1">
              <a:buClr>
                <a:srgbClr val="00CCFF"/>
              </a:buClr>
              <a:buNone/>
            </a:pPr>
            <a:r>
              <a:rPr lang="zh-CN" altLang="zh-CN" sz="3100" dirty="0">
                <a:solidFill>
                  <a:srgbClr val="990000"/>
                </a:solidFill>
              </a:rPr>
              <a:t>变量： </a:t>
            </a:r>
            <a:r>
              <a:rPr lang="zh-CN" altLang="zh-CN" sz="3100" dirty="0">
                <a:solidFill>
                  <a:srgbClr val="FF3300"/>
                </a:solidFill>
                <a:latin typeface="宋体" panose="02010600030101010101" pitchFamily="2" charset="-122"/>
              </a:rPr>
              <a:t>☆</a:t>
            </a:r>
            <a:r>
              <a:rPr lang="zh-CN" altLang="zh-CN" sz="3100" dirty="0"/>
              <a:t>第一个字母小写，中间单词的第一个字母大写 。 </a:t>
            </a:r>
            <a:r>
              <a:rPr lang="zh-CN" altLang="zh-CN" sz="3100" dirty="0">
                <a:solidFill>
                  <a:srgbClr val="FF3300"/>
                </a:solidFill>
                <a:latin typeface="宋体" panose="02010600030101010101" pitchFamily="2" charset="-122"/>
              </a:rPr>
              <a:t>☆</a:t>
            </a:r>
            <a:r>
              <a:rPr lang="zh-CN" altLang="zh-CN" sz="3100" dirty="0"/>
              <a:t>变量名不能由_或$开头，即使它们是合法的。 </a:t>
            </a:r>
            <a:r>
              <a:rPr lang="zh-CN" altLang="zh-CN" sz="3100" dirty="0">
                <a:solidFill>
                  <a:srgbClr val="FF3300"/>
                </a:solidFill>
                <a:latin typeface="宋体" panose="02010600030101010101" pitchFamily="2" charset="-122"/>
              </a:rPr>
              <a:t>☆</a:t>
            </a:r>
            <a:r>
              <a:rPr lang="zh-CN" altLang="zh-CN" sz="3100" dirty="0"/>
              <a:t>尽量不用单个字母的变量，除非是用完即止的临时变量，在临时变量中通常用i, j, k, m和n表示整数，用c, d和e来表示字符变量。 </a:t>
            </a:r>
            <a:r>
              <a:rPr lang="zh-CN" altLang="zh-CN" sz="3100" dirty="0">
                <a:solidFill>
                  <a:srgbClr val="FF3300"/>
                </a:solidFill>
                <a:latin typeface="宋体" panose="02010600030101010101" pitchFamily="2" charset="-122"/>
              </a:rPr>
              <a:t>☆变量由(前缀+修饰语）构成</a:t>
            </a:r>
            <a:r>
              <a:rPr lang="zh-CN" altLang="zh-CN" sz="3100" dirty="0">
                <a:latin typeface="宋体" panose="02010600030101010101" pitchFamily="2" charset="-122"/>
              </a:rPr>
              <a:t>？</a:t>
            </a:r>
            <a:r>
              <a:rPr lang="zh-CN" altLang="zh-CN" sz="3100" dirty="0"/>
              <a:t> </a:t>
            </a:r>
            <a:endParaRPr lang="zh-CN" altLang="zh-CN" sz="3100" dirty="0"/>
          </a:p>
          <a:p>
            <a:pPr eaLnBrk="1" hangingPunct="1">
              <a:lnSpc>
                <a:spcPct val="80000"/>
              </a:lnSpc>
            </a:pPr>
            <a:endParaRPr lang="zh-CN" altLang="zh-CN"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idx="1"/>
          </p:nvPr>
        </p:nvSpPr>
        <p:spPr>
          <a:xfrm>
            <a:off x="457200" y="765175"/>
            <a:ext cx="8229600" cy="5102225"/>
          </a:xfrm>
        </p:spPr>
        <p:txBody>
          <a:bodyPr vert="horz" wrap="square" lIns="91440" tIns="45720" rIns="91440" bIns="45720" anchor="t" anchorCtr="0"/>
          <a:p>
            <a:pPr eaLnBrk="1" hangingPunct="1">
              <a:buClr>
                <a:srgbClr val="00CCFF"/>
              </a:buClr>
              <a:buNone/>
            </a:pPr>
            <a:r>
              <a:rPr lang="zh-CN" altLang="zh-CN" sz="3500" dirty="0">
                <a:solidFill>
                  <a:srgbClr val="990000"/>
                </a:solidFill>
              </a:rPr>
              <a:t>常量</a:t>
            </a:r>
            <a:r>
              <a:rPr lang="zh-CN" altLang="zh-CN" sz="3500" dirty="0"/>
              <a:t>：所有常量名均全部大写，单词间以‘_’隔开。如</a:t>
            </a:r>
            <a:endParaRPr lang="zh-CN" altLang="zh-CN" sz="3500" dirty="0"/>
          </a:p>
          <a:p>
            <a:pPr eaLnBrk="1" hangingPunct="1">
              <a:buClr>
                <a:srgbClr val="00CCFF"/>
              </a:buClr>
              <a:buNone/>
            </a:pPr>
            <a:r>
              <a:rPr lang="zh-CN" altLang="zh-CN" sz="3500" dirty="0"/>
              <a:t>          static final int MAX_NUM.</a:t>
            </a:r>
            <a:endParaRPr lang="zh-CN" altLang="zh-CN" sz="3500" dirty="0"/>
          </a:p>
          <a:p>
            <a:pPr eaLnBrk="1" hangingPunct="1">
              <a:buClr>
                <a:srgbClr val="00CCFF"/>
              </a:buClr>
              <a:buNone/>
            </a:pPr>
            <a:r>
              <a:rPr lang="zh-CN" altLang="zh-CN" sz="3500" dirty="0">
                <a:solidFill>
                  <a:srgbClr val="990000"/>
                </a:solidFill>
              </a:rPr>
              <a:t>组件</a:t>
            </a:r>
            <a:r>
              <a:rPr lang="zh-CN" altLang="zh-CN" sz="3500" dirty="0"/>
              <a:t>：组件名由（前缀+修饰语）构成。前缀即为控件的名称或缩写。</a:t>
            </a:r>
            <a:endParaRPr lang="en-US" altLang="zh-CN" sz="3500" dirty="0"/>
          </a:p>
          <a:p>
            <a:pPr eaLnBrk="1" hangingPunct="1">
              <a:buClr>
                <a:srgbClr val="00CCFF"/>
              </a:buClr>
              <a:buNone/>
            </a:pPr>
            <a:r>
              <a:rPr lang="zh-CN" altLang="zh-CN" sz="3500" dirty="0"/>
              <a:t>如，命令按钮</a:t>
            </a:r>
            <a:r>
              <a:rPr lang="zh-CN" altLang="en-US" sz="3500" dirty="0"/>
              <a:t>：</a:t>
            </a:r>
            <a:r>
              <a:rPr lang="zh-CN" altLang="zh-CN" sz="3500" dirty="0"/>
              <a:t>btnSave，</a:t>
            </a:r>
            <a:endParaRPr lang="zh-CN" altLang="zh-CN" sz="3500" dirty="0"/>
          </a:p>
          <a:p>
            <a:pPr eaLnBrk="1" hangingPunct="1">
              <a:buClr>
                <a:srgbClr val="00CCFF"/>
              </a:buClr>
              <a:buNone/>
            </a:pPr>
            <a:r>
              <a:rPr lang="zh-CN" altLang="zh-CN" sz="3500" dirty="0"/>
              <a:t>      </a:t>
            </a:r>
            <a:r>
              <a:rPr lang="en-US" altLang="zh-CN" sz="3500" dirty="0"/>
              <a:t> </a:t>
            </a:r>
            <a:r>
              <a:rPr lang="zh-CN" altLang="zh-CN" sz="3500" dirty="0"/>
              <a:t>文本框</a:t>
            </a:r>
            <a:r>
              <a:rPr lang="zh-CN" altLang="en-US" sz="3500" dirty="0"/>
              <a:t>：</a:t>
            </a:r>
            <a:r>
              <a:rPr lang="zh-CN" altLang="zh-CN" sz="3500" dirty="0"/>
              <a:t>txtUserName， </a:t>
            </a:r>
            <a:endParaRPr lang="en-US" altLang="zh-CN" sz="3500" dirty="0"/>
          </a:p>
          <a:p>
            <a:pPr eaLnBrk="1" hangingPunct="1">
              <a:buClr>
                <a:srgbClr val="00CCFF"/>
              </a:buClr>
              <a:buNone/>
            </a:pPr>
            <a:r>
              <a:rPr lang="en-US" altLang="zh-CN" sz="3500" dirty="0"/>
              <a:t>       </a:t>
            </a:r>
            <a:r>
              <a:rPr lang="zh-CN" altLang="zh-CN" sz="3500" dirty="0"/>
              <a:t>标签</a:t>
            </a:r>
            <a:r>
              <a:rPr lang="zh-CN" altLang="en-US" sz="3500" dirty="0"/>
              <a:t>：</a:t>
            </a:r>
            <a:r>
              <a:rPr lang="zh-CN" altLang="zh-CN" sz="3500" dirty="0"/>
              <a:t>lblOpenDate</a:t>
            </a:r>
            <a:endParaRPr lang="zh-CN" altLang="zh-CN" sz="3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idx="1"/>
          </p:nvPr>
        </p:nvSpPr>
        <p:spPr>
          <a:xfrm>
            <a:off x="457200" y="765175"/>
            <a:ext cx="8362950" cy="5832475"/>
          </a:xfrm>
        </p:spPr>
        <p:txBody>
          <a:bodyPr vert="horz" wrap="square" lIns="91440" tIns="45720" rIns="91440" bIns="45720" anchor="t" anchorCtr="0"/>
          <a:p>
            <a:pPr eaLnBrk="1" hangingPunct="1">
              <a:lnSpc>
                <a:spcPct val="80000"/>
              </a:lnSpc>
              <a:buClr>
                <a:srgbClr val="00CCFF"/>
              </a:buClr>
              <a:buNone/>
            </a:pPr>
            <a:r>
              <a:rPr lang="zh-CN" altLang="en-US" sz="2800" dirty="0"/>
              <a:t>3、缩进</a:t>
            </a:r>
            <a:r>
              <a:rPr lang="zh-CN" altLang="en-US" sz="2800" dirty="0">
                <a:solidFill>
                  <a:srgbClr val="990000"/>
                </a:solidFill>
              </a:rPr>
              <a:t>    </a:t>
            </a:r>
            <a:endParaRPr lang="zh-CN" altLang="en-US" sz="2800" dirty="0">
              <a:solidFill>
                <a:srgbClr val="990000"/>
              </a:solidFill>
            </a:endParaRPr>
          </a:p>
          <a:p>
            <a:pPr eaLnBrk="1" hangingPunct="1">
              <a:lnSpc>
                <a:spcPct val="80000"/>
              </a:lnSpc>
              <a:spcBef>
                <a:spcPts val="1200"/>
              </a:spcBef>
              <a:buClr>
                <a:srgbClr val="00CCFF"/>
              </a:buClr>
              <a:buNone/>
            </a:pPr>
            <a:r>
              <a:rPr lang="zh-CN" altLang="en-US" sz="2000" dirty="0">
                <a:solidFill>
                  <a:srgbClr val="990000"/>
                </a:solidFill>
              </a:rPr>
              <a:t>    </a:t>
            </a:r>
            <a:r>
              <a:rPr lang="zh-CN" altLang="en-US" sz="2000" dirty="0"/>
              <a:t>子功能代码缩进4个空格。</a:t>
            </a:r>
            <a:endParaRPr lang="zh-CN" altLang="en-US" sz="2000" dirty="0"/>
          </a:p>
          <a:p>
            <a:pPr eaLnBrk="1" hangingPunct="1">
              <a:lnSpc>
                <a:spcPct val="80000"/>
              </a:lnSpc>
              <a:buClr>
                <a:srgbClr val="00CCFF"/>
              </a:buClr>
              <a:buNone/>
            </a:pPr>
            <a:r>
              <a:rPr lang="zh-CN" altLang="en-US" sz="2800" dirty="0"/>
              <a:t>4、注释</a:t>
            </a:r>
            <a:endParaRPr lang="zh-CN" altLang="en-US" sz="2800" dirty="0"/>
          </a:p>
          <a:p>
            <a:pPr eaLnBrk="1" hangingPunct="1">
              <a:lnSpc>
                <a:spcPct val="80000"/>
              </a:lnSpc>
              <a:spcBef>
                <a:spcPts val="1200"/>
              </a:spcBef>
              <a:buClr>
                <a:srgbClr val="00CCFF"/>
              </a:buClr>
              <a:buNone/>
            </a:pPr>
            <a:r>
              <a:rPr lang="zh-CN" altLang="en-US" sz="2800" dirty="0">
                <a:solidFill>
                  <a:srgbClr val="990000"/>
                </a:solidFill>
              </a:rPr>
              <a:t>①开头注释</a:t>
            </a:r>
            <a:r>
              <a:rPr lang="zh-CN" altLang="en-US" sz="2800" dirty="0"/>
              <a:t>：</a:t>
            </a:r>
            <a:endParaRPr lang="zh-CN" altLang="en-US" sz="2800" dirty="0"/>
          </a:p>
          <a:p>
            <a:pPr eaLnBrk="1" hangingPunct="1">
              <a:lnSpc>
                <a:spcPct val="80000"/>
              </a:lnSpc>
              <a:buNone/>
            </a:pPr>
            <a:r>
              <a:rPr lang="zh-CN" altLang="en-US" sz="2000" dirty="0"/>
              <a:t>/** =================================================== </a:t>
            </a:r>
            <a:endParaRPr lang="zh-CN" altLang="en-US" sz="2000" dirty="0"/>
          </a:p>
          <a:p>
            <a:pPr eaLnBrk="1" hangingPunct="1">
              <a:lnSpc>
                <a:spcPct val="80000"/>
              </a:lnSpc>
              <a:buNone/>
            </a:pPr>
            <a:r>
              <a:rPr lang="zh-CN" altLang="en-US" sz="2000" dirty="0"/>
              <a:t>* Title: </a:t>
            </a:r>
            <a:r>
              <a:rPr lang="zh-CN" altLang="en-US" sz="2000" i="1" dirty="0">
                <a:solidFill>
                  <a:schemeClr val="bg2"/>
                </a:solidFill>
              </a:rPr>
              <a:t>client.java  </a:t>
            </a:r>
            <a:endParaRPr lang="zh-CN" altLang="en-US" sz="2000" i="1" dirty="0">
              <a:solidFill>
                <a:schemeClr val="bg2"/>
              </a:solidFill>
            </a:endParaRPr>
          </a:p>
          <a:p>
            <a:pPr eaLnBrk="1" hangingPunct="1">
              <a:lnSpc>
                <a:spcPct val="80000"/>
              </a:lnSpc>
              <a:buNone/>
            </a:pPr>
            <a:r>
              <a:rPr lang="zh-CN" altLang="en-US" sz="2000" dirty="0"/>
              <a:t>* Created: [20</a:t>
            </a:r>
            <a:r>
              <a:rPr lang="en-US" altLang="zh-CN" sz="2000" dirty="0"/>
              <a:t>25</a:t>
            </a:r>
            <a:r>
              <a:rPr lang="zh-CN" altLang="en-US" sz="2000" dirty="0"/>
              <a:t>-8-20 20:18:53] </a:t>
            </a:r>
            <a:r>
              <a:rPr lang="zh-CN" altLang="en-US" sz="2000" i="1" dirty="0">
                <a:solidFill>
                  <a:schemeClr val="bg2"/>
                </a:solidFill>
              </a:rPr>
              <a:t>by  作者 </a:t>
            </a:r>
            <a:endParaRPr lang="zh-CN" altLang="en-US" sz="2000" i="1" dirty="0">
              <a:solidFill>
                <a:schemeClr val="bg2"/>
              </a:solidFill>
            </a:endParaRPr>
          </a:p>
          <a:p>
            <a:pPr eaLnBrk="1" hangingPunct="1">
              <a:lnSpc>
                <a:spcPct val="80000"/>
              </a:lnSpc>
              <a:buNone/>
            </a:pPr>
            <a:r>
              <a:rPr lang="zh-CN" altLang="en-US" sz="2000" dirty="0"/>
              <a:t>*=====================================================</a:t>
            </a:r>
            <a:endParaRPr lang="zh-CN" altLang="en-US" sz="2000" dirty="0"/>
          </a:p>
          <a:p>
            <a:pPr eaLnBrk="1" hangingPunct="1">
              <a:lnSpc>
                <a:spcPct val="80000"/>
              </a:lnSpc>
              <a:buNone/>
            </a:pPr>
            <a:r>
              <a:rPr lang="zh-CN" altLang="en-US" sz="2000" dirty="0"/>
              <a:t>* Copyright:  Copyright (c)　</a:t>
            </a:r>
            <a:r>
              <a:rPr lang="zh-CN" altLang="en-US" sz="2000" i="1" dirty="0">
                <a:solidFill>
                  <a:schemeClr val="bg2"/>
                </a:solidFill>
                <a:sym typeface="Arial" panose="020B0604020202020204" pitchFamily="34" charset="0"/>
              </a:rPr>
              <a:t>东南大学计算机学</a:t>
            </a:r>
            <a:r>
              <a:rPr lang="zh-CN" altLang="en-US" sz="2000" i="1" dirty="0">
                <a:solidFill>
                  <a:schemeClr val="bg2"/>
                </a:solidFill>
              </a:rPr>
              <a:t>院, 20</a:t>
            </a:r>
            <a:r>
              <a:rPr lang="en-US" altLang="zh-CN" sz="2000" i="1" dirty="0">
                <a:solidFill>
                  <a:schemeClr val="bg2"/>
                </a:solidFill>
              </a:rPr>
              <a:t>25</a:t>
            </a:r>
            <a:r>
              <a:rPr lang="zh-CN" altLang="en-US" sz="2000" i="1" dirty="0">
                <a:solidFill>
                  <a:schemeClr val="bg2"/>
                </a:solidFill>
              </a:rPr>
              <a:t>-20</a:t>
            </a:r>
            <a:r>
              <a:rPr lang="en-US" altLang="zh-CN" sz="2000" i="1" dirty="0">
                <a:solidFill>
                  <a:schemeClr val="bg2"/>
                </a:solidFill>
              </a:rPr>
              <a:t>26</a:t>
            </a:r>
            <a:endParaRPr lang="zh-CN" altLang="en-US" sz="2000" i="1" dirty="0">
              <a:solidFill>
                <a:schemeClr val="bg2"/>
              </a:solidFill>
            </a:endParaRPr>
          </a:p>
          <a:p>
            <a:pPr eaLnBrk="1" hangingPunct="1">
              <a:lnSpc>
                <a:spcPct val="80000"/>
              </a:lnSpc>
              <a:buNone/>
            </a:pPr>
            <a:r>
              <a:rPr lang="zh-CN" altLang="en-US" sz="2000" dirty="0"/>
              <a:t>* =====================================================</a:t>
            </a:r>
            <a:endParaRPr lang="zh-CN" altLang="en-US" sz="2000" dirty="0"/>
          </a:p>
          <a:p>
            <a:pPr eaLnBrk="1" hangingPunct="1">
              <a:lnSpc>
                <a:spcPct val="80000"/>
              </a:lnSpc>
              <a:buNone/>
            </a:pPr>
            <a:r>
              <a:rPr lang="zh-CN" altLang="en-US" sz="2000" dirty="0"/>
              <a:t>* Description: </a:t>
            </a:r>
            <a:r>
              <a:rPr lang="zh-CN" altLang="en-US" sz="2000" i="1" dirty="0">
                <a:solidFill>
                  <a:schemeClr val="bg2"/>
                </a:solidFill>
              </a:rPr>
              <a:t>在这儿对整个文件进行描述</a:t>
            </a:r>
            <a:r>
              <a:rPr lang="zh-CN" altLang="en-US" sz="2000" dirty="0"/>
              <a:t> </a:t>
            </a:r>
            <a:endParaRPr lang="zh-CN" altLang="en-US" sz="2000" dirty="0"/>
          </a:p>
          <a:p>
            <a:pPr eaLnBrk="1" hangingPunct="1">
              <a:lnSpc>
                <a:spcPct val="80000"/>
              </a:lnSpc>
              <a:buNone/>
            </a:pPr>
            <a:r>
              <a:rPr lang="zh-CN" altLang="en-US" sz="2000" dirty="0"/>
              <a:t>*=====================================================</a:t>
            </a:r>
            <a:endParaRPr lang="zh-CN" altLang="en-US" sz="2000" dirty="0"/>
          </a:p>
          <a:p>
            <a:pPr eaLnBrk="1" hangingPunct="1">
              <a:lnSpc>
                <a:spcPct val="80000"/>
              </a:lnSpc>
              <a:buNone/>
            </a:pPr>
            <a:r>
              <a:rPr lang="zh-CN" altLang="en-US" sz="2000" dirty="0"/>
              <a:t>*Revised Hisytory: </a:t>
            </a:r>
            <a:endParaRPr lang="zh-CN" altLang="en-US" sz="2000" dirty="0"/>
          </a:p>
          <a:p>
            <a:pPr eaLnBrk="1" hangingPunct="1">
              <a:lnSpc>
                <a:spcPct val="80000"/>
              </a:lnSpc>
              <a:buNone/>
            </a:pPr>
            <a:r>
              <a:rPr lang="zh-CN" altLang="en-US" sz="2000" dirty="0"/>
              <a:t>*</a:t>
            </a:r>
            <a:r>
              <a:rPr lang="zh-CN" altLang="en-US" sz="2000" i="1" dirty="0">
                <a:solidFill>
                  <a:schemeClr val="bg2"/>
                </a:solidFill>
              </a:rPr>
              <a:t>1. 20</a:t>
            </a:r>
            <a:r>
              <a:rPr lang="en-US" altLang="zh-CN" sz="2000" i="1" dirty="0">
                <a:solidFill>
                  <a:schemeClr val="bg2"/>
                </a:solidFill>
              </a:rPr>
              <a:t>25</a:t>
            </a:r>
            <a:r>
              <a:rPr lang="zh-CN" altLang="en-US" sz="2000" i="1" dirty="0">
                <a:solidFill>
                  <a:schemeClr val="bg2"/>
                </a:solidFill>
              </a:rPr>
              <a:t>-8-20,作者创建了此文件</a:t>
            </a:r>
            <a:endParaRPr lang="zh-CN" altLang="en-US" sz="2000" i="1" dirty="0">
              <a:solidFill>
                <a:schemeClr val="bg2"/>
              </a:solidFill>
            </a:endParaRPr>
          </a:p>
          <a:p>
            <a:pPr eaLnBrk="1" hangingPunct="1">
              <a:lnSpc>
                <a:spcPct val="80000"/>
              </a:lnSpc>
              <a:buNone/>
            </a:pPr>
            <a:r>
              <a:rPr lang="zh-CN" altLang="en-US" sz="2000" dirty="0"/>
              <a:t>*</a:t>
            </a:r>
            <a:r>
              <a:rPr lang="zh-CN" altLang="en-US" sz="2000" i="1" dirty="0">
                <a:solidFill>
                  <a:schemeClr val="bg2"/>
                </a:solidFill>
              </a:rPr>
              <a:t>2. 对这个文件的修改历史进行详细描述，一般包括时间，修改者，</a:t>
            </a:r>
            <a:r>
              <a:rPr lang="zh-CN" altLang="en-US" sz="2000" dirty="0"/>
              <a:t>    </a:t>
            </a:r>
            <a:endParaRPr lang="zh-CN" altLang="en-US" sz="2000" dirty="0"/>
          </a:p>
          <a:p>
            <a:pPr eaLnBrk="1" hangingPunct="1">
              <a:lnSpc>
                <a:spcPct val="80000"/>
              </a:lnSpc>
              <a:buNone/>
            </a:pPr>
            <a:r>
              <a:rPr lang="zh-CN" altLang="en-US" sz="2000" dirty="0"/>
              <a:t>*    </a:t>
            </a:r>
            <a:r>
              <a:rPr lang="zh-CN" altLang="en-US" sz="2000" i="1" dirty="0">
                <a:solidFill>
                  <a:schemeClr val="bg2"/>
                </a:solidFill>
              </a:rPr>
              <a:t>修改的内容描述，修改的原因</a:t>
            </a:r>
            <a:endParaRPr lang="zh-CN" altLang="en-US" sz="2000" i="1" dirty="0">
              <a:solidFill>
                <a:schemeClr val="bg2"/>
              </a:solidFill>
            </a:endParaRPr>
          </a:p>
          <a:p>
            <a:pPr eaLnBrk="1" hangingPunct="1">
              <a:lnSpc>
                <a:spcPct val="80000"/>
              </a:lnSpc>
              <a:buNone/>
            </a:pPr>
            <a:r>
              <a:rPr lang="zh-CN" altLang="en-US" sz="2000" dirty="0"/>
              <a:t>*/ </a:t>
            </a:r>
            <a:endParaRPr lang="zh-CN" altLang="en-US" sz="2000" dirty="0"/>
          </a:p>
          <a:p>
            <a:pPr eaLnBrk="1" hangingPunct="1">
              <a:lnSpc>
                <a:spcPct val="80000"/>
              </a:lnSpc>
            </a:pPr>
            <a:endParaRPr lang="zh-CN" alt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idx="1"/>
          </p:nvPr>
        </p:nvSpPr>
        <p:spPr>
          <a:xfrm>
            <a:off x="457200" y="765175"/>
            <a:ext cx="8229600" cy="5688013"/>
          </a:xfrm>
          <a:ln>
            <a:solidFill>
              <a:schemeClr val="bg1">
                <a:alpha val="100000"/>
              </a:schemeClr>
            </a:solidFill>
            <a:miter lim="800000"/>
          </a:ln>
        </p:spPr>
        <p:txBody>
          <a:bodyPr vert="horz" wrap="square" lIns="91440" tIns="45720" rIns="91440" bIns="45720" anchor="t" anchorCtr="0"/>
          <a:p>
            <a:pPr eaLnBrk="1" hangingPunct="1">
              <a:lnSpc>
                <a:spcPct val="90000"/>
              </a:lnSpc>
              <a:buClr>
                <a:srgbClr val="00CCFF"/>
              </a:buClr>
              <a:buNone/>
            </a:pPr>
            <a:r>
              <a:rPr lang="zh-CN" altLang="zh-CN" sz="2800" dirty="0">
                <a:solidFill>
                  <a:srgbClr val="990000"/>
                </a:solidFill>
              </a:rPr>
              <a:t>②类、接口的注释</a:t>
            </a:r>
            <a:r>
              <a:rPr lang="zh-CN" altLang="zh-CN" sz="2800" dirty="0"/>
              <a:t>：</a:t>
            </a:r>
            <a:endParaRPr lang="zh-CN" altLang="zh-CN" sz="2800" dirty="0"/>
          </a:p>
          <a:p>
            <a:pPr eaLnBrk="1" hangingPunct="1">
              <a:lnSpc>
                <a:spcPct val="90000"/>
              </a:lnSpc>
              <a:buNone/>
            </a:pPr>
            <a:r>
              <a:rPr lang="zh-CN" altLang="zh-CN" sz="2400" dirty="0"/>
              <a:t>/** </a:t>
            </a:r>
            <a:endParaRPr lang="zh-CN" altLang="zh-CN" sz="2400" dirty="0"/>
          </a:p>
          <a:p>
            <a:pPr eaLnBrk="1" hangingPunct="1">
              <a:lnSpc>
                <a:spcPct val="90000"/>
              </a:lnSpc>
              <a:buNone/>
            </a:pPr>
            <a:r>
              <a:rPr lang="zh-CN" altLang="zh-CN" sz="2400" dirty="0"/>
              <a:t>*&lt;p&gt; 类名&lt;/p&gt; </a:t>
            </a:r>
            <a:endParaRPr lang="zh-CN" altLang="zh-CN" sz="2400" dirty="0"/>
          </a:p>
          <a:p>
            <a:pPr eaLnBrk="1" hangingPunct="1">
              <a:lnSpc>
                <a:spcPct val="90000"/>
              </a:lnSpc>
              <a:buNone/>
            </a:pPr>
            <a:r>
              <a:rPr lang="zh-CN" altLang="zh-CN" sz="2400" dirty="0"/>
              <a:t>* </a:t>
            </a:r>
            <a:endParaRPr lang="zh-CN" altLang="zh-CN" sz="2400" dirty="0"/>
          </a:p>
          <a:p>
            <a:pPr eaLnBrk="1" hangingPunct="1">
              <a:lnSpc>
                <a:spcPct val="90000"/>
              </a:lnSpc>
              <a:buNone/>
            </a:pPr>
            <a:r>
              <a:rPr lang="zh-CN" altLang="zh-CN" sz="2400" dirty="0"/>
              <a:t>* 类的描述 </a:t>
            </a:r>
            <a:endParaRPr lang="zh-CN" altLang="zh-CN" sz="2400" dirty="0"/>
          </a:p>
          <a:p>
            <a:pPr eaLnBrk="1" hangingPunct="1">
              <a:lnSpc>
                <a:spcPct val="90000"/>
              </a:lnSpc>
              <a:buNone/>
            </a:pPr>
            <a:r>
              <a:rPr lang="zh-CN" altLang="zh-CN" sz="2400" dirty="0"/>
              <a:t>* </a:t>
            </a:r>
            <a:endParaRPr lang="zh-CN" altLang="zh-CN" sz="2400" dirty="0"/>
          </a:p>
          <a:p>
            <a:pPr eaLnBrk="1" hangingPunct="1">
              <a:lnSpc>
                <a:spcPct val="90000"/>
              </a:lnSpc>
              <a:buNone/>
            </a:pPr>
            <a:r>
              <a:rPr lang="zh-CN" altLang="zh-CN" sz="2400" dirty="0"/>
              <a:t>* @author</a:t>
            </a:r>
            <a:endParaRPr lang="zh-CN" altLang="zh-CN" sz="2400" dirty="0"/>
          </a:p>
          <a:p>
            <a:pPr eaLnBrk="1" hangingPunct="1">
              <a:lnSpc>
                <a:spcPct val="90000"/>
              </a:lnSpc>
              <a:buNone/>
            </a:pPr>
            <a:r>
              <a:rPr lang="zh-CN" altLang="zh-CN" sz="2400" dirty="0"/>
              <a:t>* @version</a:t>
            </a:r>
            <a:endParaRPr lang="zh-CN" altLang="zh-CN" sz="2400" dirty="0"/>
          </a:p>
          <a:p>
            <a:pPr eaLnBrk="1" hangingPunct="1">
              <a:lnSpc>
                <a:spcPct val="90000"/>
              </a:lnSpc>
              <a:buNone/>
            </a:pPr>
            <a:r>
              <a:rPr lang="zh-CN" altLang="zh-CN" sz="2400" dirty="0"/>
              <a:t>*/ </a:t>
            </a:r>
            <a:endParaRPr lang="zh-CN" altLang="zh-CN" sz="2400" dirty="0"/>
          </a:p>
          <a:p>
            <a:pPr eaLnBrk="1" hangingPunct="1">
              <a:lnSpc>
                <a:spcPct val="90000"/>
              </a:lnSpc>
              <a:buNone/>
            </a:pPr>
            <a:r>
              <a:rPr lang="zh-CN" altLang="zh-CN" sz="2400" dirty="0"/>
              <a:t>public class StringUtil { </a:t>
            </a:r>
            <a:endParaRPr lang="zh-CN" altLang="zh-CN" sz="2400" dirty="0"/>
          </a:p>
          <a:p>
            <a:pPr eaLnBrk="1" hangingPunct="1">
              <a:lnSpc>
                <a:spcPct val="90000"/>
              </a:lnSpc>
              <a:buNone/>
            </a:pPr>
            <a:r>
              <a:rPr lang="zh-CN" altLang="zh-CN" sz="2400" dirty="0"/>
              <a:t>⋯ </a:t>
            </a:r>
            <a:endParaRPr lang="zh-CN" altLang="zh-CN" sz="2400" dirty="0"/>
          </a:p>
          <a:p>
            <a:pPr eaLnBrk="1" hangingPunct="1">
              <a:lnSpc>
                <a:spcPct val="90000"/>
              </a:lnSpc>
              <a:buNone/>
            </a:pPr>
            <a:r>
              <a:rPr lang="zh-CN" altLang="zh-CN" sz="2400" dirty="0"/>
              <a:t>}</a:t>
            </a:r>
            <a:r>
              <a:rPr lang="zh-CN" altLang="zh-CN" dirty="0"/>
              <a:t> </a:t>
            </a:r>
            <a:endParaRPr lang="en-US" altLang="zh-CN" dirty="0"/>
          </a:p>
          <a:p>
            <a:pPr eaLnBrk="1" hangingPunct="1">
              <a:lnSpc>
                <a:spcPct val="90000"/>
              </a:lnSpc>
              <a:buNone/>
            </a:pPr>
            <a:r>
              <a:rPr lang="zh-CN" altLang="en-US" i="1" dirty="0"/>
              <a:t>在</a:t>
            </a:r>
            <a:r>
              <a:rPr lang="en-US" altLang="zh-CN" i="1" dirty="0"/>
              <a:t>Eclipse</a:t>
            </a:r>
            <a:r>
              <a:rPr lang="zh-CN" altLang="en-US" i="1" dirty="0"/>
              <a:t>中可通过快捷键嵌入：</a:t>
            </a:r>
            <a:r>
              <a:rPr lang="en-US" altLang="zh-CN" i="1" dirty="0"/>
              <a:t>/</a:t>
            </a:r>
            <a:r>
              <a:rPr lang="zh-CN" altLang="en-US" i="1" dirty="0"/>
              <a:t>**</a:t>
            </a:r>
            <a:r>
              <a:rPr lang="en-US" altLang="zh-CN" i="1" dirty="0"/>
              <a:t>+Enter</a:t>
            </a:r>
            <a:endParaRPr lang="zh-CN" altLang="zh-CN" i="1" dirty="0"/>
          </a:p>
          <a:p>
            <a:pPr eaLnBrk="1" hangingPunct="1">
              <a:lnSpc>
                <a:spcPct val="90000"/>
              </a:lnSpc>
            </a:pPr>
            <a:endParaRPr lang="zh-CN" altLang="zh-CN"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idx="1"/>
          </p:nvPr>
        </p:nvSpPr>
        <p:spPr>
          <a:xfrm>
            <a:off x="457200" y="765175"/>
            <a:ext cx="8229600" cy="5102225"/>
          </a:xfrm>
        </p:spPr>
        <p:txBody>
          <a:bodyPr vert="horz" wrap="square" lIns="91440" tIns="45720" rIns="91440" bIns="45720" anchor="t" anchorCtr="0"/>
          <a:p>
            <a:pPr eaLnBrk="1" hangingPunct="1">
              <a:buClr>
                <a:srgbClr val="00CCFF"/>
              </a:buClr>
              <a:buNone/>
            </a:pPr>
            <a:r>
              <a:rPr lang="zh-CN" altLang="zh-CN" sz="4000" dirty="0">
                <a:solidFill>
                  <a:srgbClr val="990000"/>
                </a:solidFill>
              </a:rPr>
              <a:t>③</a:t>
            </a:r>
            <a:r>
              <a:rPr lang="zh-CN" altLang="zh-CN" sz="3500" dirty="0">
                <a:solidFill>
                  <a:srgbClr val="990000"/>
                </a:solidFill>
              </a:rPr>
              <a:t>方法注释</a:t>
            </a:r>
            <a:r>
              <a:rPr lang="zh-CN" altLang="zh-CN" sz="3500" dirty="0"/>
              <a:t>：</a:t>
            </a:r>
            <a:endParaRPr lang="zh-CN" altLang="zh-CN" sz="3500" dirty="0"/>
          </a:p>
          <a:p>
            <a:pPr eaLnBrk="1" hangingPunct="1">
              <a:buNone/>
            </a:pPr>
            <a:r>
              <a:rPr lang="zh-CN" altLang="zh-CN" dirty="0"/>
              <a:t>/** </a:t>
            </a:r>
            <a:endParaRPr lang="zh-CN" altLang="zh-CN" dirty="0"/>
          </a:p>
          <a:p>
            <a:pPr eaLnBrk="1" hangingPunct="1">
              <a:buNone/>
            </a:pPr>
            <a:r>
              <a:rPr lang="zh-CN" altLang="zh-CN" dirty="0"/>
              <a:t>* 方法的功能描述 </a:t>
            </a:r>
            <a:endParaRPr lang="zh-CN" altLang="zh-CN" dirty="0"/>
          </a:p>
          <a:p>
            <a:pPr eaLnBrk="1" hangingPunct="1">
              <a:buNone/>
            </a:pPr>
            <a:r>
              <a:rPr lang="zh-CN" altLang="zh-CN" dirty="0"/>
              <a:t>* </a:t>
            </a:r>
            <a:endParaRPr lang="zh-CN" altLang="zh-CN" dirty="0"/>
          </a:p>
          <a:p>
            <a:pPr eaLnBrk="1" hangingPunct="1">
              <a:buNone/>
            </a:pPr>
            <a:r>
              <a:rPr lang="zh-CN" altLang="zh-CN" dirty="0"/>
              <a:t>* @param</a:t>
            </a:r>
            <a:endParaRPr lang="zh-CN" altLang="zh-CN" dirty="0"/>
          </a:p>
          <a:p>
            <a:pPr eaLnBrk="1" hangingPunct="1">
              <a:buNone/>
            </a:pPr>
            <a:r>
              <a:rPr lang="zh-CN" altLang="zh-CN" dirty="0"/>
              <a:t>* @return</a:t>
            </a:r>
            <a:endParaRPr lang="zh-CN" altLang="zh-CN" dirty="0"/>
          </a:p>
          <a:p>
            <a:pPr eaLnBrk="1" hangingPunct="1">
              <a:buNone/>
            </a:pPr>
            <a:r>
              <a:rPr lang="zh-CN" altLang="zh-CN" dirty="0"/>
              <a:t>* @throws</a:t>
            </a:r>
            <a:endParaRPr lang="zh-CN" altLang="zh-CN" dirty="0"/>
          </a:p>
          <a:p>
            <a:pPr eaLnBrk="1" hangingPunct="1">
              <a:buNone/>
            </a:pPr>
            <a:r>
              <a:rPr lang="zh-CN" altLang="zh-CN" dirty="0"/>
              <a:t>*/</a:t>
            </a:r>
            <a:r>
              <a:rPr lang="zh-CN" altLang="zh-CN" sz="4000" dirty="0"/>
              <a:t> </a:t>
            </a:r>
            <a:endParaRPr lang="zh-CN" altLang="zh-CN" sz="4000" dirty="0"/>
          </a:p>
          <a:p>
            <a:pPr eaLnBrk="1" hangingPunct="1"/>
            <a:endParaRPr lang="zh-CN"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p:txBody>
          <a:bodyPr vert="horz" wrap="square" lIns="91440" tIns="45720" rIns="91440" bIns="45720" anchor="ctr" anchorCtr="0"/>
          <a:p>
            <a:pPr eaLnBrk="1" hangingPunct="1"/>
            <a:r>
              <a:rPr lang="zh-CN" altLang="zh-CN" dirty="0"/>
              <a:t>5.2 项目编码实现</a:t>
            </a:r>
            <a:endParaRPr lang="zh-CN" altLang="zh-CN" dirty="0"/>
          </a:p>
        </p:txBody>
      </p:sp>
      <p:sp>
        <p:nvSpPr>
          <p:cNvPr id="41987" name="Rectangle 3"/>
          <p:cNvSpPr>
            <a:spLocks noGrp="1"/>
          </p:cNvSpPr>
          <p:nvPr>
            <p:ph idx="1"/>
          </p:nvPr>
        </p:nvSpPr>
        <p:spPr>
          <a:xfrm>
            <a:off x="469900" y="1774825"/>
            <a:ext cx="8289925" cy="4103688"/>
          </a:xfrm>
        </p:spPr>
        <p:txBody>
          <a:bodyPr vert="horz" wrap="square" lIns="91440" tIns="45720" rIns="91440" bIns="45720" anchor="t" anchorCtr="0"/>
          <a:p>
            <a:pPr eaLnBrk="1" hangingPunct="1"/>
            <a:r>
              <a:rPr lang="zh-CN" altLang="en-US" dirty="0"/>
              <a:t>使用工具：Eclipse/MyEclipse</a:t>
            </a:r>
            <a:endParaRPr lang="zh-CN" altLang="en-US" dirty="0"/>
          </a:p>
          <a:p>
            <a:pPr eaLnBrk="1" hangingPunct="1"/>
            <a:r>
              <a:rPr lang="zh-CN" altLang="en-US" dirty="0"/>
              <a:t>启动——创建工作空间——创建工程——在工程中添加各个类——设置工程属性——编译工程——运行工程</a:t>
            </a:r>
            <a:endParaRPr lang="zh-CN" altLang="en-US" dirty="0"/>
          </a:p>
          <a:p>
            <a:pPr eaLnBrk="1" hangingPunct="1"/>
            <a:r>
              <a:rPr lang="zh-CN" altLang="en-US" dirty="0"/>
              <a:t>各个类的编码实现</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xfrm>
            <a:off x="395288" y="0"/>
            <a:ext cx="8229600" cy="1371600"/>
          </a:xfrm>
        </p:spPr>
        <p:txBody>
          <a:bodyPr vert="horz" wrap="square" lIns="91440" tIns="45720" rIns="91440" bIns="45720" anchor="ctr" anchorCtr="0"/>
          <a:p>
            <a:pPr eaLnBrk="1" hangingPunct="1"/>
            <a:r>
              <a:rPr lang="zh-CN" altLang="zh-CN" dirty="0"/>
              <a:t>本项目中各模块的编码实现</a:t>
            </a:r>
            <a:endParaRPr lang="zh-CN" altLang="zh-CN" dirty="0"/>
          </a:p>
        </p:txBody>
      </p:sp>
      <p:sp>
        <p:nvSpPr>
          <p:cNvPr id="43011" name="Rectangle 3"/>
          <p:cNvSpPr>
            <a:spLocks noGrp="1"/>
          </p:cNvSpPr>
          <p:nvPr>
            <p:ph idx="1"/>
          </p:nvPr>
        </p:nvSpPr>
        <p:spPr>
          <a:xfrm>
            <a:off x="468313" y="1484313"/>
            <a:ext cx="8507412" cy="4876800"/>
          </a:xfrm>
        </p:spPr>
        <p:txBody>
          <a:bodyPr vert="horz" wrap="square" lIns="91440" tIns="45720" rIns="91440" bIns="45720" anchor="t" anchorCtr="0"/>
          <a:p>
            <a:pPr eaLnBrk="1" hangingPunct="1">
              <a:lnSpc>
                <a:spcPct val="80000"/>
              </a:lnSpc>
            </a:pPr>
            <a:r>
              <a:rPr lang="zh-CN" altLang="en-US" sz="3600" dirty="0"/>
              <a:t>服务器端</a:t>
            </a:r>
            <a:endParaRPr lang="zh-CN" altLang="en-US" sz="3600" dirty="0"/>
          </a:p>
          <a:p>
            <a:pPr lvl="1" eaLnBrk="1" hangingPunct="1">
              <a:lnSpc>
                <a:spcPct val="80000"/>
              </a:lnSpc>
            </a:pPr>
            <a:r>
              <a:rPr lang="zh-CN" altLang="en-US" sz="3100" dirty="0"/>
              <a:t>ServerMain</a:t>
            </a:r>
            <a:endParaRPr lang="zh-CN" altLang="en-US" sz="3100" dirty="0"/>
          </a:p>
          <a:p>
            <a:pPr lvl="1" eaLnBrk="1" hangingPunct="1">
              <a:lnSpc>
                <a:spcPct val="80000"/>
              </a:lnSpc>
            </a:pPr>
            <a:r>
              <a:rPr lang="zh-CN" altLang="en-US" sz="3100" dirty="0"/>
              <a:t>ServerThread</a:t>
            </a:r>
            <a:endParaRPr lang="zh-CN" altLang="en-US" sz="3100" dirty="0"/>
          </a:p>
          <a:p>
            <a:pPr lvl="1" eaLnBrk="1" hangingPunct="1">
              <a:lnSpc>
                <a:spcPct val="80000"/>
              </a:lnSpc>
            </a:pPr>
            <a:r>
              <a:rPr lang="zh-CN" altLang="en-US" sz="3100" dirty="0"/>
              <a:t>...</a:t>
            </a:r>
            <a:endParaRPr lang="zh-CN" altLang="en-US" sz="3100" dirty="0"/>
          </a:p>
          <a:p>
            <a:pPr eaLnBrk="1" hangingPunct="1">
              <a:lnSpc>
                <a:spcPct val="80000"/>
              </a:lnSpc>
            </a:pPr>
            <a:r>
              <a:rPr lang="zh-CN" altLang="en-US" sz="3600" dirty="0"/>
              <a:t>客户端</a:t>
            </a:r>
            <a:endParaRPr lang="zh-CN" altLang="en-US" sz="3600" dirty="0"/>
          </a:p>
          <a:p>
            <a:pPr lvl="1" eaLnBrk="1" hangingPunct="1">
              <a:lnSpc>
                <a:spcPct val="80000"/>
              </a:lnSpc>
            </a:pPr>
            <a:r>
              <a:rPr lang="zh-CN" altLang="en-US" sz="3100" dirty="0"/>
              <a:t>ClientMain</a:t>
            </a:r>
            <a:endParaRPr lang="zh-CN" altLang="en-US" sz="3100" dirty="0"/>
          </a:p>
          <a:p>
            <a:pPr lvl="1" eaLnBrk="1" hangingPunct="1">
              <a:lnSpc>
                <a:spcPct val="80000"/>
              </a:lnSpc>
            </a:pPr>
            <a:r>
              <a:rPr lang="zh-CN" altLang="en-US" sz="3100" dirty="0"/>
              <a:t>ClientThread</a:t>
            </a:r>
            <a:endParaRPr lang="zh-CN" altLang="en-US" sz="3100" dirty="0"/>
          </a:p>
          <a:p>
            <a:pPr lvl="1" eaLnBrk="1" hangingPunct="1">
              <a:lnSpc>
                <a:spcPct val="80000"/>
              </a:lnSpc>
            </a:pPr>
            <a:r>
              <a:rPr lang="zh-CN" altLang="en-US" sz="3100" dirty="0"/>
              <a:t>...</a:t>
            </a:r>
            <a:endParaRPr lang="en-US" altLang="zh-CN" sz="3100" dirty="0"/>
          </a:p>
          <a:p>
            <a:pPr eaLnBrk="1" hangingPunct="1">
              <a:lnSpc>
                <a:spcPct val="80000"/>
              </a:lnSpc>
            </a:pPr>
            <a:r>
              <a:rPr lang="zh-CN" altLang="en-US" sz="3500" dirty="0"/>
              <a:t>公共项目</a:t>
            </a:r>
            <a:endParaRPr lang="en-US" altLang="zh-CN" sz="3500" dirty="0"/>
          </a:p>
          <a:p>
            <a:pPr lvl="1" eaLnBrk="1" hangingPunct="1">
              <a:lnSpc>
                <a:spcPct val="80000"/>
              </a:lnSpc>
            </a:pPr>
            <a:r>
              <a:rPr lang="en-US" altLang="zh-CN" sz="3100" dirty="0"/>
              <a:t>Vo/util/db/widget/…</a:t>
            </a:r>
            <a:endParaRPr lang="zh-CN" altLang="en-US" sz="3100" dirty="0"/>
          </a:p>
          <a:p>
            <a:pPr lvl="1" eaLnBrk="1" hangingPunct="1">
              <a:lnSpc>
                <a:spcPct val="80000"/>
              </a:lnSpc>
              <a:buNone/>
            </a:pPr>
            <a:endParaRPr lang="zh-CN" altLang="en-US" sz="3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p:txBody>
          <a:bodyPr vert="horz" wrap="square" lIns="91440" tIns="45720" rIns="91440" bIns="45720" anchor="ctr" anchorCtr="0"/>
          <a:p>
            <a:pPr eaLnBrk="1" hangingPunct="1"/>
            <a:r>
              <a:rPr lang="zh-CN" altLang="zh-CN" dirty="0"/>
              <a:t>5.3 测试</a:t>
            </a:r>
            <a:endParaRPr lang="zh-CN" altLang="zh-CN" dirty="0"/>
          </a:p>
        </p:txBody>
      </p:sp>
      <p:sp>
        <p:nvSpPr>
          <p:cNvPr id="44035" name="Rectangle 3"/>
          <p:cNvSpPr>
            <a:spLocks noGrp="1"/>
          </p:cNvSpPr>
          <p:nvPr>
            <p:ph type="body" sz="half" idx="1"/>
          </p:nvPr>
        </p:nvSpPr>
        <p:spPr>
          <a:xfrm>
            <a:off x="395288" y="1773238"/>
            <a:ext cx="4038600" cy="3886200"/>
          </a:xfrm>
        </p:spPr>
        <p:txBody>
          <a:bodyPr vert="horz" wrap="square" lIns="91440" tIns="45720" rIns="91440" bIns="45720" anchor="t" anchorCtr="0"/>
          <a:p>
            <a:pPr eaLnBrk="1" hangingPunct="1">
              <a:buClr>
                <a:schemeClr val="bg2"/>
              </a:buClr>
              <a:buSzPct val="75000"/>
              <a:buFont typeface="Wingdings" panose="05000000000000000000" pitchFamily="2" charset="2"/>
            </a:pPr>
            <a:r>
              <a:rPr lang="zh-CN" altLang="zh-CN" dirty="0"/>
              <a:t>5.</a:t>
            </a:r>
            <a:r>
              <a:rPr lang="en-US" altLang="zh-CN" dirty="0"/>
              <a:t>3</a:t>
            </a:r>
            <a:r>
              <a:rPr lang="zh-CN" altLang="zh-CN" dirty="0"/>
              <a:t>.1 测试的过程</a:t>
            </a:r>
            <a:endParaRPr lang="zh-CN" altLang="zh-CN" dirty="0"/>
          </a:p>
        </p:txBody>
      </p:sp>
      <p:graphicFrame>
        <p:nvGraphicFramePr>
          <p:cNvPr id="44036" name="Object 4"/>
          <p:cNvGraphicFramePr>
            <a:graphicFrameLocks noChangeAspect="1"/>
          </p:cNvGraphicFramePr>
          <p:nvPr>
            <p:ph sz="half" idx="2"/>
          </p:nvPr>
        </p:nvGraphicFramePr>
        <p:xfrm>
          <a:off x="0" y="2492693"/>
          <a:ext cx="9144000" cy="4094162"/>
        </p:xfrm>
        <a:graphic>
          <a:graphicData uri="http://schemas.openxmlformats.org/presentationml/2006/ole">
            <mc:AlternateContent xmlns:mc="http://schemas.openxmlformats.org/markup-compatibility/2006">
              <mc:Choice xmlns:v="urn:schemas-microsoft-com:vml" Requires="v">
                <p:oleObj spid="_x0000_s3076" name="" r:id="rId1" imgW="4084955" imgH="1829435" progId="Visio.Drawing.6">
                  <p:embed/>
                </p:oleObj>
              </mc:Choice>
              <mc:Fallback>
                <p:oleObj name="" r:id="rId1" imgW="4084955" imgH="1829435" progId="Visio.Drawing.6">
                  <p:embed/>
                  <p:pic>
                    <p:nvPicPr>
                      <p:cNvPr id="0" name="图片 3075"/>
                      <p:cNvPicPr/>
                      <p:nvPr/>
                    </p:nvPicPr>
                    <p:blipFill>
                      <a:blip r:embed="rId2"/>
                      <a:srcRect/>
                      <a:stretch>
                        <a:fillRect/>
                      </a:stretch>
                    </p:blipFill>
                    <p:spPr>
                      <a:xfrm>
                        <a:off x="0" y="2492693"/>
                        <a:ext cx="9144000" cy="4094162"/>
                      </a:xfrm>
                      <a:prstGeom prst="rect">
                        <a:avLst/>
                      </a:prstGeom>
                      <a:noFill/>
                      <a:ln w="38100">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noChangeArrowheads="1"/>
          </p:cNvSpPr>
          <p:nvPr>
            <p:ph idx="1"/>
          </p:nvPr>
        </p:nvSpPr>
        <p:spPr>
          <a:xfrm>
            <a:off x="357188" y="785813"/>
            <a:ext cx="8435975" cy="57150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3200" b="1" i="0" u="none" strike="noStrike" kern="0" cap="none" spc="0" normalizeH="0" baseline="0" noProof="0" dirty="0" smtClean="0">
                <a:ln>
                  <a:noFill/>
                </a:ln>
                <a:solidFill>
                  <a:schemeClr val="tx1"/>
                </a:solidFill>
                <a:effectLst/>
                <a:uLnTx/>
                <a:uFillTx/>
                <a:latin typeface="+mn-lt"/>
                <a:ea typeface="+mn-ea"/>
                <a:cs typeface="+mn-cs"/>
              </a:rPr>
              <a:t>测试过程有三类输入：</a:t>
            </a:r>
            <a:r>
              <a:rPr kumimoji="0" lang="zh-CN" sz="3200" b="1" i="0" u="none" strike="noStrike" kern="0" cap="none" spc="0" normalizeH="0" baseline="0" noProof="0" dirty="0" smtClean="0">
                <a:ln>
                  <a:noFill/>
                </a:ln>
                <a:solidFill>
                  <a:schemeClr val="accent1">
                    <a:lumMod val="50000"/>
                  </a:schemeClr>
                </a:solidFill>
                <a:effectLst/>
                <a:uLnTx/>
                <a:uFillTx/>
                <a:latin typeface="+mn-lt"/>
                <a:ea typeface="+mn-ea"/>
                <a:cs typeface="+mn-cs"/>
              </a:rPr>
              <a:t>软件配置、测试配置和测试工具</a:t>
            </a:r>
            <a:r>
              <a:rPr kumimoji="0" lang="zh-CN" sz="3200" b="1" i="0" u="none" strike="noStrike" kern="0" cap="none" spc="0" normalizeH="0" baseline="0" noProof="0" dirty="0" smtClean="0">
                <a:ln>
                  <a:noFill/>
                </a:ln>
                <a:solidFill>
                  <a:schemeClr val="tx1"/>
                </a:solidFill>
                <a:effectLst/>
                <a:uLnTx/>
                <a:uFillTx/>
                <a:latin typeface="+mn-lt"/>
                <a:ea typeface="+mn-ea"/>
                <a:cs typeface="+mn-cs"/>
              </a:rPr>
              <a:t>。</a:t>
            </a:r>
            <a:endParaRPr kumimoji="0" lang="zh-CN"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3200" b="1" i="0" u="none" strike="noStrike" kern="0" cap="none" spc="0" normalizeH="0" baseline="0" noProof="0" dirty="0" smtClean="0">
                <a:ln>
                  <a:noFill/>
                </a:ln>
                <a:solidFill>
                  <a:schemeClr val="accent1">
                    <a:lumMod val="50000"/>
                  </a:schemeClr>
                </a:solidFill>
                <a:effectLst/>
                <a:uLnTx/>
                <a:uFillTx/>
                <a:latin typeface="+mn-lt"/>
                <a:ea typeface="+mn-ea"/>
                <a:cs typeface="+mn-cs"/>
              </a:rPr>
              <a:t>软件配置</a:t>
            </a:r>
            <a:r>
              <a:rPr kumimoji="0" lang="zh-CN" sz="3200" b="1" i="0" u="none" strike="noStrike" kern="0" cap="none" spc="0" normalizeH="0" baseline="0" noProof="0" dirty="0" smtClean="0">
                <a:ln>
                  <a:noFill/>
                </a:ln>
                <a:solidFill>
                  <a:schemeClr val="tx1"/>
                </a:solidFill>
                <a:effectLst/>
                <a:uLnTx/>
                <a:uFillTx/>
                <a:latin typeface="+mn-lt"/>
                <a:ea typeface="+mn-ea"/>
                <a:cs typeface="+mn-cs"/>
              </a:rPr>
              <a:t>包括软件需求说明书、设计说明书、源程序清单等文档。</a:t>
            </a:r>
            <a:endParaRPr kumimoji="0" lang="en-US" altLang="zh-CN"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3200" b="1" i="0" u="none" strike="noStrike" kern="0" cap="none" spc="0" normalizeH="0" baseline="0" noProof="0" dirty="0" smtClean="0">
                <a:ln>
                  <a:noFill/>
                </a:ln>
                <a:solidFill>
                  <a:schemeClr val="accent1">
                    <a:lumMod val="50000"/>
                  </a:schemeClr>
                </a:solidFill>
                <a:effectLst/>
                <a:uLnTx/>
                <a:uFillTx/>
                <a:latin typeface="+mn-lt"/>
                <a:ea typeface="+mn-ea"/>
                <a:cs typeface="+mn-cs"/>
              </a:rPr>
              <a:t>测试配置</a:t>
            </a:r>
            <a:r>
              <a:rPr kumimoji="0" lang="zh-CN" sz="3200" b="1" i="0" u="none" strike="noStrike" kern="0" cap="none" spc="0" normalizeH="0" baseline="0" noProof="0" dirty="0" smtClean="0">
                <a:ln>
                  <a:noFill/>
                </a:ln>
                <a:solidFill>
                  <a:schemeClr val="tx1"/>
                </a:solidFill>
                <a:effectLst/>
                <a:uLnTx/>
                <a:uFillTx/>
                <a:latin typeface="+mn-lt"/>
                <a:ea typeface="+mn-ea"/>
                <a:cs typeface="+mn-cs"/>
              </a:rPr>
              <a:t>包括测试方案、测试计划、测试用例、测试驱动程序等文档。</a:t>
            </a:r>
            <a:endParaRPr kumimoji="0" lang="en-US" altLang="zh-CN"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3200" b="1" i="0" u="none" strike="noStrike" kern="0" cap="none" spc="0" normalizeH="0" baseline="0" noProof="0" dirty="0" smtClean="0">
                <a:ln>
                  <a:noFill/>
                </a:ln>
                <a:solidFill>
                  <a:schemeClr val="accent1">
                    <a:lumMod val="50000"/>
                  </a:schemeClr>
                </a:solidFill>
                <a:effectLst/>
                <a:uLnTx/>
                <a:uFillTx/>
                <a:latin typeface="+mn-lt"/>
                <a:ea typeface="+mn-ea"/>
                <a:cs typeface="+mn-cs"/>
              </a:rPr>
              <a:t>测试工具</a:t>
            </a:r>
            <a:r>
              <a:rPr kumimoji="0" lang="zh-CN" sz="3200" b="1" i="0" u="none" strike="noStrike" kern="0" cap="none" spc="0" normalizeH="0" baseline="0" noProof="0" dirty="0" smtClean="0">
                <a:ln>
                  <a:noFill/>
                </a:ln>
                <a:solidFill>
                  <a:schemeClr val="tx1"/>
                </a:solidFill>
                <a:effectLst/>
                <a:uLnTx/>
                <a:uFillTx/>
                <a:latin typeface="+mn-lt"/>
                <a:ea typeface="+mn-ea"/>
                <a:cs typeface="+mn-cs"/>
              </a:rPr>
              <a:t>包括支持测试的软件。</a:t>
            </a:r>
            <a:endParaRPr kumimoji="0" lang="en-US" altLang="zh-CN" sz="32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sz="3200" b="1" i="0" u="none" strike="noStrike" kern="0" cap="none" spc="0" normalizeH="0" baseline="0" noProof="0" dirty="0" smtClean="0">
                <a:ln>
                  <a:noFill/>
                </a:ln>
                <a:solidFill>
                  <a:schemeClr val="accent1">
                    <a:lumMod val="50000"/>
                  </a:schemeClr>
                </a:solidFill>
                <a:effectLst/>
                <a:uLnTx/>
                <a:uFillTx/>
                <a:latin typeface="+mn-lt"/>
                <a:ea typeface="+mn-ea"/>
                <a:cs typeface="+mn-cs"/>
              </a:rPr>
              <a:t>输出信息</a:t>
            </a:r>
            <a:r>
              <a:rPr kumimoji="0" lang="zh-CN" sz="3200" b="1" i="0" u="none" strike="noStrike" kern="0" cap="none" spc="0" normalizeH="0" baseline="0" noProof="0" dirty="0" smtClean="0">
                <a:ln>
                  <a:noFill/>
                </a:ln>
                <a:solidFill>
                  <a:schemeClr val="tx1"/>
                </a:solidFill>
                <a:effectLst/>
                <a:uLnTx/>
                <a:uFillTx/>
                <a:latin typeface="+mn-lt"/>
                <a:ea typeface="+mn-ea"/>
                <a:cs typeface="+mn-cs"/>
              </a:rPr>
              <a:t>有修正软件的文件和预测可靠性或得出纠错后可交付使用的正确软件。测试的信息流是不断递归的过程，也是相对有限的测试过程，而不是无限的过程。</a:t>
            </a:r>
            <a:endParaRPr kumimoji="0" lang="zh-CN" sz="3200" b="1"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noChangeArrowheads="1"/>
          </p:cNvSpPr>
          <p:nvPr>
            <p:ph idx="1"/>
          </p:nvPr>
        </p:nvSpPr>
        <p:spPr>
          <a:xfrm>
            <a:off x="457200" y="549275"/>
            <a:ext cx="8472488" cy="60483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zh-CN" sz="3600" b="1" i="0" u="none" strike="noStrike" kern="0" cap="none" spc="0" normalizeH="0" baseline="0" noProof="0" dirty="0" smtClean="0">
                <a:ln>
                  <a:noFill/>
                </a:ln>
                <a:solidFill>
                  <a:schemeClr val="tx1"/>
                </a:solidFill>
                <a:effectLst/>
                <a:uLnTx/>
                <a:uFillTx/>
                <a:latin typeface="+mn-lt"/>
                <a:ea typeface="+mn-ea"/>
                <a:cs typeface="+mn-cs"/>
              </a:rPr>
              <a:t>5.</a:t>
            </a:r>
            <a:r>
              <a:rPr kumimoji="0" lang="en-US" altLang="zh-CN" sz="3600" b="1" i="0" u="none" strike="noStrike" kern="0" cap="none" spc="0" normalizeH="0" baseline="0" noProof="0" dirty="0" smtClean="0">
                <a:ln>
                  <a:noFill/>
                </a:ln>
                <a:solidFill>
                  <a:schemeClr val="tx1"/>
                </a:solidFill>
                <a:effectLst/>
                <a:uLnTx/>
                <a:uFillTx/>
                <a:latin typeface="+mn-lt"/>
                <a:ea typeface="+mn-ea"/>
                <a:cs typeface="+mn-cs"/>
              </a:rPr>
              <a:t>3</a:t>
            </a:r>
            <a:r>
              <a:rPr kumimoji="0" lang="zh-CN" altLang="zh-CN" sz="3600" b="1" i="0" u="none" strike="noStrike" kern="0" cap="none" spc="0" normalizeH="0" baseline="0" noProof="0" dirty="0" smtClean="0">
                <a:ln>
                  <a:noFill/>
                </a:ln>
                <a:solidFill>
                  <a:schemeClr val="tx1"/>
                </a:solidFill>
                <a:effectLst/>
                <a:uLnTx/>
                <a:uFillTx/>
                <a:latin typeface="+mn-lt"/>
                <a:ea typeface="+mn-ea"/>
                <a:cs typeface="+mn-cs"/>
              </a:rPr>
              <a:t>.2 </a:t>
            </a:r>
            <a:r>
              <a:rPr kumimoji="0" lang="zh-CN" sz="3200" b="1" i="0" u="none" strike="noStrike" kern="0" cap="none" spc="0" normalizeH="0" baseline="0" noProof="0" dirty="0" smtClean="0">
                <a:ln>
                  <a:noFill/>
                </a:ln>
                <a:solidFill>
                  <a:schemeClr val="tx1"/>
                </a:solidFill>
                <a:effectLst/>
                <a:uLnTx/>
                <a:uFillTx/>
                <a:latin typeface="+mn-lt"/>
                <a:ea typeface="+mn-ea"/>
                <a:cs typeface="+mn-cs"/>
              </a:rPr>
              <a:t>测试的方法</a:t>
            </a:r>
            <a:endParaRPr kumimoji="0" lang="zh-CN" sz="3200" b="1"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sz="3200" b="1" i="0" u="none" strike="noStrike" kern="0" cap="none" spc="0" normalizeH="0" baseline="0" noProof="0" dirty="0" smtClean="0">
                <a:ln>
                  <a:noFill/>
                </a:ln>
                <a:solidFill>
                  <a:schemeClr val="tx1"/>
                </a:solidFill>
                <a:effectLst/>
                <a:uLnTx/>
                <a:uFillTx/>
                <a:latin typeface="+mn-lt"/>
                <a:ea typeface="+mn-ea"/>
                <a:cs typeface="+mn-ea"/>
              </a:rPr>
              <a:t>从是否需要执行被测软件的角度，可分为：</a:t>
            </a:r>
            <a:endParaRPr kumimoji="0" lang="zh-CN" sz="3200" b="1" i="0" u="none" strike="noStrike" kern="0" cap="none" spc="0" normalizeH="0" baseline="0" noProof="0" dirty="0" smtClean="0">
              <a:ln>
                <a:noFill/>
              </a:ln>
              <a:solidFill>
                <a:schemeClr val="tx1"/>
              </a:solidFill>
              <a:effectLst/>
              <a:uLnTx/>
              <a:uFillTx/>
              <a:latin typeface="+mn-lt"/>
              <a:ea typeface="+mn-ea"/>
              <a:cs typeface="+mn-ea"/>
            </a:endParaRPr>
          </a:p>
          <a:p>
            <a:pPr marL="1600200" marR="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a:pPr>
            <a:r>
              <a:rPr kumimoji="0" lang="zh-CN" sz="3200" b="1" i="0" u="none" strike="noStrike" kern="0" cap="none" spc="0" normalizeH="0" baseline="0" noProof="0" dirty="0" smtClean="0">
                <a:ln>
                  <a:noFill/>
                </a:ln>
                <a:solidFill>
                  <a:schemeClr val="tx1"/>
                </a:solidFill>
                <a:effectLst/>
                <a:uLnTx/>
                <a:uFillTx/>
                <a:latin typeface="+mn-lt"/>
                <a:ea typeface="+mn-ea"/>
                <a:cs typeface="+mn-ea"/>
              </a:rPr>
              <a:t>静态测试</a:t>
            </a:r>
            <a:endParaRPr kumimoji="0" lang="zh-CN" sz="3200" b="1" i="0" u="none" strike="noStrike" kern="0" cap="none" spc="0" normalizeH="0" baseline="0" noProof="0" dirty="0" smtClean="0">
              <a:ln>
                <a:noFill/>
              </a:ln>
              <a:solidFill>
                <a:schemeClr val="tx1"/>
              </a:solidFill>
              <a:effectLst/>
              <a:uLnTx/>
              <a:uFillTx/>
              <a:latin typeface="+mn-lt"/>
              <a:ea typeface="+mn-ea"/>
              <a:cs typeface="+mn-ea"/>
            </a:endParaRPr>
          </a:p>
          <a:p>
            <a:pPr marL="1600200" marR="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a:pPr>
            <a:r>
              <a:rPr kumimoji="0" lang="zh-CN" sz="3200" b="1" i="0" u="none" strike="noStrike" kern="0" cap="none" spc="0" normalizeH="0" baseline="0" noProof="0" dirty="0" smtClean="0">
                <a:ln>
                  <a:noFill/>
                </a:ln>
                <a:solidFill>
                  <a:schemeClr val="tx1"/>
                </a:solidFill>
                <a:effectLst/>
                <a:uLnTx/>
                <a:uFillTx/>
                <a:latin typeface="+mn-lt"/>
                <a:ea typeface="+mn-ea"/>
                <a:cs typeface="+mn-ea"/>
              </a:rPr>
              <a:t>动态测试</a:t>
            </a:r>
            <a:endParaRPr kumimoji="0" lang="zh-CN" sz="32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sz="3200" b="1" i="0" u="none" strike="noStrike" kern="0" cap="none" spc="0" normalizeH="0" baseline="0" noProof="0" dirty="0" smtClean="0">
                <a:ln>
                  <a:noFill/>
                </a:ln>
                <a:solidFill>
                  <a:schemeClr val="tx1"/>
                </a:solidFill>
                <a:effectLst/>
                <a:uLnTx/>
                <a:uFillTx/>
                <a:latin typeface="+mn-lt"/>
                <a:ea typeface="+mn-ea"/>
                <a:cs typeface="+mn-ea"/>
              </a:rPr>
              <a:t>从测试是否针对系统的内部结构和具体实现算法的角度来看，可分为 ：</a:t>
            </a:r>
            <a:endParaRPr kumimoji="0" lang="zh-CN" sz="3200" b="1" i="0" u="none" strike="noStrike" kern="0" cap="none" spc="0" normalizeH="0" baseline="0" noProof="0" dirty="0" smtClean="0">
              <a:ln>
                <a:noFill/>
              </a:ln>
              <a:solidFill>
                <a:schemeClr val="tx1"/>
              </a:solidFill>
              <a:effectLst/>
              <a:uLnTx/>
              <a:uFillTx/>
              <a:latin typeface="+mn-lt"/>
              <a:ea typeface="+mn-ea"/>
              <a:cs typeface="+mn-ea"/>
            </a:endParaRPr>
          </a:p>
          <a:p>
            <a:pPr marL="1600200" marR="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a:pPr>
            <a:r>
              <a:rPr kumimoji="0" lang="zh-CN" sz="3200" b="1" i="0" u="none" strike="noStrike" kern="0" cap="none" spc="0" normalizeH="0" baseline="0" noProof="0" dirty="0" smtClean="0">
                <a:ln>
                  <a:noFill/>
                </a:ln>
                <a:solidFill>
                  <a:schemeClr val="tx1"/>
                </a:solidFill>
                <a:effectLst/>
                <a:uLnTx/>
                <a:uFillTx/>
                <a:latin typeface="+mn-lt"/>
                <a:ea typeface="+mn-ea"/>
                <a:cs typeface="+mn-ea"/>
              </a:rPr>
              <a:t>白盒测试</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a:t>
            </a:r>
            <a:r>
              <a:rPr kumimoji="0" lang="zh-CN" sz="2400" b="1" i="0" u="none" strike="noStrike" kern="0" cap="none" spc="0" normalizeH="0" baseline="0" noProof="0" dirty="0" smtClean="0">
                <a:ln>
                  <a:noFill/>
                </a:ln>
                <a:solidFill>
                  <a:schemeClr val="tx1"/>
                </a:solidFill>
                <a:effectLst/>
                <a:uLnTx/>
                <a:uFillTx/>
                <a:latin typeface="+mn-lt"/>
                <a:ea typeface="+mn-ea"/>
                <a:cs typeface="+mn-ea"/>
              </a:rPr>
              <a:t>逻辑覆盖</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a:t>
            </a:r>
            <a:endParaRPr kumimoji="0" lang="zh-CN" altLang="zh-CN" sz="2400" b="1" i="0" u="none" strike="noStrike" kern="0" cap="none" spc="0" normalizeH="0" baseline="0" noProof="0" dirty="0" smtClean="0">
              <a:ln>
                <a:noFill/>
              </a:ln>
              <a:solidFill>
                <a:schemeClr val="tx1"/>
              </a:solidFill>
              <a:effectLst/>
              <a:uLnTx/>
              <a:uFillTx/>
              <a:latin typeface="+mn-lt"/>
              <a:ea typeface="+mn-ea"/>
              <a:cs typeface="+mn-ea"/>
            </a:endParaRPr>
          </a:p>
          <a:p>
            <a:pPr marL="1600200" marR="0" lvl="3" indent="-2286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
              <a:defRPr/>
            </a:pPr>
            <a:r>
              <a:rPr kumimoji="0" lang="zh-CN" sz="3200" b="1" i="0" u="none" strike="noStrike" kern="0" cap="none" spc="0" normalizeH="0" baseline="0" noProof="0" dirty="0" smtClean="0">
                <a:ln>
                  <a:noFill/>
                </a:ln>
                <a:solidFill>
                  <a:schemeClr val="tx1"/>
                </a:solidFill>
                <a:effectLst/>
                <a:uLnTx/>
                <a:uFillTx/>
                <a:latin typeface="+mn-lt"/>
                <a:ea typeface="+mn-ea"/>
                <a:cs typeface="+mn-ea"/>
              </a:rPr>
              <a:t>黑盒测试</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a:t>
            </a:r>
            <a:r>
              <a:rPr kumimoji="0" 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等价类划分</a:t>
            </a:r>
            <a:r>
              <a:rPr kumimoji="0" lang="zh-CN" alt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a:t>
            </a:r>
            <a:r>
              <a:rPr kumimoji="0" 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边界值分析</a:t>
            </a:r>
            <a:r>
              <a:rPr kumimoji="0" lang="zh-CN" alt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a:t>
            </a:r>
            <a:r>
              <a:rPr kumimoji="0" 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因果图法</a:t>
            </a:r>
            <a:r>
              <a:rPr kumimoji="0" lang="zh-CN" alt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a:t>
            </a:r>
            <a:r>
              <a:rPr kumimoji="0" 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错误推测法</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a:t>
            </a:r>
            <a:endParaRPr kumimoji="0" lang="zh-CN" altLang="zh-CN" sz="2400" b="1" i="0" u="none" strike="noStrike" kern="0" cap="none" spc="0" normalizeH="0" baseline="0" noProof="0" dirty="0" smtClean="0">
              <a:ln>
                <a:noFill/>
              </a:ln>
              <a:solidFill>
                <a:schemeClr val="tx1"/>
              </a:solidFill>
              <a:effectLst/>
              <a:uLnTx/>
              <a:uFillTx/>
              <a:latin typeface="+mn-lt"/>
              <a:ea typeface="+mn-ea"/>
              <a:cs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noChangeArrowheads="1"/>
          </p:cNvSpPr>
          <p:nvPr>
            <p:ph idx="1"/>
          </p:nvPr>
        </p:nvSpPr>
        <p:spPr>
          <a:xfrm>
            <a:off x="457200" y="549275"/>
            <a:ext cx="8362950" cy="6048375"/>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a:pPr>
            <a:r>
              <a:rPr kumimoji="0" lang="zh-CN" altLang="zh-CN" sz="3200" b="1" i="0" u="none" strike="noStrike" kern="0" cap="none" spc="0" normalizeH="0" baseline="0" noProof="0" dirty="0" smtClean="0">
                <a:ln>
                  <a:noFill/>
                </a:ln>
                <a:solidFill>
                  <a:schemeClr val="tx1"/>
                </a:solidFill>
                <a:effectLst/>
                <a:uLnTx/>
                <a:uFillTx/>
                <a:latin typeface="+mn-lt"/>
                <a:ea typeface="+mn-ea"/>
                <a:cs typeface="+mn-cs"/>
              </a:rPr>
              <a:t>5.</a:t>
            </a:r>
            <a:r>
              <a:rPr kumimoji="0" lang="en-US" altLang="zh-CN" sz="3200" b="1" i="0" u="none" strike="noStrike" kern="0" cap="none" spc="0" normalizeH="0" baseline="0" noProof="0" dirty="0" smtClean="0">
                <a:ln>
                  <a:noFill/>
                </a:ln>
                <a:solidFill>
                  <a:schemeClr val="tx1"/>
                </a:solidFill>
                <a:effectLst/>
                <a:uLnTx/>
                <a:uFillTx/>
                <a:latin typeface="+mn-lt"/>
                <a:ea typeface="+mn-ea"/>
                <a:cs typeface="+mn-cs"/>
              </a:rPr>
              <a:t>3</a:t>
            </a:r>
            <a:r>
              <a:rPr kumimoji="0" lang="zh-CN" altLang="zh-CN" sz="3200" b="1" i="0" u="none" strike="noStrike" kern="0" cap="none" spc="0" normalizeH="0" baseline="0" noProof="0" dirty="0" smtClean="0">
                <a:ln>
                  <a:noFill/>
                </a:ln>
                <a:solidFill>
                  <a:schemeClr val="tx1"/>
                </a:solidFill>
                <a:effectLst/>
                <a:uLnTx/>
                <a:uFillTx/>
                <a:latin typeface="+mn-lt"/>
                <a:ea typeface="+mn-ea"/>
                <a:cs typeface="+mn-cs"/>
              </a:rPr>
              <a:t>.3 </a:t>
            </a:r>
            <a:r>
              <a:rPr kumimoji="0" lang="zh-CN" sz="2800" b="1" i="0" u="none" strike="noStrike" kern="0" cap="none" spc="0" normalizeH="0" baseline="0" noProof="0" dirty="0" smtClean="0">
                <a:ln>
                  <a:noFill/>
                </a:ln>
                <a:solidFill>
                  <a:schemeClr val="tx1"/>
                </a:solidFill>
                <a:effectLst/>
                <a:uLnTx/>
                <a:uFillTx/>
                <a:latin typeface="+mn-lt"/>
                <a:ea typeface="+mn-ea"/>
                <a:cs typeface="+mn-cs"/>
              </a:rPr>
              <a:t>测试的策略</a:t>
            </a:r>
            <a:endParaRPr kumimoji="0" lang="zh-CN" sz="2800" b="1"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Char char="¨"/>
              <a:defRPr/>
            </a:pPr>
            <a:r>
              <a:rPr kumimoji="0" lang="zh-CN" sz="2800" b="1" i="0" u="none" strike="noStrike" kern="0" cap="none" spc="0" normalizeH="0" baseline="0" noProof="0" dirty="0" smtClean="0">
                <a:ln>
                  <a:noFill/>
                </a:ln>
                <a:solidFill>
                  <a:schemeClr val="tx1"/>
                </a:solidFill>
                <a:effectLst/>
                <a:uLnTx/>
                <a:uFillTx/>
                <a:latin typeface="+mn-lt"/>
                <a:ea typeface="+mn-ea"/>
                <a:cs typeface="+mn-ea"/>
              </a:rPr>
              <a:t>一般的做法是，用黑盒法设计基本的测试方案，再利用白盒法补充一些必要的测试方案。具体地说，可用以下策略结合各种方法：</a:t>
            </a:r>
            <a:endParaRPr kumimoji="0" lang="zh-CN" sz="28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(1) </a:t>
            </a:r>
            <a:r>
              <a:rPr kumimoji="0" lang="zh-CN" sz="2400" b="1" i="0" u="none" strike="noStrike" kern="0" cap="none" spc="0" normalizeH="0" baseline="0" noProof="0" dirty="0" smtClean="0">
                <a:ln>
                  <a:noFill/>
                </a:ln>
                <a:solidFill>
                  <a:schemeClr val="tx1"/>
                </a:solidFill>
                <a:effectLst/>
                <a:uLnTx/>
                <a:uFillTx/>
                <a:latin typeface="+mn-lt"/>
                <a:ea typeface="+mn-ea"/>
                <a:cs typeface="+mn-ea"/>
              </a:rPr>
              <a:t>在任何情况下都应该使用</a:t>
            </a:r>
            <a:r>
              <a:rPr kumimoji="0" 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边界值分析</a:t>
            </a:r>
            <a:r>
              <a:rPr kumimoji="0" lang="zh-CN" sz="2400" b="1" i="0" u="none" strike="noStrike" kern="0" cap="none" spc="0" normalizeH="0" baseline="0" noProof="0" dirty="0" smtClean="0">
                <a:ln>
                  <a:noFill/>
                </a:ln>
                <a:solidFill>
                  <a:schemeClr val="tx1"/>
                </a:solidFill>
                <a:effectLst/>
                <a:uLnTx/>
                <a:uFillTx/>
                <a:latin typeface="+mn-lt"/>
                <a:ea typeface="+mn-ea"/>
                <a:cs typeface="+mn-ea"/>
              </a:rPr>
              <a:t>的方法。</a:t>
            </a:r>
            <a:endParaRPr kumimoji="0" lang="zh-CN" sz="24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(2) </a:t>
            </a:r>
            <a:r>
              <a:rPr kumimoji="0" lang="zh-CN" sz="2400" b="1" i="0" u="none" strike="noStrike" kern="0" cap="none" spc="0" normalizeH="0" baseline="0" noProof="0" dirty="0" smtClean="0">
                <a:ln>
                  <a:noFill/>
                </a:ln>
                <a:solidFill>
                  <a:schemeClr val="tx1"/>
                </a:solidFill>
                <a:effectLst/>
                <a:uLnTx/>
                <a:uFillTx/>
                <a:latin typeface="+mn-lt"/>
                <a:ea typeface="+mn-ea"/>
                <a:cs typeface="+mn-ea"/>
              </a:rPr>
              <a:t>必要时用</a:t>
            </a:r>
            <a:r>
              <a:rPr kumimoji="0" 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等价划分法</a:t>
            </a:r>
            <a:r>
              <a:rPr kumimoji="0" lang="zh-CN" sz="2400" b="1" i="0" u="none" strike="noStrike" kern="0" cap="none" spc="0" normalizeH="0" baseline="0" noProof="0" dirty="0" smtClean="0">
                <a:ln>
                  <a:noFill/>
                </a:ln>
                <a:solidFill>
                  <a:schemeClr val="tx1"/>
                </a:solidFill>
                <a:effectLst/>
                <a:uLnTx/>
                <a:uFillTx/>
                <a:latin typeface="+mn-lt"/>
                <a:ea typeface="+mn-ea"/>
                <a:cs typeface="+mn-ea"/>
              </a:rPr>
              <a:t>补充测试方案。</a:t>
            </a:r>
            <a:endParaRPr kumimoji="0" lang="zh-CN" sz="24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(3) </a:t>
            </a:r>
            <a:r>
              <a:rPr kumimoji="0" lang="zh-CN" sz="2400" b="1" i="0" u="none" strike="noStrike" kern="0" cap="none" spc="0" normalizeH="0" baseline="0" noProof="0" dirty="0" smtClean="0">
                <a:ln>
                  <a:noFill/>
                </a:ln>
                <a:solidFill>
                  <a:schemeClr val="tx1"/>
                </a:solidFill>
                <a:effectLst/>
                <a:uLnTx/>
                <a:uFillTx/>
                <a:latin typeface="+mn-lt"/>
                <a:ea typeface="+mn-ea"/>
                <a:cs typeface="+mn-ea"/>
              </a:rPr>
              <a:t>必要时用</a:t>
            </a:r>
            <a:r>
              <a:rPr kumimoji="0" 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错误推测法</a:t>
            </a:r>
            <a:r>
              <a:rPr kumimoji="0" lang="zh-CN" sz="2400" b="1" i="0" u="none" strike="noStrike" kern="0" cap="none" spc="0" normalizeH="0" baseline="0" noProof="0" dirty="0" smtClean="0">
                <a:ln>
                  <a:noFill/>
                </a:ln>
                <a:solidFill>
                  <a:schemeClr val="tx1"/>
                </a:solidFill>
                <a:effectLst/>
                <a:uLnTx/>
                <a:uFillTx/>
                <a:latin typeface="+mn-lt"/>
                <a:ea typeface="+mn-ea"/>
                <a:cs typeface="+mn-ea"/>
              </a:rPr>
              <a:t>补充测试方案。</a:t>
            </a:r>
            <a:endParaRPr kumimoji="0" lang="zh-CN" sz="24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(4) </a:t>
            </a:r>
            <a:r>
              <a:rPr kumimoji="0" lang="zh-CN" sz="2400" b="1" i="0" u="none" strike="noStrike" kern="0" cap="none" spc="0" normalizeH="0" baseline="0" noProof="0" dirty="0" smtClean="0">
                <a:ln>
                  <a:noFill/>
                </a:ln>
                <a:solidFill>
                  <a:schemeClr val="tx1"/>
                </a:solidFill>
                <a:effectLst/>
                <a:uLnTx/>
                <a:uFillTx/>
                <a:latin typeface="+mn-lt"/>
                <a:ea typeface="+mn-ea"/>
                <a:cs typeface="+mn-ea"/>
              </a:rPr>
              <a:t>如果在程序的功能说明中含有输入条件的组合，最好在一开始就用</a:t>
            </a:r>
            <a:r>
              <a:rPr kumimoji="0" lang="zh-CN" sz="2400" b="1" i="0" u="none" strike="noStrike" kern="0" cap="none" spc="0" normalizeH="0" baseline="0" noProof="0" dirty="0" smtClean="0">
                <a:ln>
                  <a:noFill/>
                </a:ln>
                <a:solidFill>
                  <a:schemeClr val="accent1">
                    <a:lumMod val="75000"/>
                  </a:schemeClr>
                </a:solidFill>
                <a:effectLst/>
                <a:uLnTx/>
                <a:uFillTx/>
                <a:latin typeface="+mn-lt"/>
                <a:ea typeface="+mn-ea"/>
                <a:cs typeface="+mn-ea"/>
              </a:rPr>
              <a:t>因果图法</a:t>
            </a:r>
            <a:r>
              <a:rPr kumimoji="0" lang="zh-CN" sz="2400" b="1" i="0" u="none" strike="noStrike" kern="0" cap="none" spc="0" normalizeH="0" baseline="0" noProof="0" dirty="0" smtClean="0">
                <a:ln>
                  <a:noFill/>
                </a:ln>
                <a:solidFill>
                  <a:schemeClr val="tx1"/>
                </a:solidFill>
                <a:effectLst/>
                <a:uLnTx/>
                <a:uFillTx/>
                <a:latin typeface="+mn-lt"/>
                <a:ea typeface="+mn-ea"/>
                <a:cs typeface="+mn-ea"/>
              </a:rPr>
              <a:t>，然后再按以上</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(1)</a:t>
            </a:r>
            <a:r>
              <a:rPr kumimoji="0" lang="zh-CN" sz="2400" b="1" i="0" u="none" strike="noStrike" kern="0" cap="none" spc="0" normalizeH="0" baseline="0" noProof="0" dirty="0" smtClean="0">
                <a:ln>
                  <a:noFill/>
                </a:ln>
                <a:solidFill>
                  <a:schemeClr val="tx1"/>
                </a:solidFill>
                <a:effectLst/>
                <a:uLnTx/>
                <a:uFillTx/>
                <a:latin typeface="+mn-lt"/>
                <a:ea typeface="+mn-ea"/>
                <a:cs typeface="+mn-ea"/>
              </a:rPr>
              <a:t>、</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(2)</a:t>
            </a:r>
            <a:r>
              <a:rPr kumimoji="0" lang="zh-CN" sz="2400" b="1" i="0" u="none" strike="noStrike" kern="0" cap="none" spc="0" normalizeH="0" baseline="0" noProof="0" dirty="0" smtClean="0">
                <a:ln>
                  <a:noFill/>
                </a:ln>
                <a:solidFill>
                  <a:schemeClr val="tx1"/>
                </a:solidFill>
                <a:effectLst/>
                <a:uLnTx/>
                <a:uFillTx/>
                <a:latin typeface="+mn-lt"/>
                <a:ea typeface="+mn-ea"/>
                <a:cs typeface="+mn-ea"/>
              </a:rPr>
              <a:t>、</a:t>
            </a: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(3)</a:t>
            </a:r>
            <a:r>
              <a:rPr kumimoji="0" lang="zh-CN" sz="2400" b="1" i="0" u="none" strike="noStrike" kern="0" cap="none" spc="0" normalizeH="0" baseline="0" noProof="0" dirty="0" smtClean="0">
                <a:ln>
                  <a:noFill/>
                </a:ln>
                <a:solidFill>
                  <a:schemeClr val="tx1"/>
                </a:solidFill>
                <a:effectLst/>
                <a:uLnTx/>
                <a:uFillTx/>
                <a:latin typeface="+mn-lt"/>
                <a:ea typeface="+mn-ea"/>
                <a:cs typeface="+mn-ea"/>
              </a:rPr>
              <a:t>步聚进行。</a:t>
            </a:r>
            <a:endParaRPr kumimoji="0" lang="zh-CN" sz="2400" b="1" i="0" u="none" strike="noStrike" kern="0" cap="none" spc="0" normalizeH="0" baseline="0" noProof="0" dirty="0" smtClean="0">
              <a:ln>
                <a:noFill/>
              </a:ln>
              <a:solidFill>
                <a:schemeClr val="tx1"/>
              </a:solidFill>
              <a:effectLst/>
              <a:uLnTx/>
              <a:uFillTx/>
              <a:latin typeface="+mn-lt"/>
              <a:ea typeface="+mn-ea"/>
              <a:cs typeface="+mn-ea"/>
            </a:endParaRPr>
          </a:p>
          <a:p>
            <a:pPr marL="742950" marR="0" lvl="1" indent="-285750" algn="l" defTabSz="914400" rtl="0" eaLnBrk="1" fontAlgn="base" latinLnBrk="0" hangingPunct="1">
              <a:lnSpc>
                <a:spcPct val="100000"/>
              </a:lnSpc>
              <a:spcBef>
                <a:spcPct val="20000"/>
              </a:spcBef>
              <a:spcAft>
                <a:spcPct val="0"/>
              </a:spcAft>
              <a:buClr>
                <a:schemeClr val="accent2"/>
              </a:buClr>
              <a:buSzPct val="80000"/>
              <a:buFont typeface="Wingdings" panose="05000000000000000000" pitchFamily="2" charset="2"/>
              <a:buNone/>
              <a:defRPr/>
            </a:pPr>
            <a:r>
              <a:rPr kumimoji="0" lang="zh-CN" altLang="zh-CN" sz="2400" b="1" i="0" u="none" strike="noStrike" kern="0" cap="none" spc="0" normalizeH="0" baseline="0" noProof="0" dirty="0" smtClean="0">
                <a:ln>
                  <a:noFill/>
                </a:ln>
                <a:solidFill>
                  <a:schemeClr val="tx1"/>
                </a:solidFill>
                <a:effectLst/>
                <a:uLnTx/>
                <a:uFillTx/>
                <a:latin typeface="+mn-lt"/>
                <a:ea typeface="+mn-ea"/>
                <a:cs typeface="+mn-ea"/>
              </a:rPr>
              <a:t>(5) </a:t>
            </a:r>
            <a:r>
              <a:rPr kumimoji="0" lang="zh-CN" sz="2400" b="1" i="0" u="none" strike="noStrike" kern="0" cap="none" spc="0" normalizeH="0" baseline="0" noProof="0" dirty="0" smtClean="0">
                <a:ln>
                  <a:noFill/>
                </a:ln>
                <a:solidFill>
                  <a:schemeClr val="tx1"/>
                </a:solidFill>
                <a:effectLst/>
                <a:uLnTx/>
                <a:uFillTx/>
                <a:latin typeface="+mn-lt"/>
                <a:ea typeface="+mn-ea"/>
                <a:cs typeface="+mn-ea"/>
              </a:rPr>
              <a:t>对照程序逻辑，检查已设计出的设计方案。可以根据对程序可靠性的要求采用不同的逻辑覆盖标准，如果现有测试方案的逻辑覆盖程度没达到要求的覆盖标准，则应再补充一些测试方案。</a:t>
            </a:r>
            <a:endParaRPr kumimoji="0" lang="zh-CN" sz="2400" b="1" i="0" u="none" strike="noStrike" kern="0" cap="none" spc="0" normalizeH="0" baseline="0" noProof="0" dirty="0" smtClean="0">
              <a:ln>
                <a:noFill/>
              </a:ln>
              <a:solidFill>
                <a:schemeClr val="tx1"/>
              </a:solidFill>
              <a:effectLst/>
              <a:uLnTx/>
              <a:uFillTx/>
              <a:latin typeface="+mn-lt"/>
              <a:ea typeface="+mn-ea"/>
              <a:cs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p:cNvSpPr>
          <p:nvPr>
            <p:ph type="body" sz="half" idx="1"/>
          </p:nvPr>
        </p:nvSpPr>
        <p:spPr>
          <a:xfrm>
            <a:off x="539750" y="1052513"/>
            <a:ext cx="8353425" cy="5545137"/>
          </a:xfrm>
        </p:spPr>
        <p:txBody>
          <a:bodyPr vert="horz" wrap="square" lIns="91440" tIns="45720" rIns="91440" bIns="45720" anchor="t" anchorCtr="0"/>
          <a:p>
            <a:pPr eaLnBrk="1" hangingPunct="1">
              <a:buClr>
                <a:schemeClr val="bg2"/>
              </a:buClr>
              <a:buSzPct val="75000"/>
              <a:buFont typeface="Wingdings" panose="05000000000000000000" pitchFamily="2" charset="2"/>
            </a:pPr>
            <a:r>
              <a:rPr lang="zh-CN" altLang="zh-CN" dirty="0"/>
              <a:t>5.</a:t>
            </a:r>
            <a:r>
              <a:rPr lang="en-US" altLang="zh-CN" dirty="0"/>
              <a:t>3</a:t>
            </a:r>
            <a:r>
              <a:rPr lang="zh-CN" altLang="zh-CN" dirty="0"/>
              <a:t>.4 </a:t>
            </a:r>
            <a:r>
              <a:rPr lang="zh-CN" altLang="zh-CN" sz="2800" dirty="0"/>
              <a:t>测试步骤</a:t>
            </a:r>
            <a:endParaRPr lang="zh-CN" altLang="zh-CN" sz="2800" dirty="0"/>
          </a:p>
        </p:txBody>
      </p:sp>
      <p:graphicFrame>
        <p:nvGraphicFramePr>
          <p:cNvPr id="48131" name="Object 3"/>
          <p:cNvGraphicFramePr>
            <a:graphicFrameLocks noChangeAspect="1"/>
          </p:cNvGraphicFramePr>
          <p:nvPr>
            <p:ph sz="half" idx="2"/>
          </p:nvPr>
        </p:nvGraphicFramePr>
        <p:xfrm>
          <a:off x="0" y="2420938"/>
          <a:ext cx="9144000" cy="2001837"/>
        </p:xfrm>
        <a:graphic>
          <a:graphicData uri="http://schemas.openxmlformats.org/presentationml/2006/ole">
            <mc:AlternateContent xmlns:mc="http://schemas.openxmlformats.org/markup-compatibility/2006">
              <mc:Choice xmlns:v="urn:schemas-microsoft-com:vml" Requires="v">
                <p:oleObj spid="_x0000_s3077" name="" r:id="rId1" imgW="4572635" imgH="1000760" progId="Visio.Drawing.4">
                  <p:embed/>
                </p:oleObj>
              </mc:Choice>
              <mc:Fallback>
                <p:oleObj name="" r:id="rId1" imgW="4572635" imgH="1000760" progId="Visio.Drawing.4">
                  <p:embed/>
                  <p:pic>
                    <p:nvPicPr>
                      <p:cNvPr id="0" name="图片 3076"/>
                      <p:cNvPicPr/>
                      <p:nvPr/>
                    </p:nvPicPr>
                    <p:blipFill>
                      <a:blip r:embed="rId2"/>
                      <a:srcRect/>
                      <a:stretch>
                        <a:fillRect/>
                      </a:stretch>
                    </p:blipFill>
                    <p:spPr>
                      <a:xfrm>
                        <a:off x="0" y="2420938"/>
                        <a:ext cx="9144000" cy="2001837"/>
                      </a:xfrm>
                      <a:prstGeom prst="rect">
                        <a:avLst/>
                      </a:prstGeom>
                      <a:noFill/>
                      <a:ln w="38100">
                        <a:miter/>
                      </a:ln>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idx="1"/>
          </p:nvPr>
        </p:nvSpPr>
        <p:spPr>
          <a:xfrm>
            <a:off x="457200" y="549275"/>
            <a:ext cx="7859713" cy="6048375"/>
          </a:xfrm>
        </p:spPr>
        <p:txBody>
          <a:bodyPr vert="horz" wrap="square" lIns="91440" tIns="45720" rIns="91440" bIns="45720" anchor="t" anchorCtr="0"/>
          <a:p>
            <a:pPr marL="609600" indent="-609600" eaLnBrk="1" hangingPunct="1"/>
            <a:r>
              <a:rPr lang="zh-CN" altLang="zh-CN" dirty="0"/>
              <a:t>单元测试</a:t>
            </a:r>
            <a:endParaRPr lang="zh-CN" altLang="zh-CN" dirty="0"/>
          </a:p>
          <a:p>
            <a:pPr marL="609600" indent="-609600" eaLnBrk="1" hangingPunct="1">
              <a:buNone/>
            </a:pPr>
            <a:r>
              <a:rPr lang="zh-CN" altLang="zh-CN" dirty="0"/>
              <a:t>     单元测试主要是对模块的五个基本特性进行评价。</a:t>
            </a:r>
            <a:endParaRPr lang="zh-CN" altLang="zh-CN" dirty="0"/>
          </a:p>
          <a:p>
            <a:pPr marL="990600" lvl="1" indent="-533400" eaLnBrk="1" hangingPunct="1"/>
            <a:r>
              <a:rPr lang="zh-CN" altLang="zh-CN" sz="3200" dirty="0"/>
              <a:t>模块接口</a:t>
            </a:r>
            <a:endParaRPr lang="zh-CN" altLang="zh-CN" sz="3200" dirty="0"/>
          </a:p>
          <a:p>
            <a:pPr marL="990600" lvl="1" indent="-533400" eaLnBrk="1" hangingPunct="1"/>
            <a:r>
              <a:rPr lang="zh-CN" altLang="zh-CN" sz="3200" dirty="0"/>
              <a:t>局部数据结构</a:t>
            </a:r>
            <a:endParaRPr lang="zh-CN" altLang="zh-CN" sz="3200" dirty="0"/>
          </a:p>
          <a:p>
            <a:pPr marL="990600" lvl="1" indent="-533400" eaLnBrk="1" hangingPunct="1"/>
            <a:r>
              <a:rPr lang="zh-CN" altLang="zh-CN" sz="3200" dirty="0"/>
              <a:t>重要的执行路径</a:t>
            </a:r>
            <a:endParaRPr lang="zh-CN" altLang="zh-CN" sz="3200" dirty="0"/>
          </a:p>
          <a:p>
            <a:pPr marL="990600" lvl="1" indent="-533400" eaLnBrk="1" hangingPunct="1"/>
            <a:r>
              <a:rPr lang="zh-CN" altLang="zh-CN" sz="3200" dirty="0"/>
              <a:t>错误处理</a:t>
            </a:r>
            <a:endParaRPr lang="zh-CN" altLang="zh-CN" sz="3200" dirty="0"/>
          </a:p>
          <a:p>
            <a:pPr marL="990600" lvl="1" indent="-533400" eaLnBrk="1" hangingPunct="1"/>
            <a:r>
              <a:rPr lang="zh-CN" altLang="zh-CN" sz="3200" dirty="0"/>
              <a:t>边界测试</a:t>
            </a:r>
            <a:endParaRPr lang="zh-CN" altLang="zh-CN" sz="3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idx="1"/>
          </p:nvPr>
        </p:nvSpPr>
        <p:spPr>
          <a:xfrm>
            <a:off x="457200" y="765175"/>
            <a:ext cx="8229600" cy="5472113"/>
          </a:xfrm>
        </p:spPr>
        <p:txBody>
          <a:bodyPr vert="horz" wrap="square" lIns="91440" tIns="45720" rIns="91440" bIns="45720" anchor="t" anchorCtr="0"/>
          <a:p>
            <a:pPr eaLnBrk="1" hangingPunct="1"/>
            <a:r>
              <a:rPr lang="zh-CN" altLang="zh-CN" dirty="0"/>
              <a:t>集成测试</a:t>
            </a:r>
            <a:endParaRPr lang="zh-CN" altLang="zh-CN" dirty="0"/>
          </a:p>
          <a:p>
            <a:pPr lvl="1" eaLnBrk="1" hangingPunct="1"/>
            <a:r>
              <a:rPr lang="zh-CN" altLang="zh-CN" dirty="0"/>
              <a:t>集成测试是按设计要求把通过单元测试的各个模块组装在一起之后进行测试，以便发现与接口有关的各种错误。</a:t>
            </a:r>
            <a:endParaRPr lang="zh-CN" altLang="zh-CN" dirty="0"/>
          </a:p>
          <a:p>
            <a:pPr lvl="1" eaLnBrk="1" hangingPunct="1"/>
            <a:r>
              <a:rPr lang="zh-CN" altLang="zh-CN" dirty="0"/>
              <a:t>在进行集成测试时，常需考虑的有关问题有：数据经过接口是否会丢失；一个模块对另一模块是否造成不应有的影响；几个子功能组合起来能否实现主功能；误差不断积累是否达到不可接受的程度；全局数据结构是否有问题。</a:t>
            </a:r>
            <a:endParaRPr lang="zh-CN" altLang="zh-CN" dirty="0"/>
          </a:p>
          <a:p>
            <a:pPr lvl="1" eaLnBrk="1" hangingPunct="1"/>
            <a:r>
              <a:rPr lang="zh-CN" altLang="zh-CN" dirty="0"/>
              <a:t>集成测试分为非渐增式测试和渐增式测试。</a:t>
            </a:r>
            <a:endParaRPr lang="zh-CN" altLang="zh-CN" dirty="0"/>
          </a:p>
          <a:p>
            <a:pPr eaLnBrk="1" hangingPunct="1"/>
            <a:endParaRPr lang="zh-CN" altLang="zh-C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1202" name="图片 3" descr="图片1.png"/>
          <p:cNvPicPr>
            <a:picLocks noChangeAspect="1"/>
          </p:cNvPicPr>
          <p:nvPr/>
        </p:nvPicPr>
        <p:blipFill>
          <a:blip r:embed="rId1"/>
          <a:stretch>
            <a:fillRect/>
          </a:stretch>
        </p:blipFill>
        <p:spPr>
          <a:xfrm>
            <a:off x="357188" y="500063"/>
            <a:ext cx="8482012" cy="6199187"/>
          </a:xfrm>
          <a:prstGeom prst="rect">
            <a:avLst/>
          </a:prstGeom>
          <a:noFill/>
          <a:ln w="9525">
            <a:noFill/>
          </a:ln>
        </p:spPr>
      </p:pic>
    </p:spTree>
  </p:cSld>
  <p:clrMapOvr>
    <a:masterClrMapping/>
  </p:clrMapOvr>
</p:sld>
</file>

<file path=ppt/tags/tag1.xml><?xml version="1.0" encoding="utf-8"?>
<p:tagLst xmlns:p="http://schemas.openxmlformats.org/presentationml/2006/main">
  <p:tag name="COMMONDATA" val="eyJoZGlkIjoiNDk0ZDcyN2ZiZjBjNTM3ZDk5MGMwYmJiM2U2N2IzNWQifQ=="/>
  <p:tag name="KSO_WPP_MARK_KEY" val="fc7821dc-b063-44a5-b6b3-64217874bbf3"/>
</p:tagLst>
</file>

<file path=ppt/theme/theme1.xml><?xml version="1.0" encoding="utf-8"?>
<a:theme xmlns:a="http://schemas.openxmlformats.org/drawingml/2006/main" name="1_Pixel">
  <a:themeElements>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1_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1_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1_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1_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1_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1_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1_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1_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1_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1_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1_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1_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Java高级应用</Template>
  <TotalTime>0</TotalTime>
  <Words>5838</Words>
  <Application>WPS 演示</Application>
  <PresentationFormat>全屏显示(4:3)</PresentationFormat>
  <Paragraphs>475</Paragraphs>
  <Slides>48</Slides>
  <Notes>12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48</vt:i4>
      </vt:variant>
    </vt:vector>
  </HeadingPairs>
  <TitlesOfParts>
    <vt:vector size="62" baseType="lpstr">
      <vt:lpstr>Arial</vt:lpstr>
      <vt:lpstr>宋体</vt:lpstr>
      <vt:lpstr>Wingdings</vt:lpstr>
      <vt:lpstr>Arial Black</vt:lpstr>
      <vt:lpstr>Times New Roman</vt:lpstr>
      <vt:lpstr>黑体</vt:lpstr>
      <vt:lpstr>华文仿宋</vt:lpstr>
      <vt:lpstr>Calibri</vt:lpstr>
      <vt:lpstr>微软雅黑</vt:lpstr>
      <vt:lpstr>Arial Unicode MS</vt:lpstr>
      <vt:lpstr>1_Pixel</vt:lpstr>
      <vt:lpstr>Visio.Drawing.6</vt:lpstr>
      <vt:lpstr>Visio.Drawing.6</vt:lpstr>
      <vt:lpstr>Visio.Drawing.4</vt:lpstr>
      <vt:lpstr>综合实例  基于C/S的虚拟校园系统</vt:lpstr>
      <vt:lpstr>一、软件开发流程及项目简介</vt:lpstr>
      <vt:lpstr>1.1 项目开发流程</vt:lpstr>
      <vt:lpstr>1.2 项目简介</vt:lpstr>
      <vt:lpstr>系统逻辑结构</vt:lpstr>
      <vt:lpstr>系统结构</vt:lpstr>
      <vt:lpstr>系统开发模式</vt:lpstr>
      <vt:lpstr>二、项目需求分析</vt:lpstr>
      <vt:lpstr>功能模块划分 </vt:lpstr>
      <vt:lpstr>三、概要设计</vt:lpstr>
      <vt:lpstr>总体设计</vt:lpstr>
      <vt:lpstr>总体设计</vt:lpstr>
      <vt:lpstr>PowerPoint 演示文稿</vt:lpstr>
      <vt:lpstr>PowerPoint 演示文稿</vt:lpstr>
      <vt:lpstr>Vcampus系统部署图</vt:lpstr>
      <vt:lpstr>用例图  </vt:lpstr>
      <vt:lpstr>活动图：个人信息管理</vt:lpstr>
      <vt:lpstr>多线程设计</vt:lpstr>
      <vt:lpstr>服务器端的多线程</vt:lpstr>
      <vt:lpstr>PowerPoint 演示文稿</vt:lpstr>
      <vt:lpstr>客户端</vt:lpstr>
      <vt:lpstr>数据库设计</vt:lpstr>
      <vt:lpstr>PowerPoint 演示文稿</vt:lpstr>
      <vt:lpstr>PowerPoint 演示文稿</vt:lpstr>
      <vt:lpstr>四、详细设计</vt:lpstr>
      <vt:lpstr>详细设计——客户端</vt:lpstr>
      <vt:lpstr>PowerPoint 演示文稿</vt:lpstr>
      <vt:lpstr>客户端设计</vt:lpstr>
      <vt:lpstr>服务器连接</vt:lpstr>
      <vt:lpstr>消息通信的设计</vt:lpstr>
      <vt:lpstr>五、项目编码与测试</vt:lpstr>
      <vt:lpstr>5.1 编程规范</vt:lpstr>
      <vt:lpstr>PowerPoint 演示文稿</vt:lpstr>
      <vt:lpstr>PowerPoint 演示文稿</vt:lpstr>
      <vt:lpstr>PowerPoint 演示文稿</vt:lpstr>
      <vt:lpstr>PowerPoint 演示文稿</vt:lpstr>
      <vt:lpstr>PowerPoint 演示文稿</vt:lpstr>
      <vt:lpstr>PowerPoint 演示文稿</vt:lpstr>
      <vt:lpstr>5.2 项目编码实现</vt:lpstr>
      <vt:lpstr>本项目中各模块的编码实现</vt:lpstr>
      <vt:lpstr>5.3 测试</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cuit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Java高级应用</dc:title>
  <dc:creator>wen</dc:creator>
  <cp:lastModifiedBy>john</cp:lastModifiedBy>
  <cp:revision>319</cp:revision>
  <dcterms:created xsi:type="dcterms:W3CDTF">2007-01-17T14:07:00Z</dcterms:created>
  <dcterms:modified xsi:type="dcterms:W3CDTF">2026-08-24T01:45:39Z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6E306DCF71864890A95C6DBA6ABB0D22</vt:lpwstr>
  </property>
</Properties>
</file>